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12192000"/>
  <p:notesSz cx="6805600" cy="9944100"/>
  <p:embeddedFontLst>
    <p:embeddedFont>
      <p:font typeface="Arial Narrow"/>
      <p:regular r:id="rId21"/>
      <p:bold r:id="rId22"/>
      <p:italic r:id="rId23"/>
      <p:boldItalic r:id="rId24"/>
    </p:embeddedFont>
    <p:embeddedFont>
      <p:font typeface="Century Gothic"/>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478">
          <p15:clr>
            <a:srgbClr val="A4A3A4"/>
          </p15:clr>
        </p15:guide>
        <p15:guide id="2" pos="75">
          <p15:clr>
            <a:srgbClr val="A4A3A4"/>
          </p15:clr>
        </p15:guide>
        <p15:guide id="3" pos="7605">
          <p15:clr>
            <a:srgbClr val="A4A3A4"/>
          </p15:clr>
        </p15:guide>
        <p15:guide id="4" pos="3659">
          <p15:clr>
            <a:srgbClr val="A4A3A4"/>
          </p15:clr>
        </p15:guide>
        <p15:guide id="5" orient="horz" pos="1888">
          <p15:clr>
            <a:srgbClr val="A4A3A4"/>
          </p15:clr>
        </p15:guide>
        <p15:guide id="6" pos="393">
          <p15:clr>
            <a:srgbClr val="A4A3A4"/>
          </p15:clr>
        </p15:guide>
      </p15:sldGuideLst>
    </p:ext>
    <p:ext uri="{2D200454-40CA-4A62-9FC3-DE9A4176ACB9}">
      <p15:notesGuideLst>
        <p15:guide id="1" orient="horz" pos="3132">
          <p15:clr>
            <a:srgbClr val="A4A3A4"/>
          </p15:clr>
        </p15:guide>
        <p15:guide id="2" pos="2144">
          <p15:clr>
            <a:srgbClr val="A4A3A4"/>
          </p15:clr>
        </p15:guide>
      </p15:notesGuideLst>
    </p:ext>
    <p:ext uri="http://customooxmlschemas.google.com/">
      <go:slidesCustomData xmlns:go="http://customooxmlschemas.google.com/" r:id="rId29" roundtripDataSignature="AMtx7mjILI5UttUq5W38w2x2PrdbU3KhQ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478" orient="horz"/>
        <p:guide pos="75"/>
        <p:guide pos="7605"/>
        <p:guide pos="3659"/>
        <p:guide pos="1888" orient="horz"/>
        <p:guide pos="393"/>
      </p:guideLst>
    </p:cSldViewPr>
  </p:slideViewPr>
  <p:notesViewPr>
    <p:cSldViewPr snapToGrid="0">
      <p:cViewPr varScale="1">
        <p:scale>
          <a:sx n="100" d="100"/>
          <a:sy n="100" d="100"/>
        </p:scale>
        <p:origin x="0" y="0"/>
      </p:cViewPr>
      <p:guideLst>
        <p:guide pos="3132" orient="horz"/>
        <p:guide pos="2144"/>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ArialNarrow-bold.fntdata"/><Relationship Id="rId21" Type="http://schemas.openxmlformats.org/officeDocument/2006/relationships/font" Target="fonts/ArialNarrow-regular.fntdata"/><Relationship Id="rId24" Type="http://schemas.openxmlformats.org/officeDocument/2006/relationships/font" Target="fonts/ArialNarrow-boldItalic.fntdata"/><Relationship Id="rId23" Type="http://schemas.openxmlformats.org/officeDocument/2006/relationships/font" Target="fonts/ArialNarrow-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CenturyGothic-bold.fntdata"/><Relationship Id="rId25" Type="http://schemas.openxmlformats.org/officeDocument/2006/relationships/font" Target="fonts/CenturyGothic-regular.fntdata"/><Relationship Id="rId28" Type="http://schemas.openxmlformats.org/officeDocument/2006/relationships/font" Target="fonts/CenturyGothic-boldItalic.fntdata"/><Relationship Id="rId27" Type="http://schemas.openxmlformats.org/officeDocument/2006/relationships/font" Target="fonts/CenturyGothic-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49099" cy="498932"/>
          </a:xfrm>
          <a:prstGeom prst="rect">
            <a:avLst/>
          </a:prstGeom>
          <a:noFill/>
          <a:ln>
            <a:noFill/>
          </a:ln>
        </p:spPr>
        <p:txBody>
          <a:bodyPr anchorCtr="0" anchor="t" bIns="46100" lIns="92225" spcFirstLastPara="1" rIns="92225" wrap="square" tIns="46100">
            <a:noAutofit/>
          </a:bodyPr>
          <a:lstStyle>
            <a:lvl1pPr lvl="0" marR="0" rtl="0" algn="l">
              <a:spcBef>
                <a:spcPts val="0"/>
              </a:spcBef>
              <a:spcAft>
                <a:spcPts val="0"/>
              </a:spcAft>
              <a:buClr>
                <a:schemeClr val="dk1"/>
              </a:buClr>
              <a:buSzPts val="1400"/>
              <a:buFont typeface="Calibri"/>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Clr>
                <a:schemeClr val="dk1"/>
              </a:buClr>
              <a:buSzPts val="1400"/>
              <a:buFont typeface="Calibri"/>
              <a:buNone/>
              <a:defRPr b="0" i="0" sz="19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400"/>
              <a:buFont typeface="Calibri"/>
              <a:buNone/>
              <a:defRPr b="0" i="0" sz="19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400"/>
              <a:buFont typeface="Calibri"/>
              <a:buNone/>
              <a:defRPr b="0" i="0" sz="19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400"/>
              <a:buFont typeface="Calibri"/>
              <a:buNone/>
              <a:defRPr b="0" i="0" sz="19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400"/>
              <a:buFont typeface="Calibri"/>
              <a:buNone/>
              <a:defRPr b="0" i="0" sz="19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400"/>
              <a:buFont typeface="Calibri"/>
              <a:buNone/>
              <a:defRPr b="0" i="0" sz="19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400"/>
              <a:buFont typeface="Calibri"/>
              <a:buNone/>
              <a:defRPr b="0" i="0" sz="19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400"/>
              <a:buFont typeface="Calibri"/>
              <a:buNone/>
              <a:defRPr b="0" i="0" sz="19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54940" y="0"/>
            <a:ext cx="2949099" cy="498932"/>
          </a:xfrm>
          <a:prstGeom prst="rect">
            <a:avLst/>
          </a:prstGeom>
          <a:noFill/>
          <a:ln>
            <a:noFill/>
          </a:ln>
        </p:spPr>
        <p:txBody>
          <a:bodyPr anchorCtr="0" anchor="t" bIns="46100" lIns="92225" spcFirstLastPara="1" rIns="92225" wrap="square" tIns="46100">
            <a:noAutofit/>
          </a:bodyPr>
          <a:lstStyle>
            <a:lvl1pPr lvl="0" marR="0" rtl="0" algn="r">
              <a:spcBef>
                <a:spcPts val="0"/>
              </a:spcBef>
              <a:spcAft>
                <a:spcPts val="0"/>
              </a:spcAft>
              <a:buClr>
                <a:schemeClr val="dk1"/>
              </a:buClr>
              <a:buSzPts val="1400"/>
              <a:buFont typeface="Calibri"/>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Clr>
                <a:schemeClr val="dk1"/>
              </a:buClr>
              <a:buSzPts val="1400"/>
              <a:buFont typeface="Calibri"/>
              <a:buNone/>
              <a:defRPr b="0" i="0" sz="19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400"/>
              <a:buFont typeface="Calibri"/>
              <a:buNone/>
              <a:defRPr b="0" i="0" sz="19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400"/>
              <a:buFont typeface="Calibri"/>
              <a:buNone/>
              <a:defRPr b="0" i="0" sz="19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400"/>
              <a:buFont typeface="Calibri"/>
              <a:buNone/>
              <a:defRPr b="0" i="0" sz="19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400"/>
              <a:buFont typeface="Calibri"/>
              <a:buNone/>
              <a:defRPr b="0" i="0" sz="19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400"/>
              <a:buFont typeface="Calibri"/>
              <a:buNone/>
              <a:defRPr b="0" i="0" sz="19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400"/>
              <a:buFont typeface="Calibri"/>
              <a:buNone/>
              <a:defRPr b="0" i="0" sz="19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400"/>
              <a:buFont typeface="Calibri"/>
              <a:buNone/>
              <a:defRPr b="0" i="0" sz="19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419100" y="1241425"/>
            <a:ext cx="5967413" cy="33575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0562" y="4785599"/>
            <a:ext cx="5444490" cy="3915489"/>
          </a:xfrm>
          <a:prstGeom prst="rect">
            <a:avLst/>
          </a:prstGeom>
          <a:noFill/>
          <a:ln>
            <a:noFill/>
          </a:ln>
        </p:spPr>
        <p:txBody>
          <a:bodyPr anchorCtr="0" anchor="t" bIns="46100" lIns="92225" spcFirstLastPara="1" rIns="92225" wrap="square" tIns="46100">
            <a:noAutofit/>
          </a:bodyPr>
          <a:lstStyle>
            <a:lvl1pPr indent="-228600" lvl="0" marL="45720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445169"/>
            <a:ext cx="2949099" cy="498931"/>
          </a:xfrm>
          <a:prstGeom prst="rect">
            <a:avLst/>
          </a:prstGeom>
          <a:noFill/>
          <a:ln>
            <a:noFill/>
          </a:ln>
        </p:spPr>
        <p:txBody>
          <a:bodyPr anchorCtr="0" anchor="b" bIns="46100" lIns="92225" spcFirstLastPara="1" rIns="92225" wrap="square" tIns="46100">
            <a:noAutofit/>
          </a:bodyPr>
          <a:lstStyle>
            <a:lvl1pPr lvl="0" marR="0" rtl="0" algn="l">
              <a:spcBef>
                <a:spcPts val="0"/>
              </a:spcBef>
              <a:spcAft>
                <a:spcPts val="0"/>
              </a:spcAft>
              <a:buClr>
                <a:schemeClr val="dk1"/>
              </a:buClr>
              <a:buSzPts val="1400"/>
              <a:buFont typeface="Calibri"/>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Clr>
                <a:schemeClr val="dk1"/>
              </a:buClr>
              <a:buSzPts val="1400"/>
              <a:buFont typeface="Calibri"/>
              <a:buNone/>
              <a:defRPr b="0" i="0" sz="19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400"/>
              <a:buFont typeface="Calibri"/>
              <a:buNone/>
              <a:defRPr b="0" i="0" sz="19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400"/>
              <a:buFont typeface="Calibri"/>
              <a:buNone/>
              <a:defRPr b="0" i="0" sz="19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400"/>
              <a:buFont typeface="Calibri"/>
              <a:buNone/>
              <a:defRPr b="0" i="0" sz="19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400"/>
              <a:buFont typeface="Calibri"/>
              <a:buNone/>
              <a:defRPr b="0" i="0" sz="19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400"/>
              <a:buFont typeface="Calibri"/>
              <a:buNone/>
              <a:defRPr b="0" i="0" sz="19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400"/>
              <a:buFont typeface="Calibri"/>
              <a:buNone/>
              <a:defRPr b="0" i="0" sz="19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400"/>
              <a:buFont typeface="Calibri"/>
              <a:buNone/>
              <a:defRPr b="0" i="0" sz="19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54940" y="9445169"/>
            <a:ext cx="2949099" cy="498931"/>
          </a:xfrm>
          <a:prstGeom prst="rect">
            <a:avLst/>
          </a:prstGeom>
          <a:noFill/>
          <a:ln>
            <a:noFill/>
          </a:ln>
        </p:spPr>
        <p:txBody>
          <a:bodyPr anchorCtr="0" anchor="b" bIns="46100" lIns="92225" spcFirstLastPara="1" rIns="92225" wrap="square" tIns="461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fontspace.com/lemon-brush-font-f40223" TargetMode="External"/><Relationship Id="rId3" Type="http://schemas.openxmlformats.org/officeDocument/2006/relationships/hyperlink" Target="https://www.1001fonts.com/hando-trial-font.html"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73:notes"/>
          <p:cNvSpPr txBox="1"/>
          <p:nvPr>
            <p:ph idx="1" type="body"/>
          </p:nvPr>
        </p:nvSpPr>
        <p:spPr>
          <a:xfrm>
            <a:off x="680562" y="4785599"/>
            <a:ext cx="5444490" cy="3915489"/>
          </a:xfrm>
          <a:prstGeom prst="rect">
            <a:avLst/>
          </a:prstGeom>
          <a:noFill/>
          <a:ln>
            <a:noFill/>
          </a:ln>
        </p:spPr>
        <p:txBody>
          <a:bodyPr anchorCtr="0" anchor="t" bIns="46100" lIns="92225" spcFirstLastPara="1" rIns="92225" wrap="square" tIns="46100">
            <a:noAutofit/>
          </a:bodyPr>
          <a:lstStyle/>
          <a:p>
            <a:pPr indent="0" lvl="0" marL="0" rtl="0" algn="l">
              <a:lnSpc>
                <a:spcPct val="100000"/>
              </a:lnSpc>
              <a:spcBef>
                <a:spcPts val="0"/>
              </a:spcBef>
              <a:spcAft>
                <a:spcPts val="0"/>
              </a:spcAft>
              <a:buSzPts val="1400"/>
              <a:buNone/>
            </a:pPr>
            <a:r>
              <a:rPr lang="es-ES" u="sng">
                <a:solidFill>
                  <a:schemeClr val="hlink"/>
                </a:solidFill>
                <a:hlinkClick r:id="rId2"/>
              </a:rPr>
              <a:t>https://www.fontspace.com/lemon-brush-font-f40223</a:t>
            </a:r>
            <a:endParaRPr/>
          </a:p>
          <a:p>
            <a:pPr indent="0" lvl="0" marL="0" rtl="0" algn="l">
              <a:lnSpc>
                <a:spcPct val="100000"/>
              </a:lnSpc>
              <a:spcBef>
                <a:spcPts val="0"/>
              </a:spcBef>
              <a:spcAft>
                <a:spcPts val="0"/>
              </a:spcAft>
              <a:buSzPts val="1400"/>
              <a:buNone/>
            </a:pPr>
            <a:r>
              <a:rPr lang="es-ES" u="sng">
                <a:solidFill>
                  <a:schemeClr val="hlink"/>
                </a:solidFill>
                <a:hlinkClick r:id="rId3"/>
              </a:rPr>
              <a:t>https://www.1001fonts.com/hando-trial-font.html</a:t>
            </a:r>
            <a:endParaRPr/>
          </a:p>
        </p:txBody>
      </p:sp>
      <p:sp>
        <p:nvSpPr>
          <p:cNvPr id="89" name="Google Shape;89;p73:notes"/>
          <p:cNvSpPr/>
          <p:nvPr>
            <p:ph idx="2" type="sldImg"/>
          </p:nvPr>
        </p:nvSpPr>
        <p:spPr>
          <a:xfrm>
            <a:off x="419100" y="1241425"/>
            <a:ext cx="5967413" cy="33575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74:notes"/>
          <p:cNvSpPr txBox="1"/>
          <p:nvPr>
            <p:ph idx="1" type="body"/>
          </p:nvPr>
        </p:nvSpPr>
        <p:spPr>
          <a:xfrm>
            <a:off x="680562" y="4785599"/>
            <a:ext cx="5444490" cy="3915489"/>
          </a:xfrm>
          <a:prstGeom prst="rect">
            <a:avLst/>
          </a:prstGeom>
          <a:noFill/>
          <a:ln>
            <a:noFill/>
          </a:ln>
        </p:spPr>
        <p:txBody>
          <a:bodyPr anchorCtr="0" anchor="t" bIns="46100" lIns="92225" spcFirstLastPara="1" rIns="92225" wrap="square" tIns="46100">
            <a:noAutofit/>
          </a:bodyPr>
          <a:lstStyle/>
          <a:p>
            <a:pPr indent="0" lvl="0" marL="0" rtl="0" algn="l">
              <a:lnSpc>
                <a:spcPct val="100000"/>
              </a:lnSpc>
              <a:spcBef>
                <a:spcPts val="0"/>
              </a:spcBef>
              <a:spcAft>
                <a:spcPts val="0"/>
              </a:spcAft>
              <a:buSzPts val="1400"/>
              <a:buNone/>
            </a:pPr>
            <a:r>
              <a:rPr lang="es-ES"/>
              <a:t>https://www.1001fonts.com/jaeggers-free-font.html</a:t>
            </a:r>
            <a:endParaRPr/>
          </a:p>
        </p:txBody>
      </p:sp>
      <p:sp>
        <p:nvSpPr>
          <p:cNvPr id="99" name="Google Shape;99;p74:notes"/>
          <p:cNvSpPr/>
          <p:nvPr>
            <p:ph idx="2" type="sldImg"/>
          </p:nvPr>
        </p:nvSpPr>
        <p:spPr>
          <a:xfrm>
            <a:off x="419100" y="1241425"/>
            <a:ext cx="5967413" cy="33575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 type="body"/>
          </p:nvPr>
        </p:nvSpPr>
        <p:spPr>
          <a:xfrm>
            <a:off x="680562" y="4785599"/>
            <a:ext cx="5444490" cy="3915489"/>
          </a:xfrm>
          <a:prstGeom prst="rect">
            <a:avLst/>
          </a:prstGeom>
        </p:spPr>
        <p:txBody>
          <a:bodyPr anchorCtr="0" anchor="t" bIns="46100" lIns="92225" spcFirstLastPara="1" rIns="92225" wrap="square" tIns="46100">
            <a:noAutofit/>
          </a:bodyPr>
          <a:lstStyle/>
          <a:p>
            <a:pPr indent="0" lvl="0" marL="0" rtl="0" algn="l">
              <a:spcBef>
                <a:spcPts val="0"/>
              </a:spcBef>
              <a:spcAft>
                <a:spcPts val="0"/>
              </a:spcAft>
              <a:buNone/>
            </a:pPr>
            <a:r>
              <a:t/>
            </a:r>
            <a:endParaRPr/>
          </a:p>
        </p:txBody>
      </p:sp>
      <p:sp>
        <p:nvSpPr>
          <p:cNvPr id="106" name="Google Shape;106;p3:notes"/>
          <p:cNvSpPr/>
          <p:nvPr>
            <p:ph idx="2" type="sldImg"/>
          </p:nvPr>
        </p:nvSpPr>
        <p:spPr>
          <a:xfrm>
            <a:off x="419100" y="1241425"/>
            <a:ext cx="5967413" cy="33575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txBox="1"/>
          <p:nvPr>
            <p:ph idx="1" type="body"/>
          </p:nvPr>
        </p:nvSpPr>
        <p:spPr>
          <a:xfrm>
            <a:off x="680562" y="4785599"/>
            <a:ext cx="5444490" cy="3915489"/>
          </a:xfrm>
          <a:prstGeom prst="rect">
            <a:avLst/>
          </a:prstGeom>
        </p:spPr>
        <p:txBody>
          <a:bodyPr anchorCtr="0" anchor="t" bIns="46100" lIns="92225" spcFirstLastPara="1" rIns="92225" wrap="square" tIns="46100">
            <a:noAutofit/>
          </a:bodyPr>
          <a:lstStyle/>
          <a:p>
            <a:pPr indent="0" lvl="0" marL="0" rtl="0" algn="l">
              <a:spcBef>
                <a:spcPts val="0"/>
              </a:spcBef>
              <a:spcAft>
                <a:spcPts val="0"/>
              </a:spcAft>
              <a:buNone/>
            </a:pPr>
            <a:r>
              <a:t/>
            </a:r>
            <a:endParaRPr/>
          </a:p>
        </p:txBody>
      </p:sp>
      <p:sp>
        <p:nvSpPr>
          <p:cNvPr id="113" name="Google Shape;113;p4:notes"/>
          <p:cNvSpPr/>
          <p:nvPr>
            <p:ph idx="2" type="sldImg"/>
          </p:nvPr>
        </p:nvSpPr>
        <p:spPr>
          <a:xfrm>
            <a:off x="419100" y="1241425"/>
            <a:ext cx="5967413" cy="33575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75:notes"/>
          <p:cNvSpPr/>
          <p:nvPr>
            <p:ph idx="2" type="sldImg"/>
          </p:nvPr>
        </p:nvSpPr>
        <p:spPr>
          <a:xfrm>
            <a:off x="419100" y="1241425"/>
            <a:ext cx="5967413" cy="33575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75:notes"/>
          <p:cNvSpPr txBox="1"/>
          <p:nvPr>
            <p:ph idx="1" type="body"/>
          </p:nvPr>
        </p:nvSpPr>
        <p:spPr>
          <a:xfrm>
            <a:off x="680562" y="4785599"/>
            <a:ext cx="5444490" cy="3915489"/>
          </a:xfrm>
          <a:prstGeom prst="rect">
            <a:avLst/>
          </a:prstGeom>
          <a:noFill/>
          <a:ln>
            <a:noFill/>
          </a:ln>
        </p:spPr>
        <p:txBody>
          <a:bodyPr anchorCtr="0" anchor="t" bIns="46100" lIns="92225" spcFirstLastPara="1" rIns="92225" wrap="square" tIns="461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76:notes"/>
          <p:cNvSpPr txBox="1"/>
          <p:nvPr>
            <p:ph idx="1" type="body"/>
          </p:nvPr>
        </p:nvSpPr>
        <p:spPr>
          <a:xfrm>
            <a:off x="680562" y="4785599"/>
            <a:ext cx="5444490" cy="3915489"/>
          </a:xfrm>
          <a:prstGeom prst="rect">
            <a:avLst/>
          </a:prstGeom>
        </p:spPr>
        <p:txBody>
          <a:bodyPr anchorCtr="0" anchor="t" bIns="46100" lIns="92225" spcFirstLastPara="1" rIns="92225" wrap="square" tIns="46100">
            <a:noAutofit/>
          </a:bodyPr>
          <a:lstStyle/>
          <a:p>
            <a:pPr indent="0" lvl="0" marL="0" rtl="0" algn="l">
              <a:spcBef>
                <a:spcPts val="0"/>
              </a:spcBef>
              <a:spcAft>
                <a:spcPts val="0"/>
              </a:spcAft>
              <a:buNone/>
            </a:pPr>
            <a:r>
              <a:t/>
            </a:r>
            <a:endParaRPr/>
          </a:p>
        </p:txBody>
      </p:sp>
      <p:sp>
        <p:nvSpPr>
          <p:cNvPr id="127" name="Google Shape;127;p76:notes"/>
          <p:cNvSpPr/>
          <p:nvPr>
            <p:ph idx="2" type="sldImg"/>
          </p:nvPr>
        </p:nvSpPr>
        <p:spPr>
          <a:xfrm>
            <a:off x="419100" y="1241425"/>
            <a:ext cx="5967413" cy="33575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77:notes"/>
          <p:cNvSpPr/>
          <p:nvPr>
            <p:ph idx="2" type="sldImg"/>
          </p:nvPr>
        </p:nvSpPr>
        <p:spPr>
          <a:xfrm>
            <a:off x="419100" y="1241425"/>
            <a:ext cx="5967413" cy="33575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77:notes"/>
          <p:cNvSpPr txBox="1"/>
          <p:nvPr>
            <p:ph idx="1" type="body"/>
          </p:nvPr>
        </p:nvSpPr>
        <p:spPr>
          <a:xfrm>
            <a:off x="680562" y="4785599"/>
            <a:ext cx="5444490" cy="3915489"/>
          </a:xfrm>
          <a:prstGeom prst="rect">
            <a:avLst/>
          </a:prstGeom>
          <a:noFill/>
          <a:ln>
            <a:noFill/>
          </a:ln>
        </p:spPr>
        <p:txBody>
          <a:bodyPr anchorCtr="0" anchor="t" bIns="46100" lIns="92225" spcFirstLastPara="1" rIns="92225" wrap="square" tIns="461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78:notes"/>
          <p:cNvSpPr txBox="1"/>
          <p:nvPr>
            <p:ph idx="1" type="body"/>
          </p:nvPr>
        </p:nvSpPr>
        <p:spPr>
          <a:xfrm>
            <a:off x="680562" y="4785599"/>
            <a:ext cx="5444490" cy="3915489"/>
          </a:xfrm>
          <a:prstGeom prst="rect">
            <a:avLst/>
          </a:prstGeom>
          <a:noFill/>
          <a:ln>
            <a:noFill/>
          </a:ln>
        </p:spPr>
        <p:txBody>
          <a:bodyPr anchorCtr="0" anchor="t" bIns="46100" lIns="92225" spcFirstLastPara="1" rIns="92225" wrap="square" tIns="46100">
            <a:noAutofit/>
          </a:bodyPr>
          <a:lstStyle/>
          <a:p>
            <a:pPr indent="0" lvl="0" marL="0" rtl="0" algn="l">
              <a:lnSpc>
                <a:spcPct val="100000"/>
              </a:lnSpc>
              <a:spcBef>
                <a:spcPts val="0"/>
              </a:spcBef>
              <a:spcAft>
                <a:spcPts val="0"/>
              </a:spcAft>
              <a:buSzPts val="1400"/>
              <a:buNone/>
            </a:pPr>
            <a:r>
              <a:rPr lang="es-ES"/>
              <a:t>https://www.1001fonts.com/jaeggers-free-font.html</a:t>
            </a:r>
            <a:endParaRPr/>
          </a:p>
        </p:txBody>
      </p:sp>
      <p:sp>
        <p:nvSpPr>
          <p:cNvPr id="145" name="Google Shape;145;p78:notes"/>
          <p:cNvSpPr/>
          <p:nvPr>
            <p:ph idx="2" type="sldImg"/>
          </p:nvPr>
        </p:nvSpPr>
        <p:spPr>
          <a:xfrm>
            <a:off x="419100" y="1241425"/>
            <a:ext cx="5967413" cy="335756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79:notes"/>
          <p:cNvSpPr txBox="1"/>
          <p:nvPr>
            <p:ph idx="1" type="body"/>
          </p:nvPr>
        </p:nvSpPr>
        <p:spPr>
          <a:xfrm>
            <a:off x="694057" y="4431680"/>
            <a:ext cx="5552455" cy="3625919"/>
          </a:xfrm>
          <a:prstGeom prst="rect">
            <a:avLst/>
          </a:prstGeom>
          <a:noFill/>
          <a:ln>
            <a:noFill/>
          </a:ln>
        </p:spPr>
        <p:txBody>
          <a:bodyPr anchorCtr="0" anchor="t" bIns="46100" lIns="92225" spcFirstLastPara="1" rIns="92225" wrap="square" tIns="46100">
            <a:noAutofit/>
          </a:bodyPr>
          <a:lstStyle/>
          <a:p>
            <a:pPr indent="0" lvl="0" marL="0" rtl="0" algn="l">
              <a:lnSpc>
                <a:spcPct val="100000"/>
              </a:lnSpc>
              <a:spcBef>
                <a:spcPts val="0"/>
              </a:spcBef>
              <a:spcAft>
                <a:spcPts val="0"/>
              </a:spcAft>
              <a:buClr>
                <a:schemeClr val="dk1"/>
              </a:buClr>
              <a:buSzPts val="1400"/>
              <a:buNone/>
            </a:pPr>
            <a:r>
              <a:t/>
            </a:r>
            <a:endParaRPr/>
          </a:p>
        </p:txBody>
      </p:sp>
      <p:sp>
        <p:nvSpPr>
          <p:cNvPr id="152" name="Google Shape;152;p79:notes"/>
          <p:cNvSpPr/>
          <p:nvPr>
            <p:ph idx="2" type="sldImg"/>
          </p:nvPr>
        </p:nvSpPr>
        <p:spPr>
          <a:xfrm>
            <a:off x="708025" y="1150938"/>
            <a:ext cx="5524500" cy="31083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80:notes"/>
          <p:cNvSpPr txBox="1"/>
          <p:nvPr>
            <p:ph idx="1" type="body"/>
          </p:nvPr>
        </p:nvSpPr>
        <p:spPr>
          <a:xfrm>
            <a:off x="694057" y="4431680"/>
            <a:ext cx="5552455" cy="3625919"/>
          </a:xfrm>
          <a:prstGeom prst="rect">
            <a:avLst/>
          </a:prstGeom>
          <a:noFill/>
          <a:ln>
            <a:noFill/>
          </a:ln>
        </p:spPr>
        <p:txBody>
          <a:bodyPr anchorCtr="0" anchor="t" bIns="46100" lIns="92225" spcFirstLastPara="1" rIns="92225" wrap="square" tIns="46100">
            <a:noAutofit/>
          </a:bodyPr>
          <a:lstStyle/>
          <a:p>
            <a:pPr indent="0" lvl="0" marL="0" rtl="0" algn="l">
              <a:lnSpc>
                <a:spcPct val="100000"/>
              </a:lnSpc>
              <a:spcBef>
                <a:spcPts val="0"/>
              </a:spcBef>
              <a:spcAft>
                <a:spcPts val="0"/>
              </a:spcAft>
              <a:buClr>
                <a:schemeClr val="dk1"/>
              </a:buClr>
              <a:buSzPts val="1400"/>
              <a:buNone/>
            </a:pPr>
            <a:r>
              <a:t/>
            </a:r>
            <a:endParaRPr/>
          </a:p>
        </p:txBody>
      </p:sp>
      <p:sp>
        <p:nvSpPr>
          <p:cNvPr id="174" name="Google Shape;174;p80:notes"/>
          <p:cNvSpPr/>
          <p:nvPr>
            <p:ph idx="2" type="sldImg"/>
          </p:nvPr>
        </p:nvSpPr>
        <p:spPr>
          <a:xfrm>
            <a:off x="708025" y="1150938"/>
            <a:ext cx="5524500" cy="31083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81:notes"/>
          <p:cNvSpPr txBox="1"/>
          <p:nvPr>
            <p:ph idx="1" type="body"/>
          </p:nvPr>
        </p:nvSpPr>
        <p:spPr>
          <a:xfrm>
            <a:off x="694057" y="4431680"/>
            <a:ext cx="5552455" cy="3625919"/>
          </a:xfrm>
          <a:prstGeom prst="rect">
            <a:avLst/>
          </a:prstGeom>
          <a:noFill/>
          <a:ln>
            <a:noFill/>
          </a:ln>
        </p:spPr>
        <p:txBody>
          <a:bodyPr anchorCtr="0" anchor="t" bIns="46100" lIns="92225" spcFirstLastPara="1" rIns="92225" wrap="square" tIns="46100">
            <a:noAutofit/>
          </a:bodyPr>
          <a:lstStyle/>
          <a:p>
            <a:pPr indent="0" lvl="0" marL="0" rtl="0" algn="l">
              <a:lnSpc>
                <a:spcPct val="100000"/>
              </a:lnSpc>
              <a:spcBef>
                <a:spcPts val="0"/>
              </a:spcBef>
              <a:spcAft>
                <a:spcPts val="0"/>
              </a:spcAft>
              <a:buClr>
                <a:schemeClr val="dk1"/>
              </a:buClr>
              <a:buSzPts val="1400"/>
              <a:buNone/>
            </a:pPr>
            <a:r>
              <a:t/>
            </a:r>
            <a:endParaRPr/>
          </a:p>
        </p:txBody>
      </p:sp>
      <p:sp>
        <p:nvSpPr>
          <p:cNvPr id="186" name="Google Shape;186;p81:notes"/>
          <p:cNvSpPr/>
          <p:nvPr>
            <p:ph idx="2" type="sldImg"/>
          </p:nvPr>
        </p:nvSpPr>
        <p:spPr>
          <a:xfrm>
            <a:off x="708025" y="1150938"/>
            <a:ext cx="5524500" cy="31083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82:notes"/>
          <p:cNvSpPr txBox="1"/>
          <p:nvPr>
            <p:ph idx="1" type="body"/>
          </p:nvPr>
        </p:nvSpPr>
        <p:spPr>
          <a:xfrm>
            <a:off x="694057" y="4431680"/>
            <a:ext cx="5552455" cy="3625919"/>
          </a:xfrm>
          <a:prstGeom prst="rect">
            <a:avLst/>
          </a:prstGeom>
          <a:noFill/>
          <a:ln>
            <a:noFill/>
          </a:ln>
        </p:spPr>
        <p:txBody>
          <a:bodyPr anchorCtr="0" anchor="t" bIns="46100" lIns="92225" spcFirstLastPara="1" rIns="92225" wrap="square" tIns="46100">
            <a:noAutofit/>
          </a:bodyPr>
          <a:lstStyle/>
          <a:p>
            <a:pPr indent="0" lvl="0" marL="0" rtl="0" algn="l">
              <a:lnSpc>
                <a:spcPct val="100000"/>
              </a:lnSpc>
              <a:spcBef>
                <a:spcPts val="0"/>
              </a:spcBef>
              <a:spcAft>
                <a:spcPts val="0"/>
              </a:spcAft>
              <a:buClr>
                <a:schemeClr val="dk1"/>
              </a:buClr>
              <a:buSzPts val="1400"/>
              <a:buNone/>
            </a:pPr>
            <a:r>
              <a:t/>
            </a:r>
            <a:endParaRPr/>
          </a:p>
        </p:txBody>
      </p:sp>
      <p:sp>
        <p:nvSpPr>
          <p:cNvPr id="201" name="Google Shape;201;p82:notes"/>
          <p:cNvSpPr/>
          <p:nvPr>
            <p:ph idx="2" type="sldImg"/>
          </p:nvPr>
        </p:nvSpPr>
        <p:spPr>
          <a:xfrm>
            <a:off x="708025" y="1150938"/>
            <a:ext cx="5524500" cy="31083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83:notes"/>
          <p:cNvSpPr txBox="1"/>
          <p:nvPr>
            <p:ph idx="1" type="body"/>
          </p:nvPr>
        </p:nvSpPr>
        <p:spPr>
          <a:xfrm>
            <a:off x="680562" y="4785599"/>
            <a:ext cx="5444490" cy="3915489"/>
          </a:xfrm>
          <a:prstGeom prst="rect">
            <a:avLst/>
          </a:prstGeom>
        </p:spPr>
        <p:txBody>
          <a:bodyPr anchorCtr="0" anchor="t" bIns="46100" lIns="92225" spcFirstLastPara="1" rIns="92225" wrap="square" tIns="46100">
            <a:noAutofit/>
          </a:bodyPr>
          <a:lstStyle/>
          <a:p>
            <a:pPr indent="0" lvl="0" marL="0" rtl="0" algn="l">
              <a:spcBef>
                <a:spcPts val="0"/>
              </a:spcBef>
              <a:spcAft>
                <a:spcPts val="0"/>
              </a:spcAft>
              <a:buNone/>
            </a:pPr>
            <a:r>
              <a:t/>
            </a:r>
            <a:endParaRPr/>
          </a:p>
        </p:txBody>
      </p:sp>
      <p:sp>
        <p:nvSpPr>
          <p:cNvPr id="219" name="Google Shape;219;p83:notes"/>
          <p:cNvSpPr/>
          <p:nvPr>
            <p:ph idx="2" type="sldImg"/>
          </p:nvPr>
        </p:nvSpPr>
        <p:spPr>
          <a:xfrm>
            <a:off x="419100" y="1241425"/>
            <a:ext cx="5967413" cy="33575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84:notes"/>
          <p:cNvSpPr txBox="1"/>
          <p:nvPr>
            <p:ph idx="1" type="body"/>
          </p:nvPr>
        </p:nvSpPr>
        <p:spPr>
          <a:xfrm>
            <a:off x="694057" y="4431680"/>
            <a:ext cx="5552455" cy="3625919"/>
          </a:xfrm>
          <a:prstGeom prst="rect">
            <a:avLst/>
          </a:prstGeom>
          <a:noFill/>
          <a:ln>
            <a:noFill/>
          </a:ln>
        </p:spPr>
        <p:txBody>
          <a:bodyPr anchorCtr="0" anchor="t" bIns="46100" lIns="92225" spcFirstLastPara="1" rIns="92225" wrap="square" tIns="46100">
            <a:noAutofit/>
          </a:bodyPr>
          <a:lstStyle/>
          <a:p>
            <a:pPr indent="0" lvl="0" marL="0" rtl="0" algn="l">
              <a:lnSpc>
                <a:spcPct val="100000"/>
              </a:lnSpc>
              <a:spcBef>
                <a:spcPts val="0"/>
              </a:spcBef>
              <a:spcAft>
                <a:spcPts val="0"/>
              </a:spcAft>
              <a:buClr>
                <a:schemeClr val="dk1"/>
              </a:buClr>
              <a:buSzPts val="1400"/>
              <a:buNone/>
            </a:pPr>
            <a:r>
              <a:t/>
            </a:r>
            <a:endParaRPr/>
          </a:p>
        </p:txBody>
      </p:sp>
      <p:sp>
        <p:nvSpPr>
          <p:cNvPr id="232" name="Google Shape;232;p84:notes"/>
          <p:cNvSpPr/>
          <p:nvPr>
            <p:ph idx="2" type="sldImg"/>
          </p:nvPr>
        </p:nvSpPr>
        <p:spPr>
          <a:xfrm>
            <a:off x="708025" y="1150938"/>
            <a:ext cx="5524500" cy="31083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85:notes"/>
          <p:cNvSpPr txBox="1"/>
          <p:nvPr>
            <p:ph idx="1" type="body"/>
          </p:nvPr>
        </p:nvSpPr>
        <p:spPr>
          <a:xfrm>
            <a:off x="680562" y="4785599"/>
            <a:ext cx="5444490" cy="3915489"/>
          </a:xfrm>
          <a:prstGeom prst="rect">
            <a:avLst/>
          </a:prstGeom>
        </p:spPr>
        <p:txBody>
          <a:bodyPr anchorCtr="0" anchor="t" bIns="46100" lIns="92225" spcFirstLastPara="1" rIns="92225" wrap="square" tIns="46100">
            <a:noAutofit/>
          </a:bodyPr>
          <a:lstStyle/>
          <a:p>
            <a:pPr indent="0" lvl="0" marL="0" rtl="0" algn="l">
              <a:spcBef>
                <a:spcPts val="0"/>
              </a:spcBef>
              <a:spcAft>
                <a:spcPts val="0"/>
              </a:spcAft>
              <a:buNone/>
            </a:pPr>
            <a:r>
              <a:t/>
            </a:r>
            <a:endParaRPr/>
          </a:p>
        </p:txBody>
      </p:sp>
      <p:sp>
        <p:nvSpPr>
          <p:cNvPr id="243" name="Google Shape;243;p85:notes"/>
          <p:cNvSpPr/>
          <p:nvPr>
            <p:ph idx="2" type="sldImg"/>
          </p:nvPr>
        </p:nvSpPr>
        <p:spPr>
          <a:xfrm>
            <a:off x="419100" y="1241425"/>
            <a:ext cx="5967413" cy="335756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5" name="Shape 15"/>
        <p:cNvGrpSpPr/>
        <p:nvPr/>
      </p:nvGrpSpPr>
      <p:grpSpPr>
        <a:xfrm>
          <a:off x="0" y="0"/>
          <a:ext cx="0" cy="0"/>
          <a:chOff x="0" y="0"/>
          <a:chExt cx="0" cy="0"/>
        </a:xfrm>
      </p:grpSpPr>
      <p:sp>
        <p:nvSpPr>
          <p:cNvPr id="16" name="Google Shape;16;p8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8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8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8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8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1" name="Shape 21"/>
        <p:cNvGrpSpPr/>
        <p:nvPr/>
      </p:nvGrpSpPr>
      <p:grpSpPr>
        <a:xfrm>
          <a:off x="0" y="0"/>
          <a:ext cx="0" cy="0"/>
          <a:chOff x="0" y="0"/>
          <a:chExt cx="0" cy="0"/>
        </a:xfrm>
      </p:grpSpPr>
      <p:sp>
        <p:nvSpPr>
          <p:cNvPr id="22" name="Google Shape;22;p8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8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8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8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8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Azierta">
  <p:cSld name="Contenido Azierta">
    <p:spTree>
      <p:nvGrpSpPr>
        <p:cNvPr id="27" name="Shape 27"/>
        <p:cNvGrpSpPr/>
        <p:nvPr/>
      </p:nvGrpSpPr>
      <p:grpSpPr>
        <a:xfrm>
          <a:off x="0" y="0"/>
          <a:ext cx="0" cy="0"/>
          <a:chOff x="0" y="0"/>
          <a:chExt cx="0" cy="0"/>
        </a:xfrm>
      </p:grpSpPr>
      <p:sp>
        <p:nvSpPr>
          <p:cNvPr id="28" name="Google Shape;28;p89"/>
          <p:cNvSpPr txBox="1"/>
          <p:nvPr>
            <p:ph idx="12" type="sldNum"/>
          </p:nvPr>
        </p:nvSpPr>
        <p:spPr>
          <a:xfrm>
            <a:off x="9099641" y="6528294"/>
            <a:ext cx="2844800" cy="138113"/>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s-ES"/>
              <a:t>‹#›</a:t>
            </a:fld>
            <a:endParaRPr/>
          </a:p>
        </p:txBody>
      </p:sp>
      <p:sp>
        <p:nvSpPr>
          <p:cNvPr id="29" name="Google Shape;29;p89"/>
          <p:cNvSpPr txBox="1"/>
          <p:nvPr>
            <p:ph type="title"/>
          </p:nvPr>
        </p:nvSpPr>
        <p:spPr>
          <a:xfrm>
            <a:off x="5830869" y="210187"/>
            <a:ext cx="5746647" cy="418058"/>
          </a:xfrm>
          <a:prstGeom prst="rect">
            <a:avLst/>
          </a:prstGeom>
          <a:noFill/>
          <a:ln>
            <a:noFill/>
          </a:ln>
        </p:spPr>
        <p:txBody>
          <a:bodyPr anchorCtr="0" anchor="ctr" bIns="228600" lIns="228600" spcFirstLastPara="1" rIns="228600" wrap="square" tIns="228600">
            <a:noAutofit/>
          </a:bodyPr>
          <a:lstStyle>
            <a:lvl1pPr lvl="0" algn="ctr">
              <a:lnSpc>
                <a:spcPct val="85000"/>
              </a:lnSpc>
              <a:spcBef>
                <a:spcPts val="0"/>
              </a:spcBef>
              <a:spcAft>
                <a:spcPts val="0"/>
              </a:spcAft>
              <a:buClr>
                <a:srgbClr val="61493C"/>
              </a:buClr>
              <a:buSzPts val="2400"/>
              <a:buFont typeface="Arial Narrow"/>
              <a:buNone/>
              <a:defRPr b="0" sz="2400">
                <a:solidFill>
                  <a:srgbClr val="61493C"/>
                </a:solidFill>
                <a:latin typeface="Arial Narrow"/>
                <a:ea typeface="Arial Narrow"/>
                <a:cs typeface="Arial Narrow"/>
                <a:sym typeface="Arial Narrow"/>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30" name="Shape 30"/>
        <p:cNvGrpSpPr/>
        <p:nvPr/>
      </p:nvGrpSpPr>
      <p:grpSpPr>
        <a:xfrm>
          <a:off x="0" y="0"/>
          <a:ext cx="0" cy="0"/>
          <a:chOff x="0" y="0"/>
          <a:chExt cx="0" cy="0"/>
        </a:xfrm>
      </p:grpSpPr>
      <p:sp>
        <p:nvSpPr>
          <p:cNvPr id="31" name="Google Shape;31;p9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9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3" name="Google Shape;33;p9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9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9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6" name="Shape 36"/>
        <p:cNvGrpSpPr/>
        <p:nvPr/>
      </p:nvGrpSpPr>
      <p:grpSpPr>
        <a:xfrm>
          <a:off x="0" y="0"/>
          <a:ext cx="0" cy="0"/>
          <a:chOff x="0" y="0"/>
          <a:chExt cx="0" cy="0"/>
        </a:xfrm>
      </p:grpSpPr>
      <p:sp>
        <p:nvSpPr>
          <p:cNvPr id="37" name="Google Shape;37;p9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9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9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9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9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9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3" name="Shape 43"/>
        <p:cNvGrpSpPr/>
        <p:nvPr/>
      </p:nvGrpSpPr>
      <p:grpSpPr>
        <a:xfrm>
          <a:off x="0" y="0"/>
          <a:ext cx="0" cy="0"/>
          <a:chOff x="0" y="0"/>
          <a:chExt cx="0" cy="0"/>
        </a:xfrm>
      </p:grpSpPr>
      <p:sp>
        <p:nvSpPr>
          <p:cNvPr id="44" name="Google Shape;44;p9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9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9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9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9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9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9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9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52" name="Shape 52"/>
        <p:cNvGrpSpPr/>
        <p:nvPr/>
      </p:nvGrpSpPr>
      <p:grpSpPr>
        <a:xfrm>
          <a:off x="0" y="0"/>
          <a:ext cx="0" cy="0"/>
          <a:chOff x="0" y="0"/>
          <a:chExt cx="0" cy="0"/>
        </a:xfrm>
      </p:grpSpPr>
      <p:sp>
        <p:nvSpPr>
          <p:cNvPr id="53" name="Google Shape;53;p9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9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9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9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7" name="Shape 57"/>
        <p:cNvGrpSpPr/>
        <p:nvPr/>
      </p:nvGrpSpPr>
      <p:grpSpPr>
        <a:xfrm>
          <a:off x="0" y="0"/>
          <a:ext cx="0" cy="0"/>
          <a:chOff x="0" y="0"/>
          <a:chExt cx="0" cy="0"/>
        </a:xfrm>
      </p:grpSpPr>
      <p:sp>
        <p:nvSpPr>
          <p:cNvPr id="58" name="Google Shape;58;p9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61" name="Shape 61"/>
        <p:cNvGrpSpPr/>
        <p:nvPr/>
      </p:nvGrpSpPr>
      <p:grpSpPr>
        <a:xfrm>
          <a:off x="0" y="0"/>
          <a:ext cx="0" cy="0"/>
          <a:chOff x="0" y="0"/>
          <a:chExt cx="0" cy="0"/>
        </a:xfrm>
      </p:grpSpPr>
      <p:sp>
        <p:nvSpPr>
          <p:cNvPr id="62" name="Google Shape;62;p9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9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4" name="Google Shape;64;p9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9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9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9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8" name="Shape 68"/>
        <p:cNvGrpSpPr/>
        <p:nvPr/>
      </p:nvGrpSpPr>
      <p:grpSpPr>
        <a:xfrm>
          <a:off x="0" y="0"/>
          <a:ext cx="0" cy="0"/>
          <a:chOff x="0" y="0"/>
          <a:chExt cx="0" cy="0"/>
        </a:xfrm>
      </p:grpSpPr>
      <p:sp>
        <p:nvSpPr>
          <p:cNvPr id="69" name="Google Shape;69;p9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96"/>
          <p:cNvSpPr/>
          <p:nvPr>
            <p:ph idx="2" type="pic"/>
          </p:nvPr>
        </p:nvSpPr>
        <p:spPr>
          <a:xfrm>
            <a:off x="5183188" y="987425"/>
            <a:ext cx="6172200" cy="4873625"/>
          </a:xfrm>
          <a:prstGeom prst="rect">
            <a:avLst/>
          </a:prstGeom>
          <a:noFill/>
          <a:ln>
            <a:noFill/>
          </a:ln>
        </p:spPr>
      </p:sp>
      <p:sp>
        <p:nvSpPr>
          <p:cNvPr id="71" name="Google Shape;71;p9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2" name="Google Shape;72;p9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9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9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5" name="Shape 75"/>
        <p:cNvGrpSpPr/>
        <p:nvPr/>
      </p:nvGrpSpPr>
      <p:grpSpPr>
        <a:xfrm>
          <a:off x="0" y="0"/>
          <a:ext cx="0" cy="0"/>
          <a:chOff x="0" y="0"/>
          <a:chExt cx="0" cy="0"/>
        </a:xfrm>
      </p:grpSpPr>
      <p:sp>
        <p:nvSpPr>
          <p:cNvPr id="76" name="Google Shape;76;p9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9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9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9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9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81" name="Shape 81"/>
        <p:cNvGrpSpPr/>
        <p:nvPr/>
      </p:nvGrpSpPr>
      <p:grpSpPr>
        <a:xfrm>
          <a:off x="0" y="0"/>
          <a:ext cx="0" cy="0"/>
          <a:chOff x="0" y="0"/>
          <a:chExt cx="0" cy="0"/>
        </a:xfrm>
      </p:grpSpPr>
      <p:sp>
        <p:nvSpPr>
          <p:cNvPr id="82" name="Google Shape;82;p9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9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9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9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9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8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8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8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8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8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3.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1" Type="http://schemas.openxmlformats.org/officeDocument/2006/relationships/image" Target="../media/image18.jpg"/><Relationship Id="rId10" Type="http://schemas.openxmlformats.org/officeDocument/2006/relationships/image" Target="../media/image19.jpg"/><Relationship Id="rId12" Type="http://schemas.openxmlformats.org/officeDocument/2006/relationships/image" Target="../media/image20.jpg"/><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9.png"/><Relationship Id="rId9" Type="http://schemas.openxmlformats.org/officeDocument/2006/relationships/image" Target="../media/image17.jpg"/><Relationship Id="rId5" Type="http://schemas.openxmlformats.org/officeDocument/2006/relationships/image" Target="../media/image11.png"/><Relationship Id="rId6" Type="http://schemas.openxmlformats.org/officeDocument/2006/relationships/image" Target="../media/image16.jpg"/><Relationship Id="rId7" Type="http://schemas.openxmlformats.org/officeDocument/2006/relationships/image" Target="../media/image15.jpg"/><Relationship Id="rId8" Type="http://schemas.openxmlformats.org/officeDocument/2006/relationships/image" Target="../media/image1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1.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descr="10 euro bill on black textile" id="91" name="Google Shape;91;p73"/>
          <p:cNvPicPr preferRelativeResize="0"/>
          <p:nvPr/>
        </p:nvPicPr>
        <p:blipFill rotWithShape="1">
          <a:blip r:embed="rId3">
            <a:alphaModFix/>
          </a:blip>
          <a:srcRect b="0" l="0" r="0" t="0"/>
          <a:stretch/>
        </p:blipFill>
        <p:spPr>
          <a:xfrm rot="5400000">
            <a:off x="2651870" y="-2651871"/>
            <a:ext cx="6888259" cy="12192001"/>
          </a:xfrm>
          <a:prstGeom prst="rect">
            <a:avLst/>
          </a:prstGeom>
          <a:noFill/>
          <a:ln>
            <a:noFill/>
          </a:ln>
        </p:spPr>
      </p:pic>
      <p:sp>
        <p:nvSpPr>
          <p:cNvPr id="92" name="Google Shape;92;p73"/>
          <p:cNvSpPr/>
          <p:nvPr/>
        </p:nvSpPr>
        <p:spPr>
          <a:xfrm>
            <a:off x="0" y="6257152"/>
            <a:ext cx="12192000" cy="60084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3" name="Google Shape;93;p73"/>
          <p:cNvSpPr txBox="1"/>
          <p:nvPr>
            <p:ph idx="11" type="ftr"/>
          </p:nvPr>
        </p:nvSpPr>
        <p:spPr>
          <a:xfrm>
            <a:off x="10320338" y="905443"/>
            <a:ext cx="1752600" cy="471687"/>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b="1" lang="es-ES" sz="2000">
                <a:solidFill>
                  <a:schemeClr val="lt1"/>
                </a:solidFill>
              </a:rPr>
              <a:t>V_12.2022</a:t>
            </a:r>
            <a:endParaRPr/>
          </a:p>
        </p:txBody>
      </p:sp>
      <p:pic>
        <p:nvPicPr>
          <p:cNvPr descr="Hando Trial Black" id="94" name="Google Shape;94;p73"/>
          <p:cNvPicPr preferRelativeResize="0"/>
          <p:nvPr/>
        </p:nvPicPr>
        <p:blipFill rotWithShape="1">
          <a:blip r:embed="rId4">
            <a:alphaModFix/>
          </a:blip>
          <a:srcRect b="0" l="0" r="0" t="0"/>
          <a:stretch/>
        </p:blipFill>
        <p:spPr>
          <a:xfrm>
            <a:off x="8371996" y="449874"/>
            <a:ext cx="3632026" cy="324717"/>
          </a:xfrm>
          <a:prstGeom prst="rect">
            <a:avLst/>
          </a:prstGeom>
          <a:noFill/>
          <a:ln>
            <a:noFill/>
          </a:ln>
        </p:spPr>
      </p:pic>
      <p:pic>
        <p:nvPicPr>
          <p:cNvPr id="95" name="Google Shape;95;p73"/>
          <p:cNvPicPr preferRelativeResize="0"/>
          <p:nvPr/>
        </p:nvPicPr>
        <p:blipFill rotWithShape="1">
          <a:blip r:embed="rId5">
            <a:alphaModFix/>
          </a:blip>
          <a:srcRect b="0" l="0" r="0" t="0"/>
          <a:stretch/>
        </p:blipFill>
        <p:spPr>
          <a:xfrm>
            <a:off x="139191" y="6257152"/>
            <a:ext cx="1893579" cy="535249"/>
          </a:xfrm>
          <a:prstGeom prst="rect">
            <a:avLst/>
          </a:prstGeom>
          <a:noFill/>
          <a:ln>
            <a:noFill/>
          </a:ln>
        </p:spPr>
      </p:pic>
      <p:sp>
        <p:nvSpPr>
          <p:cNvPr id="96" name="Google Shape;96;p73"/>
          <p:cNvSpPr txBox="1"/>
          <p:nvPr/>
        </p:nvSpPr>
        <p:spPr>
          <a:xfrm>
            <a:off x="5892800" y="6468214"/>
            <a:ext cx="6299200" cy="276999"/>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s-ES" sz="1200" u="none" cap="none" strike="noStrike">
                <a:solidFill>
                  <a:schemeClr val="dk1"/>
                </a:solidFill>
                <a:latin typeface="Calibri"/>
                <a:ea typeface="Calibri"/>
                <a:cs typeface="Calibri"/>
                <a:sym typeface="Calibri"/>
              </a:rPr>
              <a:t>Este material es propiedad de Azierta.  Se prohíbe su copia o distribución sin autorización escrita.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74"/>
          <p:cNvSpPr/>
          <p:nvPr/>
        </p:nvSpPr>
        <p:spPr>
          <a:xfrm>
            <a:off x="0" y="0"/>
            <a:ext cx="12192000" cy="6858000"/>
          </a:xfrm>
          <a:prstGeom prst="rect">
            <a:avLst/>
          </a:prstGeom>
          <a:solidFill>
            <a:srgbClr val="F12DD5">
              <a:alpha val="4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Ok-Esport Bold" id="102" name="Google Shape;102;p74"/>
          <p:cNvPicPr preferRelativeResize="0"/>
          <p:nvPr/>
        </p:nvPicPr>
        <p:blipFill rotWithShape="1">
          <a:blip r:embed="rId3">
            <a:alphaModFix/>
          </a:blip>
          <a:srcRect b="0" l="0" r="0" t="0"/>
          <a:stretch/>
        </p:blipFill>
        <p:spPr>
          <a:xfrm>
            <a:off x="1623523" y="1826995"/>
            <a:ext cx="5103311" cy="1393457"/>
          </a:xfrm>
          <a:prstGeom prst="rect">
            <a:avLst/>
          </a:prstGeom>
          <a:noFill/>
          <a:ln>
            <a:noFill/>
          </a:ln>
        </p:spPr>
      </p:pic>
      <p:pic>
        <p:nvPicPr>
          <p:cNvPr descr="Jaeggers FREE Regular" id="103" name="Google Shape;103;p74"/>
          <p:cNvPicPr preferRelativeResize="0"/>
          <p:nvPr/>
        </p:nvPicPr>
        <p:blipFill rotWithShape="1">
          <a:blip r:embed="rId4">
            <a:alphaModFix/>
          </a:blip>
          <a:srcRect b="0" l="0" r="0" t="0"/>
          <a:stretch/>
        </p:blipFill>
        <p:spPr>
          <a:xfrm>
            <a:off x="5044238" y="3429000"/>
            <a:ext cx="5683595" cy="167924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3"/>
          <p:cNvSpPr txBox="1"/>
          <p:nvPr/>
        </p:nvSpPr>
        <p:spPr>
          <a:xfrm>
            <a:off x="119063" y="1310583"/>
            <a:ext cx="11953875" cy="2300951"/>
          </a:xfrm>
          <a:prstGeom prst="rect">
            <a:avLst/>
          </a:prstGeom>
          <a:solidFill>
            <a:schemeClr val="lt1"/>
          </a:solidFill>
          <a:ln cap="flat" cmpd="sng" w="9525">
            <a:solidFill>
              <a:srgbClr val="F12DD5"/>
            </a:solidFill>
            <a:prstDash val="dot"/>
            <a:round/>
            <a:headEnd len="sm" w="sm" type="none"/>
            <a:tailEnd len="sm" w="sm" type="none"/>
          </a:ln>
          <a:effectLst>
            <a:outerShdw blurRad="63500" sx="102000" rotWithShape="0" algn="ctr" sy="102000">
              <a:srgbClr val="000000">
                <a:alpha val="40000"/>
              </a:srgbClr>
            </a:outerShdw>
          </a:effectLst>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t/>
            </a:r>
            <a:endParaRPr b="1" i="0" sz="6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None/>
            </a:pPr>
            <a:r>
              <a:rPr b="1" i="0" lang="es-ES" sz="1800" u="none" cap="none" strike="noStrike">
                <a:solidFill>
                  <a:srgbClr val="F12DD5"/>
                </a:solidFill>
                <a:latin typeface="Calibri"/>
                <a:ea typeface="Calibri"/>
                <a:cs typeface="Calibri"/>
                <a:sym typeface="Calibri"/>
              </a:rPr>
              <a:t>TARJETA DE DÉBITO</a:t>
            </a:r>
            <a:endParaRPr/>
          </a:p>
          <a:p>
            <a:pPr indent="0" lvl="0" marL="0" marR="0" rtl="0" algn="l">
              <a:lnSpc>
                <a:spcPct val="120000"/>
              </a:lnSpc>
              <a:spcBef>
                <a:spcPts val="0"/>
              </a:spcBef>
              <a:spcAft>
                <a:spcPts val="0"/>
              </a:spcAft>
              <a:buNone/>
            </a:pPr>
            <a:r>
              <a:rPr b="0" i="0" lang="es-ES" sz="1800" u="none" cap="none" strike="noStrike">
                <a:solidFill>
                  <a:schemeClr val="dk1"/>
                </a:solidFill>
                <a:latin typeface="Calibri"/>
                <a:ea typeface="Calibri"/>
                <a:cs typeface="Calibri"/>
                <a:sym typeface="Calibri"/>
              </a:rPr>
              <a:t>Esta es nuestra tarjeta cotidiana en la que los </a:t>
            </a:r>
            <a:r>
              <a:rPr b="1" i="0" lang="es-ES" sz="1800" u="none" cap="none" strike="noStrike">
                <a:solidFill>
                  <a:srgbClr val="F12DD5"/>
                </a:solidFill>
                <a:latin typeface="Calibri"/>
                <a:ea typeface="Calibri"/>
                <a:cs typeface="Calibri"/>
                <a:sym typeface="Calibri"/>
              </a:rPr>
              <a:t>pagos se cargan casi de forma inmediata </a:t>
            </a:r>
            <a:r>
              <a:rPr b="0" i="0" lang="es-ES" sz="1800" u="none" cap="none" strike="noStrike">
                <a:solidFill>
                  <a:schemeClr val="dk1"/>
                </a:solidFill>
                <a:latin typeface="Calibri"/>
                <a:ea typeface="Calibri"/>
                <a:cs typeface="Calibri"/>
                <a:sym typeface="Calibri"/>
              </a:rPr>
              <a:t>en la cuenta corriente a la que está vinculada y se descuenta automáticamente de la cuenta del titular. Generalmente si no hay saldo suficiente el pago se puede denegar, pero hay entidades que permiten que la cuenta se quede en descubierto un tiempo muy limitado hasta que reponga el saldo y volver a estar en positivo. Puede utilizarse para disponer de dinero de forma inmediata a través de cajeros, o para realizar comprar en establecimientos, tiendas, online, etc.</a:t>
            </a:r>
            <a:endParaRPr/>
          </a:p>
          <a:p>
            <a:pPr indent="0" lvl="0" marL="0" marR="0" rtl="0" algn="l">
              <a:lnSpc>
                <a:spcPct val="120000"/>
              </a:lnSpc>
              <a:spcBef>
                <a:spcPts val="0"/>
              </a:spcBef>
              <a:spcAft>
                <a:spcPts val="0"/>
              </a:spcAft>
              <a:buNone/>
            </a:pPr>
            <a:r>
              <a:t/>
            </a:r>
            <a:endParaRPr b="0" i="0" sz="600" u="none" cap="none" strike="noStrike">
              <a:solidFill>
                <a:schemeClr val="dk1"/>
              </a:solidFill>
              <a:latin typeface="Calibri"/>
              <a:ea typeface="Calibri"/>
              <a:cs typeface="Calibri"/>
              <a:sym typeface="Calibri"/>
            </a:endParaRPr>
          </a:p>
        </p:txBody>
      </p:sp>
      <p:pic>
        <p:nvPicPr>
          <p:cNvPr id="109" name="Google Shape;109;p3"/>
          <p:cNvPicPr preferRelativeResize="0"/>
          <p:nvPr/>
        </p:nvPicPr>
        <p:blipFill rotWithShape="1">
          <a:blip r:embed="rId3">
            <a:alphaModFix/>
          </a:blip>
          <a:srcRect b="0" l="0" r="0" t="0"/>
          <a:stretch/>
        </p:blipFill>
        <p:spPr>
          <a:xfrm rot="10800000">
            <a:off x="0" y="627066"/>
            <a:ext cx="12192000" cy="860425"/>
          </a:xfrm>
          <a:prstGeom prst="rect">
            <a:avLst/>
          </a:prstGeom>
          <a:noFill/>
          <a:ln>
            <a:noFill/>
          </a:ln>
        </p:spPr>
      </p:pic>
      <p:sp>
        <p:nvSpPr>
          <p:cNvPr id="110" name="Google Shape;110;p3"/>
          <p:cNvSpPr txBox="1"/>
          <p:nvPr/>
        </p:nvSpPr>
        <p:spPr>
          <a:xfrm>
            <a:off x="3962399" y="197750"/>
            <a:ext cx="426720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s-ES" sz="2400" u="none" cap="none" strike="noStrike">
                <a:solidFill>
                  <a:schemeClr val="dk1"/>
                </a:solidFill>
                <a:latin typeface="Calibri"/>
                <a:ea typeface="Calibri"/>
                <a:cs typeface="Calibri"/>
                <a:sym typeface="Calibri"/>
              </a:rPr>
              <a:t>CONCEPTOS FINANCIEROS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4"/>
          <p:cNvSpPr txBox="1"/>
          <p:nvPr/>
        </p:nvSpPr>
        <p:spPr>
          <a:xfrm>
            <a:off x="119064" y="1020602"/>
            <a:ext cx="11945936" cy="5333127"/>
          </a:xfrm>
          <a:prstGeom prst="rect">
            <a:avLst/>
          </a:prstGeom>
          <a:solidFill>
            <a:schemeClr val="lt1"/>
          </a:solidFill>
          <a:ln cap="flat" cmpd="sng" w="9525">
            <a:solidFill>
              <a:srgbClr val="F12DD5"/>
            </a:solidFill>
            <a:prstDash val="dot"/>
            <a:round/>
            <a:headEnd len="sm" w="sm" type="none"/>
            <a:tailEnd len="sm" w="sm" type="none"/>
          </a:ln>
          <a:effectLst>
            <a:outerShdw blurRad="63500" sx="102000" rotWithShape="0" algn="ctr" sy="1020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b="1" i="0" lang="es-ES" sz="1800" u="none" cap="none" strike="noStrike">
                <a:solidFill>
                  <a:srgbClr val="F12DD5"/>
                </a:solidFill>
                <a:latin typeface="Calibri"/>
                <a:ea typeface="Calibri"/>
                <a:cs typeface="Calibri"/>
                <a:sym typeface="Calibri"/>
              </a:rPr>
              <a:t>TARJETA DE CRÉDITO</a:t>
            </a:r>
            <a:endParaRPr/>
          </a:p>
          <a:p>
            <a:pPr indent="0" lvl="0" marL="0" marR="0" rtl="0" algn="l">
              <a:lnSpc>
                <a:spcPct val="120000"/>
              </a:lnSpc>
              <a:spcBef>
                <a:spcPts val="0"/>
              </a:spcBef>
              <a:spcAft>
                <a:spcPts val="0"/>
              </a:spcAft>
              <a:buNone/>
            </a:pPr>
            <a:r>
              <a:rPr lang="es-ES" sz="1800">
                <a:solidFill>
                  <a:schemeClr val="dk1"/>
                </a:solidFill>
                <a:latin typeface="Calibri"/>
                <a:ea typeface="Calibri"/>
                <a:cs typeface="Calibri"/>
                <a:sym typeface="Calibri"/>
              </a:rPr>
              <a:t>Esta tarjeta permite realizar compras sin pagar al momento, ya que se financian a través de la entidad emisora que las concede. Éstas tienen un </a:t>
            </a:r>
            <a:r>
              <a:rPr b="1" lang="es-ES" sz="1800">
                <a:solidFill>
                  <a:srgbClr val="F12DD5"/>
                </a:solidFill>
                <a:latin typeface="Calibri"/>
                <a:ea typeface="Calibri"/>
                <a:cs typeface="Calibri"/>
                <a:sym typeface="Calibri"/>
              </a:rPr>
              <a:t>límite máximo marcado por la entidad que la concede</a:t>
            </a:r>
            <a:r>
              <a:rPr lang="es-ES" sz="1800">
                <a:solidFill>
                  <a:schemeClr val="dk1"/>
                </a:solidFill>
                <a:latin typeface="Calibri"/>
                <a:ea typeface="Calibri"/>
                <a:cs typeface="Calibri"/>
                <a:sym typeface="Calibri"/>
              </a:rPr>
              <a:t>. </a:t>
            </a:r>
            <a:br>
              <a:rPr lang="es-ES" sz="1800">
                <a:solidFill>
                  <a:schemeClr val="dk1"/>
                </a:solidFill>
                <a:latin typeface="Calibri"/>
                <a:ea typeface="Calibri"/>
                <a:cs typeface="Calibri"/>
                <a:sym typeface="Calibri"/>
              </a:rPr>
            </a:br>
            <a:r>
              <a:rPr lang="es-ES" sz="1800">
                <a:solidFill>
                  <a:schemeClr val="dk1"/>
                </a:solidFill>
                <a:latin typeface="Calibri"/>
                <a:ea typeface="Calibri"/>
                <a:cs typeface="Calibri"/>
                <a:sym typeface="Calibri"/>
              </a:rPr>
              <a:t>Todas las tarjetas tienen distintas modalidades de pago que pueden ser: </a:t>
            </a:r>
            <a:endParaRPr/>
          </a:p>
          <a:p>
            <a:pPr indent="-285750" lvl="1" marL="742950" marR="0" rtl="0" algn="l">
              <a:lnSpc>
                <a:spcPct val="120000"/>
              </a:lnSpc>
              <a:spcBef>
                <a:spcPts val="0"/>
              </a:spcBef>
              <a:spcAft>
                <a:spcPts val="0"/>
              </a:spcAft>
              <a:buClr>
                <a:srgbClr val="F12DD5"/>
              </a:buClr>
              <a:buSzPts val="1800"/>
              <a:buFont typeface="Noto Sans Symbols"/>
              <a:buChar char="✔"/>
            </a:pPr>
            <a:r>
              <a:rPr b="1" i="0" lang="es-ES" sz="1800" u="none" cap="none" strike="noStrike">
                <a:solidFill>
                  <a:schemeClr val="dk1"/>
                </a:solidFill>
                <a:latin typeface="Calibri"/>
                <a:ea typeface="Calibri"/>
                <a:cs typeface="Calibri"/>
                <a:sym typeface="Calibri"/>
              </a:rPr>
              <a:t>Pago aplazado / revolver: </a:t>
            </a:r>
            <a:r>
              <a:rPr b="0" i="0" lang="es-ES" sz="1800" u="none" cap="none" strike="noStrike">
                <a:solidFill>
                  <a:schemeClr val="dk1"/>
                </a:solidFill>
                <a:latin typeface="Calibri"/>
                <a:ea typeface="Calibri"/>
                <a:cs typeface="Calibri"/>
                <a:sym typeface="Calibri"/>
              </a:rPr>
              <a:t>El cliente puede elegir pagar un porcentaje de la cantidad consumida o una cuota fija, para devolver </a:t>
            </a:r>
            <a:r>
              <a:rPr b="1" i="0" lang="es-ES" sz="1800" u="none" cap="none" strike="noStrike">
                <a:solidFill>
                  <a:srgbClr val="F12DD5"/>
                </a:solidFill>
                <a:latin typeface="Calibri"/>
                <a:ea typeface="Calibri"/>
                <a:cs typeface="Calibri"/>
                <a:sym typeface="Calibri"/>
              </a:rPr>
              <a:t>esa cantidad total mes a mes</a:t>
            </a:r>
            <a:r>
              <a:rPr b="0" i="0" lang="es-ES" sz="1800" u="none" cap="none" strike="noStrike">
                <a:solidFill>
                  <a:srgbClr val="F12DD5"/>
                </a:solidFill>
                <a:latin typeface="Calibri"/>
                <a:ea typeface="Calibri"/>
                <a:cs typeface="Calibri"/>
                <a:sym typeface="Calibri"/>
              </a:rPr>
              <a:t>. </a:t>
            </a:r>
            <a:r>
              <a:rPr b="0" i="0" lang="es-ES" sz="1800" u="none" cap="none" strike="noStrike">
                <a:solidFill>
                  <a:schemeClr val="dk1"/>
                </a:solidFill>
                <a:latin typeface="Calibri"/>
                <a:ea typeface="Calibri"/>
                <a:cs typeface="Calibri"/>
                <a:sym typeface="Calibri"/>
              </a:rPr>
              <a:t>Aplazar el pago en cuotas genera unos </a:t>
            </a:r>
            <a:r>
              <a:rPr b="1" i="0" lang="es-ES" sz="1800" u="none" cap="none" strike="noStrike">
                <a:solidFill>
                  <a:srgbClr val="F12DD5"/>
                </a:solidFill>
                <a:latin typeface="Calibri"/>
                <a:ea typeface="Calibri"/>
                <a:cs typeface="Calibri"/>
                <a:sym typeface="Calibri"/>
              </a:rPr>
              <a:t>intereses</a:t>
            </a:r>
            <a:r>
              <a:rPr b="0" i="0" lang="es-ES" sz="1800" u="none" cap="none" strike="noStrike">
                <a:solidFill>
                  <a:schemeClr val="dk1"/>
                </a:solidFill>
                <a:latin typeface="Calibri"/>
                <a:ea typeface="Calibri"/>
                <a:cs typeface="Calibri"/>
                <a:sym typeface="Calibri"/>
              </a:rPr>
              <a:t> que se suman a la cantidad a devolver.</a:t>
            </a:r>
            <a:endParaRPr b="1" i="0" sz="1800" u="none" cap="none" strike="noStrike">
              <a:solidFill>
                <a:schemeClr val="dk1"/>
              </a:solidFill>
              <a:latin typeface="Calibri"/>
              <a:ea typeface="Calibri"/>
              <a:cs typeface="Calibri"/>
              <a:sym typeface="Calibri"/>
            </a:endParaRPr>
          </a:p>
          <a:p>
            <a:pPr indent="-285750" lvl="1" marL="742950" marR="0" rtl="0" algn="l">
              <a:lnSpc>
                <a:spcPct val="120000"/>
              </a:lnSpc>
              <a:spcBef>
                <a:spcPts val="0"/>
              </a:spcBef>
              <a:spcAft>
                <a:spcPts val="0"/>
              </a:spcAft>
              <a:buClr>
                <a:srgbClr val="F12DD5"/>
              </a:buClr>
              <a:buSzPts val="1800"/>
              <a:buFont typeface="Noto Sans Symbols"/>
              <a:buChar char="✔"/>
            </a:pPr>
            <a:r>
              <a:rPr b="1" i="0" lang="es-ES" sz="1800" u="none" cap="none" strike="noStrike">
                <a:solidFill>
                  <a:schemeClr val="dk1"/>
                </a:solidFill>
                <a:latin typeface="Calibri"/>
                <a:ea typeface="Calibri"/>
                <a:cs typeface="Calibri"/>
                <a:sym typeface="Calibri"/>
              </a:rPr>
              <a:t>Pago a fin de mes / transactor: </a:t>
            </a:r>
            <a:r>
              <a:rPr b="0" i="0" lang="es-ES" sz="1800" u="none" cap="none" strike="noStrike">
                <a:solidFill>
                  <a:schemeClr val="dk1"/>
                </a:solidFill>
                <a:latin typeface="Calibri"/>
                <a:ea typeface="Calibri"/>
                <a:cs typeface="Calibri"/>
                <a:sym typeface="Calibri"/>
              </a:rPr>
              <a:t>En el que el total de los cargos que se han hecho durante el mes, se pasan</a:t>
            </a:r>
            <a:r>
              <a:rPr b="0" i="0" lang="es-ES" sz="1800" u="none" cap="none" strike="noStrike">
                <a:solidFill>
                  <a:srgbClr val="F12DD5"/>
                </a:solidFill>
                <a:latin typeface="Calibri"/>
                <a:ea typeface="Calibri"/>
                <a:cs typeface="Calibri"/>
                <a:sym typeface="Calibri"/>
              </a:rPr>
              <a:t> </a:t>
            </a:r>
            <a:r>
              <a:rPr b="1" i="0" lang="es-ES" sz="1800" u="none" cap="none" strike="noStrike">
                <a:solidFill>
                  <a:srgbClr val="F12DD5"/>
                </a:solidFill>
                <a:latin typeface="Calibri"/>
                <a:ea typeface="Calibri"/>
                <a:cs typeface="Calibri"/>
                <a:sym typeface="Calibri"/>
              </a:rPr>
              <a:t>íntegros a primero del mes siguiente</a:t>
            </a:r>
            <a:r>
              <a:rPr b="0" i="0" lang="es-ES" sz="1800" u="none" cap="none" strike="noStrike">
                <a:solidFill>
                  <a:schemeClr val="dk1"/>
                </a:solidFill>
                <a:latin typeface="Calibri"/>
                <a:ea typeface="Calibri"/>
                <a:cs typeface="Calibri"/>
                <a:sym typeface="Calibri"/>
              </a:rPr>
              <a:t>, generalmente sin comisiones.</a:t>
            </a:r>
            <a:endParaRPr b="1" i="0" sz="1800" u="none" cap="none" strike="noStrike">
              <a:solidFill>
                <a:schemeClr val="dk1"/>
              </a:solidFill>
              <a:latin typeface="Calibri"/>
              <a:ea typeface="Calibri"/>
              <a:cs typeface="Calibri"/>
              <a:sym typeface="Calibri"/>
            </a:endParaRPr>
          </a:p>
          <a:p>
            <a:pPr indent="-285750" lvl="0" marL="285750" marR="0" rtl="0" algn="l">
              <a:lnSpc>
                <a:spcPct val="120000"/>
              </a:lnSpc>
              <a:spcBef>
                <a:spcPts val="0"/>
              </a:spcBef>
              <a:spcAft>
                <a:spcPts val="0"/>
              </a:spcAft>
              <a:buClr>
                <a:srgbClr val="F12DD5"/>
              </a:buClr>
              <a:buSzPts val="1800"/>
              <a:buFont typeface="Arial"/>
              <a:buChar char="•"/>
            </a:pPr>
            <a:r>
              <a:rPr b="1" lang="es-ES" sz="1800">
                <a:solidFill>
                  <a:schemeClr val="dk1"/>
                </a:solidFill>
                <a:latin typeface="Calibri"/>
                <a:ea typeface="Calibri"/>
                <a:cs typeface="Calibri"/>
                <a:sym typeface="Calibri"/>
              </a:rPr>
              <a:t>Traspaso desde el crédito (Smart Cash): </a:t>
            </a:r>
            <a:r>
              <a:rPr lang="es-ES" sz="1800">
                <a:solidFill>
                  <a:schemeClr val="dk1"/>
                </a:solidFill>
                <a:latin typeface="Calibri"/>
                <a:ea typeface="Calibri"/>
                <a:cs typeface="Calibri"/>
                <a:sym typeface="Calibri"/>
              </a:rPr>
              <a:t>Algunas tarjetas, tienen la posibilidad de </a:t>
            </a:r>
            <a:r>
              <a:rPr b="1" lang="es-ES" sz="1800">
                <a:solidFill>
                  <a:srgbClr val="F12DD5"/>
                </a:solidFill>
                <a:latin typeface="Calibri"/>
                <a:ea typeface="Calibri"/>
                <a:cs typeface="Calibri"/>
                <a:sym typeface="Calibri"/>
              </a:rPr>
              <a:t>transferir el disponible del crédito a la cuenta corriente</a:t>
            </a:r>
            <a:r>
              <a:rPr lang="es-ES" sz="1800">
                <a:solidFill>
                  <a:srgbClr val="F12DD5"/>
                </a:solidFill>
                <a:latin typeface="Calibri"/>
                <a:ea typeface="Calibri"/>
                <a:cs typeface="Calibri"/>
                <a:sym typeface="Calibri"/>
              </a:rPr>
              <a:t> </a:t>
            </a:r>
            <a:r>
              <a:rPr lang="es-ES" sz="1800">
                <a:solidFill>
                  <a:schemeClr val="dk1"/>
                </a:solidFill>
                <a:latin typeface="Calibri"/>
                <a:ea typeface="Calibri"/>
                <a:cs typeface="Calibri"/>
                <a:sym typeface="Calibri"/>
              </a:rPr>
              <a:t>para todo aquello que no se puede pagar con tarjeta, como recibos, impuestos, transferencias a otras cuentas... Este traspaso figura como una compra más y se abona en la modalidad de pago que tenga el cliente, generando o no intereses.</a:t>
            </a:r>
            <a:endParaRPr/>
          </a:p>
          <a:p>
            <a:pPr indent="-285750" lvl="0" marL="285750" marR="0" rtl="0" algn="l">
              <a:lnSpc>
                <a:spcPct val="120000"/>
              </a:lnSpc>
              <a:spcBef>
                <a:spcPts val="0"/>
              </a:spcBef>
              <a:spcAft>
                <a:spcPts val="0"/>
              </a:spcAft>
              <a:buClr>
                <a:srgbClr val="F12DD5"/>
              </a:buClr>
              <a:buSzPts val="1800"/>
              <a:buFont typeface="Arial"/>
              <a:buChar char="•"/>
            </a:pPr>
            <a:r>
              <a:rPr b="1" lang="es-ES" sz="1800">
                <a:solidFill>
                  <a:schemeClr val="dk1"/>
                </a:solidFill>
                <a:latin typeface="Calibri"/>
                <a:ea typeface="Calibri"/>
                <a:cs typeface="Calibri"/>
                <a:sym typeface="Calibri"/>
              </a:rPr>
              <a:t>Aplazar determinadas compras (Gran Compra): </a:t>
            </a:r>
            <a:r>
              <a:rPr lang="es-ES" sz="1800">
                <a:solidFill>
                  <a:schemeClr val="dk1"/>
                </a:solidFill>
                <a:latin typeface="Calibri"/>
                <a:ea typeface="Calibri"/>
                <a:cs typeface="Calibri"/>
                <a:sym typeface="Calibri"/>
              </a:rPr>
              <a:t>Algunas tarjetas también permiten </a:t>
            </a:r>
            <a:r>
              <a:rPr b="1" lang="es-ES" sz="1800">
                <a:solidFill>
                  <a:srgbClr val="F12DD5"/>
                </a:solidFill>
                <a:latin typeface="Calibri"/>
                <a:ea typeface="Calibri"/>
                <a:cs typeface="Calibri"/>
                <a:sym typeface="Calibri"/>
              </a:rPr>
              <a:t>aplazar determinadas compras </a:t>
            </a:r>
            <a:r>
              <a:rPr lang="es-ES" sz="1800">
                <a:solidFill>
                  <a:schemeClr val="dk1"/>
                </a:solidFill>
                <a:latin typeface="Calibri"/>
                <a:ea typeface="Calibri"/>
                <a:cs typeface="Calibri"/>
                <a:sym typeface="Calibri"/>
              </a:rPr>
              <a:t>por un importe elevado, o la acumulación de varios importes pequeños, pagando la totalidad fraccionada más una comisión por servicio o prorrateada en el número de meses a devolver.</a:t>
            </a:r>
            <a:endParaRPr/>
          </a:p>
        </p:txBody>
      </p:sp>
      <p:sp>
        <p:nvSpPr>
          <p:cNvPr id="116" name="Google Shape;116;p4"/>
          <p:cNvSpPr txBox="1"/>
          <p:nvPr/>
        </p:nvSpPr>
        <p:spPr>
          <a:xfrm>
            <a:off x="3962399" y="197750"/>
            <a:ext cx="426720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dk1"/>
                </a:solidFill>
                <a:latin typeface="Calibri"/>
                <a:ea typeface="Calibri"/>
                <a:cs typeface="Calibri"/>
                <a:sym typeface="Calibri"/>
              </a:rPr>
              <a:t>CONCEPTOS FINANCIEROS</a:t>
            </a:r>
            <a:endParaRPr/>
          </a:p>
        </p:txBody>
      </p:sp>
      <p:pic>
        <p:nvPicPr>
          <p:cNvPr id="117" name="Google Shape;117;p4"/>
          <p:cNvPicPr preferRelativeResize="0"/>
          <p:nvPr/>
        </p:nvPicPr>
        <p:blipFill rotWithShape="1">
          <a:blip r:embed="rId3">
            <a:alphaModFix/>
          </a:blip>
          <a:srcRect b="0" l="0" r="0" t="0"/>
          <a:stretch/>
        </p:blipFill>
        <p:spPr>
          <a:xfrm rot="10800000">
            <a:off x="0" y="627066"/>
            <a:ext cx="12192000" cy="8604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75"/>
          <p:cNvSpPr txBox="1"/>
          <p:nvPr/>
        </p:nvSpPr>
        <p:spPr>
          <a:xfrm>
            <a:off x="119063" y="1317234"/>
            <a:ext cx="11953875" cy="4199810"/>
          </a:xfrm>
          <a:prstGeom prst="rect">
            <a:avLst/>
          </a:prstGeom>
          <a:solidFill>
            <a:schemeClr val="lt1"/>
          </a:solidFill>
          <a:ln cap="flat" cmpd="sng" w="9525">
            <a:solidFill>
              <a:srgbClr val="F12DD5"/>
            </a:solidFill>
            <a:prstDash val="dot"/>
            <a:round/>
            <a:headEnd len="sm" w="sm" type="none"/>
            <a:tailEnd len="sm" w="sm" type="none"/>
          </a:ln>
          <a:effectLst>
            <a:outerShdw blurRad="635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l">
              <a:lnSpc>
                <a:spcPct val="120000"/>
              </a:lnSpc>
              <a:spcBef>
                <a:spcPts val="0"/>
              </a:spcBef>
              <a:spcAft>
                <a:spcPts val="0"/>
              </a:spcAft>
              <a:buNone/>
            </a:pPr>
            <a:r>
              <a:rPr b="1" lang="es-ES" sz="1800">
                <a:solidFill>
                  <a:srgbClr val="F12DD5"/>
                </a:solidFill>
                <a:latin typeface="Calibri"/>
                <a:ea typeface="Calibri"/>
                <a:cs typeface="Calibri"/>
                <a:sym typeface="Calibri"/>
              </a:rPr>
              <a:t>T.A.E. (Tasa Anual Equivalente)</a:t>
            </a:r>
            <a:endParaRPr sz="1800">
              <a:solidFill>
                <a:srgbClr val="F12DD5"/>
              </a:solidFill>
              <a:latin typeface="Calibri"/>
              <a:ea typeface="Calibri"/>
              <a:cs typeface="Calibri"/>
              <a:sym typeface="Calibri"/>
            </a:endParaRPr>
          </a:p>
          <a:p>
            <a:pPr indent="0" lvl="0" marL="0" marR="0" rtl="0" algn="l">
              <a:lnSpc>
                <a:spcPct val="120000"/>
              </a:lnSpc>
              <a:spcBef>
                <a:spcPts val="0"/>
              </a:spcBef>
              <a:spcAft>
                <a:spcPts val="0"/>
              </a:spcAft>
              <a:buNone/>
            </a:pPr>
            <a:r>
              <a:rPr lang="es-ES" sz="1800">
                <a:solidFill>
                  <a:schemeClr val="dk1"/>
                </a:solidFill>
                <a:latin typeface="Calibri"/>
                <a:ea typeface="Calibri"/>
                <a:cs typeface="Calibri"/>
                <a:sym typeface="Calibri"/>
              </a:rPr>
              <a:t>Es un cálculo que incluye el tipo de interés nominal (TIN) y las comisiones que puedan aplicarle a su préstamo, teniendo en cuenta el plazo de la operación.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None/>
            </a:pPr>
            <a:r>
              <a:rPr lang="es-ES" sz="1800">
                <a:solidFill>
                  <a:schemeClr val="dk1"/>
                </a:solidFill>
                <a:latin typeface="Calibri"/>
                <a:ea typeface="Calibri"/>
                <a:cs typeface="Calibri"/>
                <a:sym typeface="Calibri"/>
              </a:rPr>
              <a:t>Es un indicador mucho </a:t>
            </a:r>
            <a:r>
              <a:rPr b="1" lang="es-ES" sz="1800">
                <a:solidFill>
                  <a:srgbClr val="F12DD5"/>
                </a:solidFill>
                <a:latin typeface="Calibri"/>
                <a:ea typeface="Calibri"/>
                <a:cs typeface="Calibri"/>
                <a:sym typeface="Calibri"/>
              </a:rPr>
              <a:t>más fiable del coste real del préstamo</a:t>
            </a:r>
            <a:r>
              <a:rPr lang="es-ES" sz="1800">
                <a:solidFill>
                  <a:srgbClr val="F12DD5"/>
                </a:solidFill>
                <a:latin typeface="Calibri"/>
                <a:ea typeface="Calibri"/>
                <a:cs typeface="Calibri"/>
                <a:sym typeface="Calibri"/>
              </a:rPr>
              <a:t>. </a:t>
            </a:r>
            <a:r>
              <a:rPr lang="es-ES" sz="1800">
                <a:solidFill>
                  <a:schemeClr val="dk1"/>
                </a:solidFill>
                <a:latin typeface="Calibri"/>
                <a:ea typeface="Calibri"/>
                <a:cs typeface="Calibri"/>
                <a:sym typeface="Calibri"/>
              </a:rPr>
              <a:t>Algunos préstamos pueden tener un TIN bajo, pero muchas comisiones por otros conceptos (apertura, cancelación, amortización parcial, estudio…).</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None/>
            </a:pPr>
            <a:r>
              <a:rPr b="1" lang="es-ES" sz="1800">
                <a:solidFill>
                  <a:srgbClr val="F12DD5"/>
                </a:solidFill>
                <a:latin typeface="Calibri"/>
                <a:ea typeface="Calibri"/>
                <a:cs typeface="Calibri"/>
                <a:sym typeface="Calibri"/>
              </a:rPr>
              <a:t>T.I.N. (Tipo Interés Nominal)</a:t>
            </a:r>
            <a:endParaRPr sz="1800">
              <a:solidFill>
                <a:srgbClr val="F12DD5"/>
              </a:solidFill>
              <a:latin typeface="Calibri"/>
              <a:ea typeface="Calibri"/>
              <a:cs typeface="Calibri"/>
              <a:sym typeface="Calibri"/>
            </a:endParaRPr>
          </a:p>
          <a:p>
            <a:pPr indent="0" lvl="0" marL="0" marR="0" rtl="0" algn="l">
              <a:lnSpc>
                <a:spcPct val="120000"/>
              </a:lnSpc>
              <a:spcBef>
                <a:spcPts val="0"/>
              </a:spcBef>
              <a:spcAft>
                <a:spcPts val="0"/>
              </a:spcAft>
              <a:buNone/>
            </a:pPr>
            <a:r>
              <a:rPr lang="es-ES" sz="1800">
                <a:solidFill>
                  <a:schemeClr val="dk1"/>
                </a:solidFill>
                <a:latin typeface="Calibri"/>
                <a:ea typeface="Calibri"/>
                <a:cs typeface="Calibri"/>
                <a:sym typeface="Calibri"/>
              </a:rPr>
              <a:t>Es el interés que cobra el Banco cuando aplaza un pago a lo largo del tiempo. Es un porcentaje fijo que se pacta como </a:t>
            </a:r>
            <a:r>
              <a:rPr b="1" lang="es-ES" sz="1800">
                <a:solidFill>
                  <a:srgbClr val="F12DD5"/>
                </a:solidFill>
                <a:latin typeface="Calibri"/>
                <a:ea typeface="Calibri"/>
                <a:cs typeface="Calibri"/>
                <a:sym typeface="Calibri"/>
              </a:rPr>
              <a:t>concepto de pago por el dinero prestado</a:t>
            </a:r>
            <a:r>
              <a:rPr lang="es-ES" sz="1800">
                <a:solidFill>
                  <a:srgbClr val="F06700"/>
                </a:solidFill>
                <a:latin typeface="Calibri"/>
                <a:ea typeface="Calibri"/>
                <a:cs typeface="Calibri"/>
                <a:sym typeface="Calibri"/>
              </a:rPr>
              <a:t>.</a:t>
            </a:r>
            <a:endParaRPr sz="1800">
              <a:solidFill>
                <a:srgbClr val="F06700"/>
              </a:solidFill>
              <a:latin typeface="Calibri"/>
              <a:ea typeface="Calibri"/>
              <a:cs typeface="Calibri"/>
              <a:sym typeface="Calibri"/>
            </a:endParaRPr>
          </a:p>
          <a:p>
            <a:pPr indent="0" lvl="0" marL="0" marR="0" rtl="0" algn="l">
              <a:lnSpc>
                <a:spcPct val="120000"/>
              </a:lnSpc>
              <a:spcBef>
                <a:spcPts val="0"/>
              </a:spcBef>
              <a:spcAft>
                <a:spcPts val="0"/>
              </a:spcAft>
              <a:buNone/>
            </a:pPr>
            <a:r>
              <a:rPr lang="es-ES" sz="1800">
                <a:solidFill>
                  <a:schemeClr val="dk1"/>
                </a:solidFill>
                <a:latin typeface="Calibri"/>
                <a:ea typeface="Calibri"/>
                <a:cs typeface="Calibri"/>
                <a:sym typeface="Calibri"/>
              </a:rPr>
              <a:t>El TIN </a:t>
            </a:r>
            <a:r>
              <a:rPr b="1" lang="es-ES" sz="1800">
                <a:solidFill>
                  <a:srgbClr val="F12DD5"/>
                </a:solidFill>
                <a:latin typeface="Calibri"/>
                <a:ea typeface="Calibri"/>
                <a:cs typeface="Calibri"/>
                <a:sym typeface="Calibri"/>
              </a:rPr>
              <a:t>no tiene en cuenta ningún tipo de gasto asociado a la operación</a:t>
            </a:r>
            <a:r>
              <a:rPr lang="es-ES" sz="1800">
                <a:solidFill>
                  <a:schemeClr val="dk1"/>
                </a:solidFill>
                <a:latin typeface="Calibri"/>
                <a:ea typeface="Calibri"/>
                <a:cs typeface="Calibri"/>
                <a:sym typeface="Calibri"/>
              </a:rPr>
              <a:t>, únicamente es el interés que se ha acordado con la entidad financiera para la operación.</a:t>
            </a:r>
            <a:endParaRPr/>
          </a:p>
        </p:txBody>
      </p:sp>
      <p:sp>
        <p:nvSpPr>
          <p:cNvPr id="123" name="Google Shape;123;p75"/>
          <p:cNvSpPr txBox="1"/>
          <p:nvPr/>
        </p:nvSpPr>
        <p:spPr>
          <a:xfrm>
            <a:off x="3962399" y="197750"/>
            <a:ext cx="426720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dk1"/>
                </a:solidFill>
                <a:latin typeface="Calibri"/>
                <a:ea typeface="Calibri"/>
                <a:cs typeface="Calibri"/>
                <a:sym typeface="Calibri"/>
              </a:rPr>
              <a:t>CONCEPTOS FINANCIEROS</a:t>
            </a:r>
            <a:endParaRPr/>
          </a:p>
        </p:txBody>
      </p:sp>
      <p:pic>
        <p:nvPicPr>
          <p:cNvPr id="124" name="Google Shape;124;p75"/>
          <p:cNvPicPr preferRelativeResize="0"/>
          <p:nvPr/>
        </p:nvPicPr>
        <p:blipFill rotWithShape="1">
          <a:blip r:embed="rId3">
            <a:alphaModFix/>
          </a:blip>
          <a:srcRect b="0" l="0" r="0" t="0"/>
          <a:stretch/>
        </p:blipFill>
        <p:spPr>
          <a:xfrm rot="10800000">
            <a:off x="0" y="627066"/>
            <a:ext cx="12192000" cy="8604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76"/>
          <p:cNvSpPr txBox="1"/>
          <p:nvPr/>
        </p:nvSpPr>
        <p:spPr>
          <a:xfrm>
            <a:off x="119064" y="1063842"/>
            <a:ext cx="11953873" cy="1636154"/>
          </a:xfrm>
          <a:prstGeom prst="rect">
            <a:avLst/>
          </a:prstGeom>
          <a:solidFill>
            <a:schemeClr val="lt1"/>
          </a:solidFill>
          <a:ln cap="flat" cmpd="sng" w="9525">
            <a:solidFill>
              <a:srgbClr val="F12DD5"/>
            </a:solidFill>
            <a:prstDash val="dot"/>
            <a:round/>
            <a:headEnd len="sm" w="sm" type="none"/>
            <a:tailEnd len="sm" w="sm" type="none"/>
          </a:ln>
          <a:effectLst>
            <a:outerShdw blurRad="63500" sx="102000" rotWithShape="0" algn="ctr" sy="102000">
              <a:srgbClr val="000000">
                <a:alpha val="40000"/>
              </a:srgbClr>
            </a:outerShdw>
          </a:effectLst>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t/>
            </a:r>
            <a:endParaRPr b="1" sz="600">
              <a:solidFill>
                <a:schemeClr val="dk1"/>
              </a:solidFill>
              <a:latin typeface="Calibri"/>
              <a:ea typeface="Calibri"/>
              <a:cs typeface="Calibri"/>
              <a:sym typeface="Calibri"/>
            </a:endParaRPr>
          </a:p>
          <a:p>
            <a:pPr indent="0" lvl="0" marL="0" marR="0" rtl="0" algn="l">
              <a:lnSpc>
                <a:spcPct val="120000"/>
              </a:lnSpc>
              <a:spcBef>
                <a:spcPts val="0"/>
              </a:spcBef>
              <a:spcAft>
                <a:spcPts val="0"/>
              </a:spcAft>
              <a:buNone/>
            </a:pPr>
            <a:r>
              <a:rPr b="1" lang="es-ES" sz="1800">
                <a:solidFill>
                  <a:srgbClr val="F12DD5"/>
                </a:solidFill>
                <a:latin typeface="Calibri"/>
                <a:ea typeface="Calibri"/>
                <a:cs typeface="Calibri"/>
                <a:sym typeface="Calibri"/>
              </a:rPr>
              <a:t>COMISIÓN DE TRASPASO </a:t>
            </a:r>
            <a:endParaRPr/>
          </a:p>
          <a:p>
            <a:pPr indent="0" lvl="0" marL="0" marR="0" rtl="0" algn="l">
              <a:lnSpc>
                <a:spcPct val="120000"/>
              </a:lnSpc>
              <a:spcBef>
                <a:spcPts val="0"/>
              </a:spcBef>
              <a:spcAft>
                <a:spcPts val="0"/>
              </a:spcAft>
              <a:buNone/>
            </a:pPr>
            <a:r>
              <a:rPr lang="es-ES" sz="1800">
                <a:solidFill>
                  <a:schemeClr val="dk1"/>
                </a:solidFill>
                <a:latin typeface="Calibri"/>
                <a:ea typeface="Calibri"/>
                <a:cs typeface="Calibri"/>
                <a:sym typeface="Calibri"/>
              </a:rPr>
              <a:t>Es la cuota o cantidad de dinero que cobra una institución financiera por </a:t>
            </a:r>
            <a:r>
              <a:rPr b="1" lang="es-ES" sz="1800">
                <a:solidFill>
                  <a:srgbClr val="F12DD5"/>
                </a:solidFill>
                <a:latin typeface="Calibri"/>
                <a:ea typeface="Calibri"/>
                <a:cs typeface="Calibri"/>
                <a:sym typeface="Calibri"/>
              </a:rPr>
              <a:t>traspasar dinero de la tarjeta a la cuenta</a:t>
            </a:r>
            <a:r>
              <a:rPr lang="es-ES" sz="1800">
                <a:solidFill>
                  <a:srgbClr val="F12DD5"/>
                </a:solidFill>
                <a:latin typeface="Calibri"/>
                <a:ea typeface="Calibri"/>
                <a:cs typeface="Calibri"/>
                <a:sym typeface="Calibri"/>
              </a:rPr>
              <a:t>. </a:t>
            </a:r>
            <a:r>
              <a:rPr lang="es-ES" sz="1800">
                <a:solidFill>
                  <a:schemeClr val="dk1"/>
                </a:solidFill>
                <a:latin typeface="Calibri"/>
                <a:ea typeface="Calibri"/>
                <a:cs typeface="Calibri"/>
                <a:sym typeface="Calibri"/>
              </a:rPr>
              <a:t>Se abona en el momento de la formalización de la gestión. Es decir, se ingresa el total y luego se resta el % que corresponde a la comisión, generalmente está en torno a un 3% o 4% del importe traspasado.</a:t>
            </a:r>
            <a:endParaRPr/>
          </a:p>
          <a:p>
            <a:pPr indent="0" lvl="0" marL="0" marR="0" rtl="0" algn="l">
              <a:lnSpc>
                <a:spcPct val="120000"/>
              </a:lnSpc>
              <a:spcBef>
                <a:spcPts val="0"/>
              </a:spcBef>
              <a:spcAft>
                <a:spcPts val="0"/>
              </a:spcAft>
              <a:buNone/>
            </a:pPr>
            <a:r>
              <a:t/>
            </a:r>
            <a:endParaRPr sz="600">
              <a:solidFill>
                <a:schemeClr val="dk1"/>
              </a:solidFill>
              <a:latin typeface="Calibri"/>
              <a:ea typeface="Calibri"/>
              <a:cs typeface="Calibri"/>
              <a:sym typeface="Calibri"/>
            </a:endParaRPr>
          </a:p>
        </p:txBody>
      </p:sp>
      <p:sp>
        <p:nvSpPr>
          <p:cNvPr id="130" name="Google Shape;130;p76"/>
          <p:cNvSpPr txBox="1"/>
          <p:nvPr/>
        </p:nvSpPr>
        <p:spPr>
          <a:xfrm>
            <a:off x="119063" y="2852824"/>
            <a:ext cx="11953873" cy="1636154"/>
          </a:xfrm>
          <a:prstGeom prst="rect">
            <a:avLst/>
          </a:prstGeom>
          <a:solidFill>
            <a:schemeClr val="lt1"/>
          </a:solidFill>
          <a:ln cap="flat" cmpd="sng" w="9525">
            <a:solidFill>
              <a:srgbClr val="F12DD5"/>
            </a:solidFill>
            <a:prstDash val="dot"/>
            <a:round/>
            <a:headEnd len="sm" w="sm" type="none"/>
            <a:tailEnd len="sm" w="sm" type="none"/>
          </a:ln>
          <a:effectLst>
            <a:outerShdw blurRad="63500" sx="102000" rotWithShape="0" algn="ctr" sy="102000">
              <a:srgbClr val="000000">
                <a:alpha val="40000"/>
              </a:srgbClr>
            </a:outerShdw>
          </a:effectLst>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t/>
            </a:r>
            <a:endParaRPr b="1" sz="600">
              <a:solidFill>
                <a:schemeClr val="dk1"/>
              </a:solidFill>
              <a:latin typeface="Calibri"/>
              <a:ea typeface="Calibri"/>
              <a:cs typeface="Calibri"/>
              <a:sym typeface="Calibri"/>
            </a:endParaRPr>
          </a:p>
          <a:p>
            <a:pPr indent="0" lvl="0" marL="0" marR="0" rtl="0" algn="l">
              <a:lnSpc>
                <a:spcPct val="120000"/>
              </a:lnSpc>
              <a:spcBef>
                <a:spcPts val="0"/>
              </a:spcBef>
              <a:spcAft>
                <a:spcPts val="0"/>
              </a:spcAft>
              <a:buNone/>
            </a:pPr>
            <a:r>
              <a:rPr b="1" lang="es-ES" sz="1800">
                <a:solidFill>
                  <a:srgbClr val="F12DD5"/>
                </a:solidFill>
                <a:latin typeface="Calibri"/>
                <a:ea typeface="Calibri"/>
                <a:cs typeface="Calibri"/>
                <a:sym typeface="Calibri"/>
              </a:rPr>
              <a:t>COMISIÓN DE MANTENIMIENTO</a:t>
            </a:r>
            <a:endParaRPr/>
          </a:p>
          <a:p>
            <a:pPr indent="0" lvl="0" marL="0" marR="0" rtl="0" algn="l">
              <a:lnSpc>
                <a:spcPct val="120000"/>
              </a:lnSpc>
              <a:spcBef>
                <a:spcPts val="0"/>
              </a:spcBef>
              <a:spcAft>
                <a:spcPts val="0"/>
              </a:spcAft>
              <a:buNone/>
            </a:pPr>
            <a:r>
              <a:rPr lang="es-ES" sz="1800">
                <a:solidFill>
                  <a:schemeClr val="dk1"/>
                </a:solidFill>
                <a:latin typeface="Calibri"/>
                <a:ea typeface="Calibri"/>
                <a:cs typeface="Calibri"/>
                <a:sym typeface="Calibri"/>
              </a:rPr>
              <a:t>La comisión de mantenimiento es una comisión bancaria que consiste en el cargo que la entidad aplica fundamentalmente por el </a:t>
            </a:r>
            <a:r>
              <a:rPr b="1" lang="es-ES" sz="1800">
                <a:solidFill>
                  <a:srgbClr val="F12DD5"/>
                </a:solidFill>
                <a:latin typeface="Calibri"/>
                <a:ea typeface="Calibri"/>
                <a:cs typeface="Calibri"/>
                <a:sym typeface="Calibri"/>
              </a:rPr>
              <a:t>mantenimiento y la gestión</a:t>
            </a:r>
            <a:r>
              <a:rPr lang="es-ES" sz="1800">
                <a:solidFill>
                  <a:schemeClr val="dk1"/>
                </a:solidFill>
                <a:latin typeface="Calibri"/>
                <a:ea typeface="Calibri"/>
                <a:cs typeface="Calibri"/>
                <a:sym typeface="Calibri"/>
              </a:rPr>
              <a:t>. Pueden ser mensuales, trimestrales, anuales… Generalmente los bancos ofrecen la posibilidad de evitar esta comisión a cambio de: domiciliar nómina o recibos, determinados ingresos, negociando con la entidad, etc.</a:t>
            </a:r>
            <a:endParaRPr/>
          </a:p>
          <a:p>
            <a:pPr indent="0" lvl="0" marL="0" marR="0" rtl="0" algn="l">
              <a:lnSpc>
                <a:spcPct val="120000"/>
              </a:lnSpc>
              <a:spcBef>
                <a:spcPts val="0"/>
              </a:spcBef>
              <a:spcAft>
                <a:spcPts val="0"/>
              </a:spcAft>
              <a:buNone/>
            </a:pPr>
            <a:r>
              <a:t/>
            </a:r>
            <a:endParaRPr sz="600">
              <a:solidFill>
                <a:schemeClr val="dk1"/>
              </a:solidFill>
              <a:latin typeface="Calibri"/>
              <a:ea typeface="Calibri"/>
              <a:cs typeface="Calibri"/>
              <a:sym typeface="Calibri"/>
            </a:endParaRPr>
          </a:p>
        </p:txBody>
      </p:sp>
      <p:sp>
        <p:nvSpPr>
          <p:cNvPr id="131" name="Google Shape;131;p76"/>
          <p:cNvSpPr txBox="1"/>
          <p:nvPr/>
        </p:nvSpPr>
        <p:spPr>
          <a:xfrm>
            <a:off x="3962399" y="197750"/>
            <a:ext cx="426720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dk1"/>
                </a:solidFill>
                <a:latin typeface="Calibri"/>
                <a:ea typeface="Calibri"/>
                <a:cs typeface="Calibri"/>
                <a:sym typeface="Calibri"/>
              </a:rPr>
              <a:t>CONCEPTOS FINANCIEROS</a:t>
            </a:r>
            <a:endParaRPr/>
          </a:p>
        </p:txBody>
      </p:sp>
      <p:pic>
        <p:nvPicPr>
          <p:cNvPr id="132" name="Google Shape;132;p76"/>
          <p:cNvPicPr preferRelativeResize="0"/>
          <p:nvPr/>
        </p:nvPicPr>
        <p:blipFill rotWithShape="1">
          <a:blip r:embed="rId3">
            <a:alphaModFix/>
          </a:blip>
          <a:srcRect b="0" l="0" r="0" t="0"/>
          <a:stretch/>
        </p:blipFill>
        <p:spPr>
          <a:xfrm rot="10800000">
            <a:off x="0" y="627066"/>
            <a:ext cx="12192000" cy="860425"/>
          </a:xfrm>
          <a:prstGeom prst="rect">
            <a:avLst/>
          </a:prstGeom>
          <a:noFill/>
          <a:ln>
            <a:noFill/>
          </a:ln>
        </p:spPr>
      </p:pic>
      <p:sp>
        <p:nvSpPr>
          <p:cNvPr id="133" name="Google Shape;133;p76"/>
          <p:cNvSpPr txBox="1"/>
          <p:nvPr/>
        </p:nvSpPr>
        <p:spPr>
          <a:xfrm>
            <a:off x="119062" y="4812253"/>
            <a:ext cx="11953873" cy="1303755"/>
          </a:xfrm>
          <a:prstGeom prst="rect">
            <a:avLst/>
          </a:prstGeom>
          <a:solidFill>
            <a:schemeClr val="lt1"/>
          </a:solidFill>
          <a:ln cap="flat" cmpd="sng" w="9525">
            <a:solidFill>
              <a:srgbClr val="F12DD5"/>
            </a:solidFill>
            <a:prstDash val="dot"/>
            <a:round/>
            <a:headEnd len="sm" w="sm" type="none"/>
            <a:tailEnd len="sm" w="sm" type="none"/>
          </a:ln>
          <a:effectLst>
            <a:outerShdw blurRad="63500" sx="102000" rotWithShape="0" algn="ctr" sy="102000">
              <a:srgbClr val="000000">
                <a:alpha val="40000"/>
              </a:srgbClr>
            </a:outerShdw>
          </a:effectLst>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t/>
            </a:r>
            <a:endParaRPr b="1" sz="600">
              <a:solidFill>
                <a:schemeClr val="dk1"/>
              </a:solidFill>
              <a:latin typeface="Calibri"/>
              <a:ea typeface="Calibri"/>
              <a:cs typeface="Calibri"/>
              <a:sym typeface="Calibri"/>
            </a:endParaRPr>
          </a:p>
          <a:p>
            <a:pPr indent="0" lvl="0" marL="0" marR="0" rtl="0" algn="l">
              <a:lnSpc>
                <a:spcPct val="120000"/>
              </a:lnSpc>
              <a:spcBef>
                <a:spcPts val="0"/>
              </a:spcBef>
              <a:spcAft>
                <a:spcPts val="0"/>
              </a:spcAft>
              <a:buNone/>
            </a:pPr>
            <a:r>
              <a:rPr b="1" lang="es-ES" sz="1800">
                <a:solidFill>
                  <a:srgbClr val="F12DD5"/>
                </a:solidFill>
                <a:latin typeface="Calibri"/>
                <a:ea typeface="Calibri"/>
                <a:cs typeface="Calibri"/>
                <a:sym typeface="Calibri"/>
              </a:rPr>
              <a:t>DIFERENCIA ENTRE COMISIÓN E INTERÉS</a:t>
            </a:r>
            <a:endParaRPr/>
          </a:p>
          <a:p>
            <a:pPr indent="0" lvl="0" marL="0" marR="0" rtl="0" algn="l">
              <a:lnSpc>
                <a:spcPct val="120000"/>
              </a:lnSpc>
              <a:spcBef>
                <a:spcPts val="0"/>
              </a:spcBef>
              <a:spcAft>
                <a:spcPts val="0"/>
              </a:spcAft>
              <a:buNone/>
            </a:pPr>
            <a:r>
              <a:rPr lang="es-ES" sz="1800">
                <a:solidFill>
                  <a:schemeClr val="dk1"/>
                </a:solidFill>
                <a:latin typeface="Calibri"/>
                <a:ea typeface="Calibri"/>
                <a:cs typeface="Calibri"/>
                <a:sym typeface="Calibri"/>
              </a:rPr>
              <a:t>La comisión es la cantidad que te cobra la entidad financiera por sus servicios 🡪 comisión por traspaso.</a:t>
            </a:r>
            <a:endParaRPr/>
          </a:p>
          <a:p>
            <a:pPr indent="0" lvl="0" marL="0" marR="0" rtl="0" algn="l">
              <a:lnSpc>
                <a:spcPct val="120000"/>
              </a:lnSpc>
              <a:spcBef>
                <a:spcPts val="0"/>
              </a:spcBef>
              <a:spcAft>
                <a:spcPts val="0"/>
              </a:spcAft>
              <a:buNone/>
            </a:pPr>
            <a:r>
              <a:rPr lang="es-ES" sz="1800">
                <a:solidFill>
                  <a:schemeClr val="dk1"/>
                </a:solidFill>
                <a:latin typeface="Calibri"/>
                <a:ea typeface="Calibri"/>
                <a:cs typeface="Calibri"/>
                <a:sym typeface="Calibri"/>
              </a:rPr>
              <a:t>El interés es el dinero que se paga por la cesión temporal de un capital 🡪 TIN y TAE de la operación.</a:t>
            </a:r>
            <a:endParaRPr sz="1800">
              <a:solidFill>
                <a:schemeClr val="dk1"/>
              </a:solidFill>
              <a:latin typeface="Calibri"/>
              <a:ea typeface="Calibri"/>
              <a:cs typeface="Calibri"/>
              <a:sym typeface="Calibri"/>
            </a:endParaRPr>
          </a:p>
          <a:p>
            <a:pPr indent="0" lvl="0" marL="0" marR="0" rtl="0" algn="l">
              <a:lnSpc>
                <a:spcPct val="120000"/>
              </a:lnSpc>
              <a:spcBef>
                <a:spcPts val="0"/>
              </a:spcBef>
              <a:spcAft>
                <a:spcPts val="0"/>
              </a:spcAft>
              <a:buNone/>
            </a:pPr>
            <a:r>
              <a:t/>
            </a:r>
            <a:endParaRPr sz="6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77"/>
          <p:cNvSpPr txBox="1"/>
          <p:nvPr/>
        </p:nvSpPr>
        <p:spPr>
          <a:xfrm>
            <a:off x="119063" y="4955196"/>
            <a:ext cx="11953875" cy="1640886"/>
          </a:xfrm>
          <a:prstGeom prst="rect">
            <a:avLst/>
          </a:prstGeom>
          <a:solidFill>
            <a:schemeClr val="lt1"/>
          </a:solidFill>
          <a:ln cap="flat" cmpd="sng" w="9525">
            <a:solidFill>
              <a:srgbClr val="F12DD5"/>
            </a:solidFill>
            <a:prstDash val="dot"/>
            <a:round/>
            <a:headEnd len="sm" w="sm" type="none"/>
            <a:tailEnd len="sm" w="sm" type="none"/>
          </a:ln>
          <a:effectLst>
            <a:outerShdw blurRad="635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l">
              <a:lnSpc>
                <a:spcPct val="120000"/>
              </a:lnSpc>
              <a:spcBef>
                <a:spcPts val="0"/>
              </a:spcBef>
              <a:spcAft>
                <a:spcPts val="0"/>
              </a:spcAft>
              <a:buNone/>
            </a:pPr>
            <a:r>
              <a:rPr b="1" lang="es-ES" sz="1800">
                <a:solidFill>
                  <a:srgbClr val="F12DD5"/>
                </a:solidFill>
                <a:latin typeface="Calibri"/>
                <a:ea typeface="Calibri"/>
                <a:cs typeface="Calibri"/>
                <a:sym typeface="Calibri"/>
              </a:rPr>
              <a:t>CÁLCULO DE SOLVENCIA</a:t>
            </a:r>
            <a:endParaRPr sz="1800">
              <a:solidFill>
                <a:srgbClr val="F12DD5"/>
              </a:solidFill>
              <a:latin typeface="Calibri"/>
              <a:ea typeface="Calibri"/>
              <a:cs typeface="Calibri"/>
              <a:sym typeface="Calibri"/>
            </a:endParaRPr>
          </a:p>
          <a:p>
            <a:pPr indent="0" lvl="0" marL="0" marR="0" rtl="0" algn="l">
              <a:lnSpc>
                <a:spcPct val="120000"/>
              </a:lnSpc>
              <a:spcBef>
                <a:spcPts val="0"/>
              </a:spcBef>
              <a:spcAft>
                <a:spcPts val="0"/>
              </a:spcAft>
              <a:buNone/>
            </a:pPr>
            <a:r>
              <a:rPr lang="es-ES" sz="1800">
                <a:solidFill>
                  <a:schemeClr val="dk1"/>
                </a:solidFill>
                <a:latin typeface="Calibri"/>
                <a:ea typeface="Calibri"/>
                <a:cs typeface="Calibri"/>
                <a:sym typeface="Calibri"/>
              </a:rPr>
              <a:t>Como la entidad financiera cuenta con los datos de ingresos y gastos recientes, realiza análisis con ellos, aplica un algoritmo que establece una puntuación denominada ‘</a:t>
            </a:r>
            <a:r>
              <a:rPr i="1" lang="es-ES" sz="1800">
                <a:solidFill>
                  <a:schemeClr val="dk1"/>
                </a:solidFill>
                <a:latin typeface="Calibri"/>
                <a:ea typeface="Calibri"/>
                <a:cs typeface="Calibri"/>
                <a:sym typeface="Calibri"/>
              </a:rPr>
              <a:t>scoring</a:t>
            </a:r>
            <a:r>
              <a:rPr lang="es-ES" sz="1800">
                <a:solidFill>
                  <a:schemeClr val="dk1"/>
                </a:solidFill>
                <a:latin typeface="Calibri"/>
                <a:ea typeface="Calibri"/>
                <a:cs typeface="Calibri"/>
                <a:sym typeface="Calibri"/>
              </a:rPr>
              <a:t>’. Este registro sirve para conocer </a:t>
            </a:r>
            <a:r>
              <a:rPr b="1" lang="es-ES" sz="1800">
                <a:solidFill>
                  <a:srgbClr val="F12DD5"/>
                </a:solidFill>
                <a:latin typeface="Calibri"/>
                <a:ea typeface="Calibri"/>
                <a:cs typeface="Calibri"/>
                <a:sym typeface="Calibri"/>
              </a:rPr>
              <a:t>cuál es la solvencia o el riesgo</a:t>
            </a:r>
            <a:r>
              <a:rPr lang="es-ES" sz="1800">
                <a:solidFill>
                  <a:srgbClr val="F12DD5"/>
                </a:solidFill>
                <a:latin typeface="Calibri"/>
                <a:ea typeface="Calibri"/>
                <a:cs typeface="Calibri"/>
                <a:sym typeface="Calibri"/>
              </a:rPr>
              <a:t> </a:t>
            </a:r>
            <a:r>
              <a:rPr lang="es-ES" sz="1800">
                <a:solidFill>
                  <a:schemeClr val="dk1"/>
                </a:solidFill>
                <a:latin typeface="Calibri"/>
                <a:ea typeface="Calibri"/>
                <a:cs typeface="Calibri"/>
                <a:sym typeface="Calibri"/>
              </a:rPr>
              <a:t>de la persona que solicita un crédito.</a:t>
            </a:r>
            <a:endParaRPr/>
          </a:p>
        </p:txBody>
      </p:sp>
      <p:sp>
        <p:nvSpPr>
          <p:cNvPr id="139" name="Google Shape;139;p77"/>
          <p:cNvSpPr txBox="1"/>
          <p:nvPr/>
        </p:nvSpPr>
        <p:spPr>
          <a:xfrm>
            <a:off x="119064" y="1310307"/>
            <a:ext cx="11953874" cy="1720744"/>
          </a:xfrm>
          <a:prstGeom prst="rect">
            <a:avLst/>
          </a:prstGeom>
          <a:solidFill>
            <a:schemeClr val="lt1"/>
          </a:solidFill>
          <a:ln cap="flat" cmpd="sng" w="9525">
            <a:solidFill>
              <a:srgbClr val="F12DD5"/>
            </a:solidFill>
            <a:prstDash val="dot"/>
            <a:round/>
            <a:headEnd len="sm" w="sm" type="none"/>
            <a:tailEnd len="sm" w="sm" type="none"/>
          </a:ln>
          <a:effectLst>
            <a:outerShdw blurRad="635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l">
              <a:lnSpc>
                <a:spcPct val="120000"/>
              </a:lnSpc>
              <a:spcBef>
                <a:spcPts val="0"/>
              </a:spcBef>
              <a:spcAft>
                <a:spcPts val="0"/>
              </a:spcAft>
              <a:buNone/>
            </a:pPr>
            <a:r>
              <a:rPr b="1" lang="es-ES" sz="1800">
                <a:solidFill>
                  <a:srgbClr val="F12DD5"/>
                </a:solidFill>
                <a:latin typeface="Calibri"/>
                <a:ea typeface="Calibri"/>
                <a:cs typeface="Calibri"/>
                <a:sym typeface="Calibri"/>
              </a:rPr>
              <a:t>CUOTA</a:t>
            </a:r>
            <a:endParaRPr/>
          </a:p>
          <a:p>
            <a:pPr indent="0" lvl="0" marL="0" marR="0" rtl="0" algn="l">
              <a:lnSpc>
                <a:spcPct val="120000"/>
              </a:lnSpc>
              <a:spcBef>
                <a:spcPts val="0"/>
              </a:spcBef>
              <a:spcAft>
                <a:spcPts val="0"/>
              </a:spcAft>
              <a:buNone/>
            </a:pPr>
            <a:r>
              <a:rPr b="0" lang="es-ES" sz="1800">
                <a:solidFill>
                  <a:schemeClr val="dk1"/>
                </a:solidFill>
                <a:latin typeface="Calibri"/>
                <a:ea typeface="Calibri"/>
                <a:cs typeface="Calibri"/>
                <a:sym typeface="Calibri"/>
              </a:rPr>
              <a:t>La cuota es </a:t>
            </a:r>
            <a:r>
              <a:rPr b="0" lang="es-ES" sz="1800">
                <a:solidFill>
                  <a:srgbClr val="F12DD5"/>
                </a:solidFill>
                <a:latin typeface="Calibri"/>
                <a:ea typeface="Calibri"/>
                <a:cs typeface="Calibri"/>
                <a:sym typeface="Calibri"/>
              </a:rPr>
              <a:t>el </a:t>
            </a:r>
            <a:r>
              <a:rPr b="1" lang="es-ES" sz="1800">
                <a:solidFill>
                  <a:srgbClr val="F12DD5"/>
                </a:solidFill>
                <a:latin typeface="Calibri"/>
                <a:ea typeface="Calibri"/>
                <a:cs typeface="Calibri"/>
                <a:sym typeface="Calibri"/>
              </a:rPr>
              <a:t>pago periódico </a:t>
            </a:r>
            <a:r>
              <a:rPr b="0" lang="es-ES" sz="1800">
                <a:solidFill>
                  <a:schemeClr val="dk1"/>
                </a:solidFill>
                <a:latin typeface="Calibri"/>
                <a:ea typeface="Calibri"/>
                <a:cs typeface="Calibri"/>
                <a:sym typeface="Calibri"/>
              </a:rPr>
              <a:t>que se compromete a realizar el cliente al banco, con el fin de devolver el financiamiento que éste le otorgó. En la cuota se pueden distinguir dos componentes. El primero corresponde al reintegro de parte del capital prestado (llamado </a:t>
            </a:r>
            <a:r>
              <a:rPr b="1" lang="es-ES" sz="1800">
                <a:solidFill>
                  <a:srgbClr val="F12DD5"/>
                </a:solidFill>
                <a:latin typeface="Calibri"/>
                <a:ea typeface="Calibri"/>
                <a:cs typeface="Calibri"/>
                <a:sym typeface="Calibri"/>
              </a:rPr>
              <a:t>principal</a:t>
            </a:r>
            <a:r>
              <a:rPr b="0" lang="es-ES" sz="1800">
                <a:solidFill>
                  <a:schemeClr val="dk1"/>
                </a:solidFill>
                <a:latin typeface="Calibri"/>
                <a:ea typeface="Calibri"/>
                <a:cs typeface="Calibri"/>
                <a:sym typeface="Calibri"/>
              </a:rPr>
              <a:t>) mientras que el otro concierne a los </a:t>
            </a:r>
            <a:r>
              <a:rPr b="1" lang="es-ES" sz="1800">
                <a:solidFill>
                  <a:srgbClr val="F12DD5"/>
                </a:solidFill>
                <a:latin typeface="Calibri"/>
                <a:ea typeface="Calibri"/>
                <a:cs typeface="Calibri"/>
                <a:sym typeface="Calibri"/>
              </a:rPr>
              <a:t>intereses</a:t>
            </a:r>
            <a:r>
              <a:rPr b="0" lang="es-ES" sz="1800">
                <a:solidFill>
                  <a:srgbClr val="F12DD5"/>
                </a:solidFill>
                <a:latin typeface="Calibri"/>
                <a:ea typeface="Calibri"/>
                <a:cs typeface="Calibri"/>
                <a:sym typeface="Calibri"/>
              </a:rPr>
              <a:t>.</a:t>
            </a:r>
            <a:endParaRPr b="0" sz="1800">
              <a:solidFill>
                <a:srgbClr val="F12DD5"/>
              </a:solidFill>
              <a:latin typeface="Calibri"/>
              <a:ea typeface="Calibri"/>
              <a:cs typeface="Calibri"/>
              <a:sym typeface="Calibri"/>
            </a:endParaRPr>
          </a:p>
        </p:txBody>
      </p:sp>
      <p:sp>
        <p:nvSpPr>
          <p:cNvPr id="140" name="Google Shape;140;p77"/>
          <p:cNvSpPr txBox="1"/>
          <p:nvPr/>
        </p:nvSpPr>
        <p:spPr>
          <a:xfrm>
            <a:off x="119062" y="3111110"/>
            <a:ext cx="11953875" cy="1640886"/>
          </a:xfrm>
          <a:prstGeom prst="rect">
            <a:avLst/>
          </a:prstGeom>
          <a:solidFill>
            <a:schemeClr val="lt1"/>
          </a:solidFill>
          <a:ln cap="flat" cmpd="sng" w="9525">
            <a:solidFill>
              <a:srgbClr val="F12DD5"/>
            </a:solidFill>
            <a:prstDash val="dot"/>
            <a:round/>
            <a:headEnd len="sm" w="sm" type="none"/>
            <a:tailEnd len="sm" w="sm" type="none"/>
          </a:ln>
          <a:effectLst>
            <a:outerShdw blurRad="635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l">
              <a:lnSpc>
                <a:spcPct val="120000"/>
              </a:lnSpc>
              <a:spcBef>
                <a:spcPts val="0"/>
              </a:spcBef>
              <a:spcAft>
                <a:spcPts val="0"/>
              </a:spcAft>
              <a:buNone/>
            </a:pPr>
            <a:r>
              <a:rPr b="1" lang="es-ES" sz="1800">
                <a:solidFill>
                  <a:srgbClr val="F12DD5"/>
                </a:solidFill>
                <a:latin typeface="Calibri"/>
                <a:ea typeface="Calibri"/>
                <a:cs typeface="Calibri"/>
                <a:sym typeface="Calibri"/>
              </a:rPr>
              <a:t>SISTEMA DE AMORTIZACIÓN FRANCÉS</a:t>
            </a:r>
            <a:endParaRPr sz="1800">
              <a:solidFill>
                <a:srgbClr val="F12DD5"/>
              </a:solidFill>
              <a:latin typeface="Calibri"/>
              <a:ea typeface="Calibri"/>
              <a:cs typeface="Calibri"/>
              <a:sym typeface="Calibri"/>
            </a:endParaRPr>
          </a:p>
          <a:p>
            <a:pPr indent="0" lvl="0" marL="0" marR="0" rtl="0" algn="l">
              <a:lnSpc>
                <a:spcPct val="120000"/>
              </a:lnSpc>
              <a:spcBef>
                <a:spcPts val="0"/>
              </a:spcBef>
              <a:spcAft>
                <a:spcPts val="0"/>
              </a:spcAft>
              <a:buNone/>
            </a:pPr>
            <a:r>
              <a:rPr lang="es-ES" sz="1800">
                <a:solidFill>
                  <a:schemeClr val="dk1"/>
                </a:solidFill>
                <a:latin typeface="Calibri"/>
                <a:ea typeface="Calibri"/>
                <a:cs typeface="Calibri"/>
                <a:sym typeface="Calibri"/>
              </a:rPr>
              <a:t>El cliente se compromete a pagar una cuota periódica constante, compuestas de capital e intereses, de forma que durante toda la vida del servicio financiero se pagará la misma cuota. Una vez se ha calculado la cuota a pagar, se puede obtener el </a:t>
            </a:r>
            <a:r>
              <a:rPr b="1" lang="es-ES" sz="1800">
                <a:solidFill>
                  <a:srgbClr val="F12DD5"/>
                </a:solidFill>
                <a:latin typeface="Calibri"/>
                <a:ea typeface="Calibri"/>
                <a:cs typeface="Calibri"/>
                <a:sym typeface="Calibri"/>
              </a:rPr>
              <a:t>cuadro de amortización</a:t>
            </a:r>
            <a:r>
              <a:rPr lang="es-ES" sz="1800">
                <a:solidFill>
                  <a:srgbClr val="F12DD5"/>
                </a:solidFill>
                <a:latin typeface="Calibri"/>
                <a:ea typeface="Calibri"/>
                <a:cs typeface="Calibri"/>
                <a:sym typeface="Calibri"/>
              </a:rPr>
              <a:t>. </a:t>
            </a:r>
            <a:endParaRPr/>
          </a:p>
        </p:txBody>
      </p:sp>
      <p:sp>
        <p:nvSpPr>
          <p:cNvPr id="141" name="Google Shape;141;p77"/>
          <p:cNvSpPr txBox="1"/>
          <p:nvPr/>
        </p:nvSpPr>
        <p:spPr>
          <a:xfrm>
            <a:off x="3962399" y="197750"/>
            <a:ext cx="426720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dk1"/>
                </a:solidFill>
                <a:latin typeface="Calibri"/>
                <a:ea typeface="Calibri"/>
                <a:cs typeface="Calibri"/>
                <a:sym typeface="Calibri"/>
              </a:rPr>
              <a:t>CONCEPTOS FINANCIEROS</a:t>
            </a:r>
            <a:endParaRPr/>
          </a:p>
        </p:txBody>
      </p:sp>
      <p:pic>
        <p:nvPicPr>
          <p:cNvPr id="142" name="Google Shape;142;p77"/>
          <p:cNvPicPr preferRelativeResize="0"/>
          <p:nvPr/>
        </p:nvPicPr>
        <p:blipFill rotWithShape="1">
          <a:blip r:embed="rId3">
            <a:alphaModFix/>
          </a:blip>
          <a:srcRect b="0" l="0" r="0" t="0"/>
          <a:stretch/>
        </p:blipFill>
        <p:spPr>
          <a:xfrm rot="10800000">
            <a:off x="0" y="627066"/>
            <a:ext cx="12192000" cy="8604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78"/>
          <p:cNvSpPr/>
          <p:nvPr/>
        </p:nvSpPr>
        <p:spPr>
          <a:xfrm>
            <a:off x="0" y="0"/>
            <a:ext cx="12192000" cy="6858000"/>
          </a:xfrm>
          <a:prstGeom prst="rect">
            <a:avLst/>
          </a:prstGeom>
          <a:solidFill>
            <a:srgbClr val="F12DD5">
              <a:alpha val="4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Jaeggers FREE Regular" id="148" name="Google Shape;148;p78"/>
          <p:cNvPicPr preferRelativeResize="0"/>
          <p:nvPr/>
        </p:nvPicPr>
        <p:blipFill rotWithShape="1">
          <a:blip r:embed="rId3">
            <a:alphaModFix/>
          </a:blip>
          <a:srcRect b="0" l="0" r="0" t="0"/>
          <a:stretch/>
        </p:blipFill>
        <p:spPr>
          <a:xfrm>
            <a:off x="5677982" y="3678164"/>
            <a:ext cx="4998100" cy="1656347"/>
          </a:xfrm>
          <a:prstGeom prst="rect">
            <a:avLst/>
          </a:prstGeom>
          <a:noFill/>
          <a:ln>
            <a:noFill/>
          </a:ln>
        </p:spPr>
      </p:pic>
      <p:pic>
        <p:nvPicPr>
          <p:cNvPr descr="Ok-Esport Bold" id="149" name="Google Shape;149;p78"/>
          <p:cNvPicPr preferRelativeResize="0"/>
          <p:nvPr/>
        </p:nvPicPr>
        <p:blipFill rotWithShape="1">
          <a:blip r:embed="rId4">
            <a:alphaModFix/>
          </a:blip>
          <a:srcRect b="0" l="0" r="0" t="0"/>
          <a:stretch/>
        </p:blipFill>
        <p:spPr>
          <a:xfrm>
            <a:off x="1762960" y="1905511"/>
            <a:ext cx="4333040" cy="152348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id="154" name="Google Shape;154;p79"/>
          <p:cNvPicPr preferRelativeResize="0"/>
          <p:nvPr/>
        </p:nvPicPr>
        <p:blipFill rotWithShape="1">
          <a:blip r:embed="rId3">
            <a:alphaModFix/>
          </a:blip>
          <a:srcRect b="0" l="0" r="0" t="0"/>
          <a:stretch/>
        </p:blipFill>
        <p:spPr>
          <a:xfrm>
            <a:off x="9568312" y="1831446"/>
            <a:ext cx="2318888" cy="829448"/>
          </a:xfrm>
          <a:prstGeom prst="rect">
            <a:avLst/>
          </a:prstGeom>
          <a:noFill/>
          <a:ln>
            <a:noFill/>
          </a:ln>
        </p:spPr>
      </p:pic>
      <p:pic>
        <p:nvPicPr>
          <p:cNvPr id="155" name="Google Shape;155;p79"/>
          <p:cNvPicPr preferRelativeResize="0"/>
          <p:nvPr/>
        </p:nvPicPr>
        <p:blipFill rotWithShape="1">
          <a:blip r:embed="rId4">
            <a:alphaModFix/>
          </a:blip>
          <a:srcRect b="0" l="0" r="0" t="0"/>
          <a:stretch/>
        </p:blipFill>
        <p:spPr>
          <a:xfrm rot="10800000">
            <a:off x="0" y="627066"/>
            <a:ext cx="12192000" cy="860425"/>
          </a:xfrm>
          <a:prstGeom prst="rect">
            <a:avLst/>
          </a:prstGeom>
          <a:noFill/>
          <a:ln>
            <a:noFill/>
          </a:ln>
        </p:spPr>
      </p:pic>
      <p:sp>
        <p:nvSpPr>
          <p:cNvPr id="156" name="Google Shape;156;p79"/>
          <p:cNvSpPr txBox="1"/>
          <p:nvPr/>
        </p:nvSpPr>
        <p:spPr>
          <a:xfrm>
            <a:off x="816632" y="1284663"/>
            <a:ext cx="11070568" cy="502016"/>
          </a:xfrm>
          <a:prstGeom prst="rect">
            <a:avLst/>
          </a:prstGeom>
          <a:noFill/>
          <a:ln>
            <a:noFill/>
          </a:ln>
        </p:spPr>
        <p:txBody>
          <a:bodyPr anchorCtr="0" anchor="ctr" bIns="60950" lIns="60950" spcFirstLastPara="1" rIns="60950" wrap="square" tIns="60950">
            <a:noAutofit/>
          </a:bodyPr>
          <a:lstStyle/>
          <a:p>
            <a:pPr indent="0" lvl="0" marL="0" marR="0" rtl="0" algn="l">
              <a:lnSpc>
                <a:spcPct val="150000"/>
              </a:lnSpc>
              <a:spcBef>
                <a:spcPts val="0"/>
              </a:spcBef>
              <a:spcAft>
                <a:spcPts val="0"/>
              </a:spcAft>
              <a:buNone/>
            </a:pPr>
            <a:r>
              <a:rPr lang="es-ES" sz="1600">
                <a:solidFill>
                  <a:schemeClr val="dk1"/>
                </a:solidFill>
                <a:latin typeface="Calibri"/>
                <a:ea typeface="Calibri"/>
                <a:cs typeface="Calibri"/>
                <a:sym typeface="Calibri"/>
              </a:rPr>
              <a:t>Dirigido a clientes que </a:t>
            </a:r>
            <a:r>
              <a:rPr b="1" lang="es-ES" sz="1600">
                <a:solidFill>
                  <a:schemeClr val="dk1"/>
                </a:solidFill>
                <a:latin typeface="Calibri"/>
                <a:ea typeface="Calibri"/>
                <a:cs typeface="Calibri"/>
                <a:sym typeface="Calibri"/>
              </a:rPr>
              <a:t>ya disponen de tarjeta de crédito Bankintercard, </a:t>
            </a:r>
            <a:r>
              <a:rPr lang="es-ES" sz="1600">
                <a:solidFill>
                  <a:schemeClr val="dk1"/>
                </a:solidFill>
                <a:latin typeface="Calibri"/>
                <a:ea typeface="Calibri"/>
                <a:cs typeface="Calibri"/>
                <a:sym typeface="Calibri"/>
              </a:rPr>
              <a:t>y les ofrecemos </a:t>
            </a:r>
            <a:r>
              <a:rPr b="1" lang="es-ES" sz="1600">
                <a:solidFill>
                  <a:srgbClr val="F12DD5"/>
                </a:solidFill>
                <a:latin typeface="Calibri"/>
                <a:ea typeface="Calibri"/>
                <a:cs typeface="Calibri"/>
                <a:sym typeface="Calibri"/>
              </a:rPr>
              <a:t>el servicio Credimax </a:t>
            </a:r>
            <a:r>
              <a:rPr lang="es-ES" sz="1600">
                <a:solidFill>
                  <a:schemeClr val="dk1"/>
                </a:solidFill>
                <a:latin typeface="Calibri"/>
                <a:ea typeface="Calibri"/>
                <a:cs typeface="Calibri"/>
                <a:sym typeface="Calibri"/>
              </a:rPr>
              <a:t>(un traspaso de dicha tarjeta a su cuenta corriente).</a:t>
            </a:r>
            <a:endParaRPr/>
          </a:p>
          <a:p>
            <a:pPr indent="0" lvl="0" marL="0" marR="0" rtl="0" algn="l">
              <a:spcBef>
                <a:spcPts val="0"/>
              </a:spcBef>
              <a:spcAft>
                <a:spcPts val="0"/>
              </a:spcAft>
              <a:buNone/>
            </a:pPr>
            <a:r>
              <a:t/>
            </a:r>
            <a:endParaRPr b="1" sz="1200">
              <a:solidFill>
                <a:schemeClr val="dk1"/>
              </a:solidFill>
              <a:latin typeface="Calibri"/>
              <a:ea typeface="Calibri"/>
              <a:cs typeface="Calibri"/>
              <a:sym typeface="Calibri"/>
            </a:endParaRPr>
          </a:p>
        </p:txBody>
      </p:sp>
      <p:pic>
        <p:nvPicPr>
          <p:cNvPr descr="Flecha Naranja Pegatina PNG transparente - StickPNG" id="157" name="Google Shape;157;p79"/>
          <p:cNvPicPr preferRelativeResize="0"/>
          <p:nvPr/>
        </p:nvPicPr>
        <p:blipFill rotWithShape="1">
          <a:blip r:embed="rId5">
            <a:alphaModFix/>
          </a:blip>
          <a:srcRect b="0" l="0" r="0" t="0"/>
          <a:stretch/>
        </p:blipFill>
        <p:spPr>
          <a:xfrm>
            <a:off x="71206" y="940708"/>
            <a:ext cx="754251" cy="754251"/>
          </a:xfrm>
          <a:prstGeom prst="rect">
            <a:avLst/>
          </a:prstGeom>
          <a:noFill/>
          <a:ln>
            <a:noFill/>
          </a:ln>
        </p:spPr>
      </p:pic>
      <p:pic>
        <p:nvPicPr>
          <p:cNvPr descr="Flecha Naranja Pegatina PNG transparente - StickPNG" id="158" name="Google Shape;158;p79"/>
          <p:cNvPicPr preferRelativeResize="0"/>
          <p:nvPr/>
        </p:nvPicPr>
        <p:blipFill rotWithShape="1">
          <a:blip r:embed="rId5">
            <a:alphaModFix/>
          </a:blip>
          <a:srcRect b="0" l="0" r="0" t="0"/>
          <a:stretch/>
        </p:blipFill>
        <p:spPr>
          <a:xfrm>
            <a:off x="71206" y="5380109"/>
            <a:ext cx="754251" cy="754251"/>
          </a:xfrm>
          <a:prstGeom prst="rect">
            <a:avLst/>
          </a:prstGeom>
          <a:noFill/>
          <a:ln>
            <a:noFill/>
          </a:ln>
        </p:spPr>
      </p:pic>
      <p:sp>
        <p:nvSpPr>
          <p:cNvPr id="159" name="Google Shape;159;p79"/>
          <p:cNvSpPr txBox="1"/>
          <p:nvPr/>
        </p:nvSpPr>
        <p:spPr>
          <a:xfrm>
            <a:off x="3031958" y="197750"/>
            <a:ext cx="5662864"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dk1"/>
                </a:solidFill>
                <a:latin typeface="Calibri"/>
                <a:ea typeface="Calibri"/>
                <a:cs typeface="Calibri"/>
                <a:sym typeface="Calibri"/>
              </a:rPr>
              <a:t>NUESTRO PRODUCTO</a:t>
            </a:r>
            <a:endParaRPr b="1" sz="2400">
              <a:solidFill>
                <a:srgbClr val="F12DD5"/>
              </a:solidFill>
              <a:latin typeface="Calibri"/>
              <a:ea typeface="Calibri"/>
              <a:cs typeface="Calibri"/>
              <a:sym typeface="Calibri"/>
            </a:endParaRPr>
          </a:p>
        </p:txBody>
      </p:sp>
      <p:sp>
        <p:nvSpPr>
          <p:cNvPr id="160" name="Google Shape;160;p79"/>
          <p:cNvSpPr txBox="1"/>
          <p:nvPr/>
        </p:nvSpPr>
        <p:spPr>
          <a:xfrm>
            <a:off x="816632" y="1730657"/>
            <a:ext cx="11070568" cy="1576423"/>
          </a:xfrm>
          <a:prstGeom prst="rect">
            <a:avLst/>
          </a:prstGeom>
          <a:noFill/>
          <a:ln>
            <a:noFill/>
          </a:ln>
        </p:spPr>
        <p:txBody>
          <a:bodyPr anchorCtr="0" anchor="ctr" bIns="60950" lIns="60950" spcFirstLastPara="1" rIns="60950" wrap="square" tIns="60950">
            <a:noAutofit/>
          </a:bodyPr>
          <a:lstStyle/>
          <a:p>
            <a:pPr indent="0" lvl="0" marL="0" marR="0" rtl="0" algn="l">
              <a:lnSpc>
                <a:spcPct val="150000"/>
              </a:lnSpc>
              <a:spcBef>
                <a:spcPts val="0"/>
              </a:spcBef>
              <a:spcAft>
                <a:spcPts val="0"/>
              </a:spcAft>
              <a:buNone/>
            </a:pPr>
            <a:r>
              <a:rPr lang="es-ES" sz="1600">
                <a:solidFill>
                  <a:schemeClr val="dk1"/>
                </a:solidFill>
                <a:latin typeface="Calibri"/>
                <a:ea typeface="Calibri"/>
                <a:cs typeface="Calibri"/>
                <a:sym typeface="Calibri"/>
              </a:rPr>
              <a:t>Las tarjetas Bankintercar pueden ser: BINTER, BP, BANKINTERCARD, AIR EUROPA, ECUADOR, HALCON, </a:t>
            </a:r>
            <a:br>
              <a:rPr lang="es-ES" sz="1600">
                <a:solidFill>
                  <a:schemeClr val="dk1"/>
                </a:solidFill>
                <a:latin typeface="Calibri"/>
                <a:ea typeface="Calibri"/>
                <a:cs typeface="Calibri"/>
                <a:sym typeface="Calibri"/>
              </a:rPr>
            </a:br>
            <a:r>
              <a:rPr lang="es-ES" sz="1600">
                <a:solidFill>
                  <a:schemeClr val="dk1"/>
                </a:solidFill>
                <a:latin typeface="Calibri"/>
                <a:ea typeface="Calibri"/>
                <a:cs typeface="Calibri"/>
                <a:sym typeface="Calibri"/>
              </a:rPr>
              <a:t>SANTALUCIA, LDA, PULLMANTUR, GROUPON, VODAFONE, RCI, MAPFRE, etc. Siempre se indica en Evolution.</a:t>
            </a:r>
            <a:endParaRPr/>
          </a:p>
        </p:txBody>
      </p:sp>
      <p:pic>
        <p:nvPicPr>
          <p:cNvPr descr="Flecha Naranja Pegatina PNG transparente - StickPNG" id="161" name="Google Shape;161;p79"/>
          <p:cNvPicPr preferRelativeResize="0"/>
          <p:nvPr/>
        </p:nvPicPr>
        <p:blipFill rotWithShape="1">
          <a:blip r:embed="rId5">
            <a:alphaModFix/>
          </a:blip>
          <a:srcRect b="0" l="0" r="0" t="0"/>
          <a:stretch/>
        </p:blipFill>
        <p:spPr>
          <a:xfrm>
            <a:off x="62381" y="2000924"/>
            <a:ext cx="754251" cy="754251"/>
          </a:xfrm>
          <a:prstGeom prst="rect">
            <a:avLst/>
          </a:prstGeom>
          <a:noFill/>
          <a:ln>
            <a:noFill/>
          </a:ln>
        </p:spPr>
      </p:pic>
      <p:sp>
        <p:nvSpPr>
          <p:cNvPr id="162" name="Google Shape;162;p79"/>
          <p:cNvSpPr txBox="1"/>
          <p:nvPr/>
        </p:nvSpPr>
        <p:spPr>
          <a:xfrm>
            <a:off x="825457" y="5580351"/>
            <a:ext cx="11070568" cy="860425"/>
          </a:xfrm>
          <a:prstGeom prst="rect">
            <a:avLst/>
          </a:prstGeom>
          <a:noFill/>
          <a:ln>
            <a:noFill/>
          </a:ln>
        </p:spPr>
        <p:txBody>
          <a:bodyPr anchorCtr="0" anchor="ctr" bIns="60950" lIns="60950" spcFirstLastPara="1" rIns="60950" wrap="square" tIns="60950">
            <a:noAutofit/>
          </a:bodyPr>
          <a:lstStyle/>
          <a:p>
            <a:pPr indent="0" lvl="0" marL="0" marR="0" rtl="0" algn="l">
              <a:lnSpc>
                <a:spcPct val="150000"/>
              </a:lnSpc>
              <a:spcBef>
                <a:spcPts val="0"/>
              </a:spcBef>
              <a:spcAft>
                <a:spcPts val="0"/>
              </a:spcAft>
              <a:buNone/>
            </a:pPr>
            <a:r>
              <a:rPr lang="es-ES" sz="1600">
                <a:solidFill>
                  <a:schemeClr val="dk1"/>
                </a:solidFill>
                <a:latin typeface="Calibri"/>
                <a:ea typeface="Calibri"/>
                <a:cs typeface="Calibri"/>
                <a:sym typeface="Calibri"/>
              </a:rPr>
              <a:t>La tarjeta </a:t>
            </a:r>
            <a:r>
              <a:rPr b="1" lang="es-ES" sz="1600">
                <a:solidFill>
                  <a:srgbClr val="F12DD5"/>
                </a:solidFill>
                <a:latin typeface="Calibri"/>
                <a:ea typeface="Calibri"/>
                <a:cs typeface="Calibri"/>
                <a:sym typeface="Calibri"/>
              </a:rPr>
              <a:t>no tiene coste de emisión o mantenimiento</a:t>
            </a:r>
            <a:r>
              <a:rPr lang="es-ES" sz="1600">
                <a:solidFill>
                  <a:schemeClr val="dk1"/>
                </a:solidFill>
                <a:latin typeface="Calibri"/>
                <a:ea typeface="Calibri"/>
                <a:cs typeface="Calibri"/>
                <a:sym typeface="Calibri"/>
              </a:rPr>
              <a:t>. Para realizar el traspaso, no es necesario que el cliente use la tarjeta o la tengo a mano, ya que es un servicio que está integrado dentro de su tarjeta.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t/>
            </a:r>
            <a:endParaRPr b="1" sz="1200">
              <a:solidFill>
                <a:schemeClr val="dk1"/>
              </a:solidFill>
              <a:latin typeface="Calibri"/>
              <a:ea typeface="Calibri"/>
              <a:cs typeface="Calibri"/>
              <a:sym typeface="Calibri"/>
            </a:endParaRPr>
          </a:p>
        </p:txBody>
      </p:sp>
      <p:pic>
        <p:nvPicPr>
          <p:cNvPr descr="Flecha Naranja Pegatina PNG transparente - StickPNG" id="163" name="Google Shape;163;p79"/>
          <p:cNvPicPr preferRelativeResize="0"/>
          <p:nvPr/>
        </p:nvPicPr>
        <p:blipFill rotWithShape="1">
          <a:blip r:embed="rId5">
            <a:alphaModFix/>
          </a:blip>
          <a:srcRect b="0" l="0" r="0" t="0"/>
          <a:stretch/>
        </p:blipFill>
        <p:spPr>
          <a:xfrm>
            <a:off x="119063" y="4333322"/>
            <a:ext cx="754251" cy="754251"/>
          </a:xfrm>
          <a:prstGeom prst="rect">
            <a:avLst/>
          </a:prstGeom>
          <a:noFill/>
          <a:ln>
            <a:noFill/>
          </a:ln>
        </p:spPr>
      </p:pic>
      <p:sp>
        <p:nvSpPr>
          <p:cNvPr id="164" name="Google Shape;164;p79"/>
          <p:cNvSpPr txBox="1"/>
          <p:nvPr/>
        </p:nvSpPr>
        <p:spPr>
          <a:xfrm>
            <a:off x="873314" y="4516136"/>
            <a:ext cx="10874186" cy="695479"/>
          </a:xfrm>
          <a:prstGeom prst="rect">
            <a:avLst/>
          </a:prstGeom>
          <a:noFill/>
          <a:ln>
            <a:noFill/>
          </a:ln>
        </p:spPr>
        <p:txBody>
          <a:bodyPr anchorCtr="0" anchor="ctr" bIns="60950" lIns="60950" spcFirstLastPara="1" rIns="60950" wrap="square" tIns="60950">
            <a:noAutofit/>
          </a:bodyPr>
          <a:lstStyle/>
          <a:p>
            <a:pPr indent="0" lvl="0" marL="0" marR="0" rtl="0" algn="l">
              <a:lnSpc>
                <a:spcPct val="150000"/>
              </a:lnSpc>
              <a:spcBef>
                <a:spcPts val="0"/>
              </a:spcBef>
              <a:spcAft>
                <a:spcPts val="0"/>
              </a:spcAft>
              <a:buNone/>
            </a:pPr>
            <a:r>
              <a:rPr lang="es-ES" sz="1600">
                <a:solidFill>
                  <a:schemeClr val="dk1"/>
                </a:solidFill>
                <a:latin typeface="Calibri"/>
                <a:ea typeface="Calibri"/>
                <a:cs typeface="Calibri"/>
                <a:sym typeface="Calibri"/>
              </a:rPr>
              <a:t>Cada tarjeta ofrece descuentos según su marca. Por ejemplo, la MAPFRE da tréboles en las compras y aplica descuentos a las pólizas, AIR EUROPA acumula millas que se pueden canjear por vuelos, la BP devuelve en base a el carburante repostado, etc.</a:t>
            </a:r>
            <a:endParaRPr/>
          </a:p>
        </p:txBody>
      </p:sp>
      <p:pic>
        <p:nvPicPr>
          <p:cNvPr descr="Tarjetas de Crédito Sin Cuota y Con Descuentos | Bankintercard" id="165" name="Google Shape;165;p79"/>
          <p:cNvPicPr preferRelativeResize="0"/>
          <p:nvPr/>
        </p:nvPicPr>
        <p:blipFill rotWithShape="1">
          <a:blip r:embed="rId6">
            <a:alphaModFix/>
          </a:blip>
          <a:srcRect b="0" l="0" r="0" t="0"/>
          <a:stretch/>
        </p:blipFill>
        <p:spPr>
          <a:xfrm>
            <a:off x="75801" y="3018024"/>
            <a:ext cx="1562499" cy="995328"/>
          </a:xfrm>
          <a:prstGeom prst="rect">
            <a:avLst/>
          </a:prstGeom>
          <a:noFill/>
          <a:ln>
            <a:noFill/>
          </a:ln>
        </p:spPr>
      </p:pic>
      <p:pic>
        <p:nvPicPr>
          <p:cNvPr descr="Tarjetas de Crédito Sin Cuota y Con Descuentos | Bankintercard" id="166" name="Google Shape;166;p79"/>
          <p:cNvPicPr preferRelativeResize="0"/>
          <p:nvPr/>
        </p:nvPicPr>
        <p:blipFill rotWithShape="1">
          <a:blip r:embed="rId7">
            <a:alphaModFix/>
          </a:blip>
          <a:srcRect b="0" l="0" r="0" t="0"/>
          <a:stretch/>
        </p:blipFill>
        <p:spPr>
          <a:xfrm>
            <a:off x="1771036" y="3012353"/>
            <a:ext cx="1580304" cy="1006670"/>
          </a:xfrm>
          <a:prstGeom prst="rect">
            <a:avLst/>
          </a:prstGeom>
          <a:noFill/>
          <a:ln>
            <a:noFill/>
          </a:ln>
        </p:spPr>
      </p:pic>
      <p:pic>
        <p:nvPicPr>
          <p:cNvPr descr="Tarjetas de Crédito Sin Cuota y Con Descuentos | Bankintercard" id="167" name="Google Shape;167;p79"/>
          <p:cNvPicPr preferRelativeResize="0"/>
          <p:nvPr/>
        </p:nvPicPr>
        <p:blipFill rotWithShape="1">
          <a:blip r:embed="rId8">
            <a:alphaModFix/>
          </a:blip>
          <a:srcRect b="0" l="0" r="0" t="0"/>
          <a:stretch/>
        </p:blipFill>
        <p:spPr>
          <a:xfrm>
            <a:off x="3484076" y="2988231"/>
            <a:ext cx="1656038" cy="1054914"/>
          </a:xfrm>
          <a:prstGeom prst="rect">
            <a:avLst/>
          </a:prstGeom>
          <a:noFill/>
          <a:ln>
            <a:noFill/>
          </a:ln>
        </p:spPr>
      </p:pic>
      <p:pic>
        <p:nvPicPr>
          <p:cNvPr descr="Tarjetas de Crédito Sin Cuota y Con Descuentos | Bankintercard" id="168" name="Google Shape;168;p79"/>
          <p:cNvPicPr preferRelativeResize="0"/>
          <p:nvPr/>
        </p:nvPicPr>
        <p:blipFill rotWithShape="1">
          <a:blip r:embed="rId9">
            <a:alphaModFix/>
          </a:blip>
          <a:srcRect b="0" l="0" r="0" t="0"/>
          <a:stretch/>
        </p:blipFill>
        <p:spPr>
          <a:xfrm>
            <a:off x="5272850" y="2999652"/>
            <a:ext cx="1620181" cy="1032073"/>
          </a:xfrm>
          <a:prstGeom prst="rect">
            <a:avLst/>
          </a:prstGeom>
          <a:noFill/>
          <a:ln>
            <a:noFill/>
          </a:ln>
        </p:spPr>
      </p:pic>
      <p:pic>
        <p:nvPicPr>
          <p:cNvPr descr="Bankintercard | Especialistas en Financiación al Consumo" id="169" name="Google Shape;169;p79"/>
          <p:cNvPicPr preferRelativeResize="0"/>
          <p:nvPr/>
        </p:nvPicPr>
        <p:blipFill rotWithShape="1">
          <a:blip r:embed="rId10">
            <a:alphaModFix/>
          </a:blip>
          <a:srcRect b="0" l="0" r="0" t="0"/>
          <a:stretch/>
        </p:blipFill>
        <p:spPr>
          <a:xfrm>
            <a:off x="7025767" y="2995926"/>
            <a:ext cx="1631879" cy="1039524"/>
          </a:xfrm>
          <a:prstGeom prst="rect">
            <a:avLst/>
          </a:prstGeom>
          <a:noFill/>
          <a:ln>
            <a:noFill/>
          </a:ln>
        </p:spPr>
      </p:pic>
      <p:pic>
        <p:nvPicPr>
          <p:cNvPr descr="Bankintercard | Especialistas en Financiación al Consumo" id="170" name="Google Shape;170;p79"/>
          <p:cNvPicPr preferRelativeResize="0"/>
          <p:nvPr/>
        </p:nvPicPr>
        <p:blipFill rotWithShape="1">
          <a:blip r:embed="rId11">
            <a:alphaModFix/>
          </a:blip>
          <a:srcRect b="0" l="0" r="0" t="0"/>
          <a:stretch/>
        </p:blipFill>
        <p:spPr>
          <a:xfrm>
            <a:off x="8790382" y="3012891"/>
            <a:ext cx="1578616" cy="1005595"/>
          </a:xfrm>
          <a:prstGeom prst="rect">
            <a:avLst/>
          </a:prstGeom>
          <a:noFill/>
          <a:ln>
            <a:noFill/>
          </a:ln>
        </p:spPr>
      </p:pic>
      <p:pic>
        <p:nvPicPr>
          <p:cNvPr descr="Tarjetas de Crédito Sin Cuota y Con Descuentos | Bankintercard" id="171" name="Google Shape;171;p79"/>
          <p:cNvPicPr preferRelativeResize="0"/>
          <p:nvPr/>
        </p:nvPicPr>
        <p:blipFill rotWithShape="1">
          <a:blip r:embed="rId12">
            <a:alphaModFix/>
          </a:blip>
          <a:srcRect b="0" l="0" r="0" t="0"/>
          <a:stretch/>
        </p:blipFill>
        <p:spPr>
          <a:xfrm>
            <a:off x="10501734" y="2999652"/>
            <a:ext cx="1620181" cy="103207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pic>
        <p:nvPicPr>
          <p:cNvPr id="176" name="Google Shape;176;p80"/>
          <p:cNvPicPr preferRelativeResize="0"/>
          <p:nvPr/>
        </p:nvPicPr>
        <p:blipFill rotWithShape="1">
          <a:blip r:embed="rId3">
            <a:alphaModFix/>
          </a:blip>
          <a:srcRect b="0" l="0" r="0" t="0"/>
          <a:stretch/>
        </p:blipFill>
        <p:spPr>
          <a:xfrm rot="10800000">
            <a:off x="0" y="627066"/>
            <a:ext cx="12192000" cy="860425"/>
          </a:xfrm>
          <a:prstGeom prst="rect">
            <a:avLst/>
          </a:prstGeom>
          <a:noFill/>
          <a:ln>
            <a:noFill/>
          </a:ln>
        </p:spPr>
      </p:pic>
      <p:sp>
        <p:nvSpPr>
          <p:cNvPr id="177" name="Google Shape;177;p80"/>
          <p:cNvSpPr txBox="1"/>
          <p:nvPr/>
        </p:nvSpPr>
        <p:spPr>
          <a:xfrm>
            <a:off x="816632" y="1020512"/>
            <a:ext cx="10889593" cy="1278186"/>
          </a:xfrm>
          <a:prstGeom prst="rect">
            <a:avLst/>
          </a:prstGeom>
          <a:noFill/>
          <a:ln>
            <a:noFill/>
          </a:ln>
        </p:spPr>
        <p:txBody>
          <a:bodyPr anchorCtr="0" anchor="ctr" bIns="60950" lIns="60950" spcFirstLastPara="1" rIns="60950" wrap="square" tIns="60950">
            <a:noAutofit/>
          </a:bodyPr>
          <a:lstStyle/>
          <a:p>
            <a:pPr indent="0" lvl="0" marL="0" marR="0" rtl="0" algn="l">
              <a:lnSpc>
                <a:spcPct val="150000"/>
              </a:lnSpc>
              <a:spcBef>
                <a:spcPts val="0"/>
              </a:spcBef>
              <a:spcAft>
                <a:spcPts val="0"/>
              </a:spcAft>
              <a:buNone/>
            </a:pPr>
            <a:r>
              <a:rPr lang="es-ES" sz="1600">
                <a:solidFill>
                  <a:schemeClr val="dk1"/>
                </a:solidFill>
                <a:latin typeface="Calibri"/>
                <a:ea typeface="Calibri"/>
                <a:cs typeface="Calibri"/>
                <a:sym typeface="Calibri"/>
              </a:rPr>
              <a:t>En </a:t>
            </a:r>
            <a:r>
              <a:rPr b="1" lang="es-ES" sz="1600">
                <a:solidFill>
                  <a:schemeClr val="dk1"/>
                </a:solidFill>
                <a:latin typeface="Calibri"/>
                <a:ea typeface="Calibri"/>
                <a:cs typeface="Calibri"/>
                <a:sym typeface="Calibri"/>
              </a:rPr>
              <a:t>48h</a:t>
            </a:r>
            <a:r>
              <a:rPr lang="es-ES" sz="1600">
                <a:solidFill>
                  <a:schemeClr val="dk1"/>
                </a:solidFill>
                <a:latin typeface="Calibri"/>
                <a:ea typeface="Calibri"/>
                <a:cs typeface="Calibri"/>
                <a:sym typeface="Calibri"/>
              </a:rPr>
              <a:t>, disponen de los </a:t>
            </a:r>
            <a:r>
              <a:rPr b="1" lang="es-ES" sz="1600">
                <a:solidFill>
                  <a:schemeClr val="dk1"/>
                </a:solidFill>
                <a:latin typeface="Calibri"/>
                <a:ea typeface="Calibri"/>
                <a:cs typeface="Calibri"/>
                <a:sym typeface="Calibri"/>
              </a:rPr>
              <a:t>traspasos realizados </a:t>
            </a:r>
            <a:r>
              <a:rPr lang="es-ES" sz="1600">
                <a:solidFill>
                  <a:schemeClr val="dk1"/>
                </a:solidFill>
                <a:latin typeface="Calibri"/>
                <a:ea typeface="Calibri"/>
                <a:cs typeface="Calibri"/>
                <a:sym typeface="Calibri"/>
              </a:rPr>
              <a:t>y se devuelven igual que como lo tengan establecido en su tarjeta: </a:t>
            </a:r>
            <a:r>
              <a:rPr b="1" lang="es-ES" sz="1600">
                <a:solidFill>
                  <a:srgbClr val="F12DD5"/>
                </a:solidFill>
                <a:latin typeface="Calibri"/>
                <a:ea typeface="Calibri"/>
                <a:cs typeface="Calibri"/>
                <a:sym typeface="Calibri"/>
              </a:rPr>
              <a:t>pago aplazado </a:t>
            </a:r>
            <a:r>
              <a:rPr lang="es-ES" sz="1600">
                <a:solidFill>
                  <a:schemeClr val="dk1"/>
                </a:solidFill>
                <a:latin typeface="Calibri"/>
                <a:ea typeface="Calibri"/>
                <a:cs typeface="Calibri"/>
                <a:sym typeface="Calibri"/>
              </a:rPr>
              <a:t>(revolver) </a:t>
            </a:r>
            <a:r>
              <a:rPr b="1" lang="es-ES" sz="1600">
                <a:solidFill>
                  <a:srgbClr val="F12DD5"/>
                </a:solidFill>
                <a:latin typeface="Calibri"/>
                <a:ea typeface="Calibri"/>
                <a:cs typeface="Calibri"/>
                <a:sym typeface="Calibri"/>
              </a:rPr>
              <a:t>o fin de mes</a:t>
            </a:r>
            <a:r>
              <a:rPr b="1" lang="es-ES" sz="1600">
                <a:solidFill>
                  <a:srgbClr val="F06700"/>
                </a:solidFill>
                <a:latin typeface="Calibri"/>
                <a:ea typeface="Calibri"/>
                <a:cs typeface="Calibri"/>
                <a:sym typeface="Calibri"/>
              </a:rPr>
              <a:t> </a:t>
            </a:r>
            <a:r>
              <a:rPr lang="es-ES" sz="1600">
                <a:solidFill>
                  <a:schemeClr val="dk1"/>
                </a:solidFill>
                <a:latin typeface="Calibri"/>
                <a:ea typeface="Calibri"/>
                <a:cs typeface="Calibri"/>
                <a:sym typeface="Calibri"/>
              </a:rPr>
              <a:t>(transactor).</a:t>
            </a:r>
            <a:endParaRPr sz="1200">
              <a:solidFill>
                <a:schemeClr val="dk1"/>
              </a:solidFill>
              <a:latin typeface="Calibri"/>
              <a:ea typeface="Calibri"/>
              <a:cs typeface="Calibri"/>
              <a:sym typeface="Calibri"/>
            </a:endParaRPr>
          </a:p>
        </p:txBody>
      </p:sp>
      <p:pic>
        <p:nvPicPr>
          <p:cNvPr descr="Flecha Naranja Pegatina PNG transparente - StickPNG" id="178" name="Google Shape;178;p80"/>
          <p:cNvPicPr preferRelativeResize="0"/>
          <p:nvPr/>
        </p:nvPicPr>
        <p:blipFill rotWithShape="1">
          <a:blip r:embed="rId4">
            <a:alphaModFix/>
          </a:blip>
          <a:srcRect b="0" l="0" r="0" t="0"/>
          <a:stretch/>
        </p:blipFill>
        <p:spPr>
          <a:xfrm>
            <a:off x="71206" y="1153549"/>
            <a:ext cx="754251" cy="754251"/>
          </a:xfrm>
          <a:prstGeom prst="rect">
            <a:avLst/>
          </a:prstGeom>
          <a:noFill/>
          <a:ln>
            <a:noFill/>
          </a:ln>
        </p:spPr>
      </p:pic>
      <p:sp>
        <p:nvSpPr>
          <p:cNvPr id="179" name="Google Shape;179;p80"/>
          <p:cNvSpPr txBox="1"/>
          <p:nvPr/>
        </p:nvSpPr>
        <p:spPr>
          <a:xfrm>
            <a:off x="3031958" y="197750"/>
            <a:ext cx="5662864"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dk1"/>
                </a:solidFill>
                <a:latin typeface="Calibri"/>
                <a:ea typeface="Calibri"/>
                <a:cs typeface="Calibri"/>
                <a:sym typeface="Calibri"/>
              </a:rPr>
              <a:t>NUESTRO PRODUCTO</a:t>
            </a:r>
            <a:endParaRPr b="1" sz="2400">
              <a:solidFill>
                <a:srgbClr val="F12DD5"/>
              </a:solidFill>
              <a:latin typeface="Calibri"/>
              <a:ea typeface="Calibri"/>
              <a:cs typeface="Calibri"/>
              <a:sym typeface="Calibri"/>
            </a:endParaRPr>
          </a:p>
        </p:txBody>
      </p:sp>
      <p:sp>
        <p:nvSpPr>
          <p:cNvPr id="180" name="Google Shape;180;p80"/>
          <p:cNvSpPr txBox="1"/>
          <p:nvPr/>
        </p:nvSpPr>
        <p:spPr>
          <a:xfrm>
            <a:off x="873314" y="3736396"/>
            <a:ext cx="10832911" cy="754252"/>
          </a:xfrm>
          <a:prstGeom prst="rect">
            <a:avLst/>
          </a:prstGeom>
          <a:noFill/>
          <a:ln>
            <a:noFill/>
          </a:ln>
        </p:spPr>
        <p:txBody>
          <a:bodyPr anchorCtr="0" anchor="ctr" bIns="60950" lIns="60950" spcFirstLastPara="1" rIns="60950" wrap="square" tIns="60950">
            <a:noAutofit/>
          </a:bodyPr>
          <a:lstStyle/>
          <a:p>
            <a:pPr indent="0" lvl="0" marL="0" marR="0" rtl="0" algn="l">
              <a:lnSpc>
                <a:spcPct val="150000"/>
              </a:lnSpc>
              <a:spcBef>
                <a:spcPts val="0"/>
              </a:spcBef>
              <a:spcAft>
                <a:spcPts val="0"/>
              </a:spcAft>
              <a:buNone/>
            </a:pPr>
            <a:r>
              <a:rPr b="1" lang="es-ES" sz="1600">
                <a:solidFill>
                  <a:srgbClr val="F12DD5"/>
                </a:solidFill>
                <a:latin typeface="Calibri"/>
                <a:ea typeface="Calibri"/>
                <a:cs typeface="Calibri"/>
                <a:sym typeface="Calibri"/>
              </a:rPr>
              <a:t>El cliente dispone de 14 días naturales </a:t>
            </a:r>
            <a:r>
              <a:rPr lang="es-ES" sz="1600">
                <a:solidFill>
                  <a:schemeClr val="dk1"/>
                </a:solidFill>
                <a:latin typeface="Calibri"/>
                <a:ea typeface="Calibri"/>
                <a:cs typeface="Calibri"/>
                <a:sym typeface="Calibri"/>
              </a:rPr>
              <a:t>desde la fecha de la contratación, </a:t>
            </a:r>
            <a:r>
              <a:rPr b="1" lang="es-ES" sz="1600">
                <a:solidFill>
                  <a:schemeClr val="dk1"/>
                </a:solidFill>
                <a:latin typeface="Calibri"/>
                <a:ea typeface="Calibri"/>
                <a:cs typeface="Calibri"/>
                <a:sym typeface="Calibri"/>
              </a:rPr>
              <a:t>para desistir de la operación </a:t>
            </a:r>
            <a:r>
              <a:rPr lang="es-ES" sz="1600">
                <a:solidFill>
                  <a:schemeClr val="dk1"/>
                </a:solidFill>
                <a:latin typeface="Calibri"/>
                <a:ea typeface="Calibri"/>
                <a:cs typeface="Calibri"/>
                <a:sym typeface="Calibri"/>
              </a:rPr>
              <a:t>si</a:t>
            </a:r>
            <a:r>
              <a:rPr b="1" lang="es-ES" sz="1600">
                <a:solidFill>
                  <a:schemeClr val="dk1"/>
                </a:solidFill>
                <a:latin typeface="Calibri"/>
                <a:ea typeface="Calibri"/>
                <a:cs typeface="Calibri"/>
                <a:sym typeface="Calibri"/>
              </a:rPr>
              <a:t> </a:t>
            </a:r>
            <a:r>
              <a:rPr lang="es-ES" sz="1600">
                <a:solidFill>
                  <a:schemeClr val="dk1"/>
                </a:solidFill>
                <a:latin typeface="Calibri"/>
                <a:ea typeface="Calibri"/>
                <a:cs typeface="Calibri"/>
                <a:sym typeface="Calibri"/>
              </a:rPr>
              <a:t>lo desea 🡪 Atención al cliente. </a:t>
            </a:r>
            <a:r>
              <a:rPr b="1" lang="es-ES" sz="1600">
                <a:solidFill>
                  <a:schemeClr val="dk1"/>
                </a:solidFill>
                <a:latin typeface="Calibri"/>
                <a:ea typeface="Calibri"/>
                <a:cs typeface="Calibri"/>
                <a:sym typeface="Calibri"/>
              </a:rPr>
              <a:t>NO ES PALANCA DE VENTA</a:t>
            </a:r>
            <a:endParaRPr b="1" sz="1600">
              <a:solidFill>
                <a:schemeClr val="dk1"/>
              </a:solidFill>
              <a:latin typeface="Calibri"/>
              <a:ea typeface="Calibri"/>
              <a:cs typeface="Calibri"/>
              <a:sym typeface="Calibri"/>
            </a:endParaRPr>
          </a:p>
        </p:txBody>
      </p:sp>
      <p:pic>
        <p:nvPicPr>
          <p:cNvPr descr="Flecha Naranja Pegatina PNG transparente - StickPNG" id="181" name="Google Shape;181;p80"/>
          <p:cNvPicPr preferRelativeResize="0"/>
          <p:nvPr/>
        </p:nvPicPr>
        <p:blipFill rotWithShape="1">
          <a:blip r:embed="rId4">
            <a:alphaModFix/>
          </a:blip>
          <a:srcRect b="0" l="0" r="0" t="0"/>
          <a:stretch/>
        </p:blipFill>
        <p:spPr>
          <a:xfrm>
            <a:off x="119063" y="3577680"/>
            <a:ext cx="754251" cy="754251"/>
          </a:xfrm>
          <a:prstGeom prst="rect">
            <a:avLst/>
          </a:prstGeom>
          <a:noFill/>
          <a:ln>
            <a:noFill/>
          </a:ln>
        </p:spPr>
      </p:pic>
      <p:sp>
        <p:nvSpPr>
          <p:cNvPr id="182" name="Google Shape;182;p80"/>
          <p:cNvSpPr txBox="1"/>
          <p:nvPr/>
        </p:nvSpPr>
        <p:spPr>
          <a:xfrm>
            <a:off x="825457" y="2442254"/>
            <a:ext cx="10832911" cy="754252"/>
          </a:xfrm>
          <a:prstGeom prst="rect">
            <a:avLst/>
          </a:prstGeom>
          <a:noFill/>
          <a:ln>
            <a:noFill/>
          </a:ln>
        </p:spPr>
        <p:txBody>
          <a:bodyPr anchorCtr="0" anchor="ctr" bIns="60950" lIns="60950" spcFirstLastPara="1" rIns="60950" wrap="square" tIns="60950">
            <a:noAutofit/>
          </a:bodyPr>
          <a:lstStyle/>
          <a:p>
            <a:pPr indent="0" lvl="0" marL="0" marR="0" rtl="0" algn="l">
              <a:lnSpc>
                <a:spcPct val="150000"/>
              </a:lnSpc>
              <a:spcBef>
                <a:spcPts val="0"/>
              </a:spcBef>
              <a:spcAft>
                <a:spcPts val="0"/>
              </a:spcAft>
              <a:buNone/>
            </a:pPr>
            <a:r>
              <a:rPr b="1" lang="es-ES" sz="1600">
                <a:solidFill>
                  <a:schemeClr val="dk1"/>
                </a:solidFill>
                <a:latin typeface="Calibri"/>
                <a:ea typeface="Calibri"/>
                <a:cs typeface="Calibri"/>
                <a:sym typeface="Calibri"/>
              </a:rPr>
              <a:t>Según la forma de pago </a:t>
            </a:r>
            <a:r>
              <a:rPr lang="es-ES" sz="1600">
                <a:solidFill>
                  <a:schemeClr val="dk1"/>
                </a:solidFill>
                <a:latin typeface="Calibri"/>
                <a:ea typeface="Calibri"/>
                <a:cs typeface="Calibri"/>
                <a:sym typeface="Calibri"/>
              </a:rPr>
              <a:t>que tenga establecida el cliente en su tarjeta</a:t>
            </a:r>
            <a:r>
              <a:rPr b="1" lang="es-ES" sz="1600">
                <a:solidFill>
                  <a:schemeClr val="dk1"/>
                </a:solidFill>
                <a:latin typeface="Calibri"/>
                <a:ea typeface="Calibri"/>
                <a:cs typeface="Calibri"/>
                <a:sym typeface="Calibri"/>
              </a:rPr>
              <a:t>, ofreceremos un servicio u otro</a:t>
            </a:r>
            <a:r>
              <a:rPr lang="es-ES" sz="1600">
                <a:solidFill>
                  <a:schemeClr val="dk1"/>
                </a:solidFill>
                <a:latin typeface="Calibri"/>
                <a:ea typeface="Calibri"/>
                <a:cs typeface="Calibri"/>
                <a:sym typeface="Calibri"/>
              </a:rPr>
              <a:t>: </a:t>
            </a:r>
            <a:r>
              <a:rPr b="1" lang="es-ES" sz="1600">
                <a:solidFill>
                  <a:srgbClr val="F12DD5"/>
                </a:solidFill>
                <a:latin typeface="Calibri"/>
                <a:ea typeface="Calibri"/>
                <a:cs typeface="Calibri"/>
                <a:sym typeface="Calibri"/>
              </a:rPr>
              <a:t>pago aplazado </a:t>
            </a:r>
            <a:r>
              <a:rPr lang="es-ES" sz="1600">
                <a:solidFill>
                  <a:schemeClr val="dk1"/>
                </a:solidFill>
                <a:latin typeface="Calibri"/>
                <a:ea typeface="Calibri"/>
                <a:cs typeface="Calibri"/>
                <a:sym typeface="Calibri"/>
              </a:rPr>
              <a:t>(revolver) </a:t>
            </a:r>
            <a:r>
              <a:rPr b="1" lang="es-ES" sz="1600">
                <a:solidFill>
                  <a:srgbClr val="F12DD5"/>
                </a:solidFill>
                <a:latin typeface="Calibri"/>
                <a:ea typeface="Calibri"/>
                <a:cs typeface="Calibri"/>
                <a:sym typeface="Calibri"/>
              </a:rPr>
              <a:t>o fin de mes</a:t>
            </a:r>
            <a:r>
              <a:rPr b="1" lang="es-ES" sz="1600">
                <a:solidFill>
                  <a:srgbClr val="F06700"/>
                </a:solidFill>
                <a:latin typeface="Calibri"/>
                <a:ea typeface="Calibri"/>
                <a:cs typeface="Calibri"/>
                <a:sym typeface="Calibri"/>
              </a:rPr>
              <a:t> </a:t>
            </a:r>
            <a:r>
              <a:rPr lang="es-ES" sz="1600">
                <a:solidFill>
                  <a:schemeClr val="dk1"/>
                </a:solidFill>
                <a:latin typeface="Calibri"/>
                <a:ea typeface="Calibri"/>
                <a:cs typeface="Calibri"/>
                <a:sym typeface="Calibri"/>
              </a:rPr>
              <a:t>(transactor).</a:t>
            </a:r>
            <a:endParaRPr/>
          </a:p>
        </p:txBody>
      </p:sp>
      <p:pic>
        <p:nvPicPr>
          <p:cNvPr descr="Flecha Naranja Pegatina PNG transparente - StickPNG" id="183" name="Google Shape;183;p80"/>
          <p:cNvPicPr preferRelativeResize="0"/>
          <p:nvPr/>
        </p:nvPicPr>
        <p:blipFill rotWithShape="1">
          <a:blip r:embed="rId4">
            <a:alphaModFix/>
          </a:blip>
          <a:srcRect b="0" l="0" r="0" t="0"/>
          <a:stretch/>
        </p:blipFill>
        <p:spPr>
          <a:xfrm>
            <a:off x="71206" y="2283538"/>
            <a:ext cx="754251" cy="75425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pic>
        <p:nvPicPr>
          <p:cNvPr id="188" name="Google Shape;188;p81"/>
          <p:cNvPicPr preferRelativeResize="0"/>
          <p:nvPr/>
        </p:nvPicPr>
        <p:blipFill rotWithShape="1">
          <a:blip r:embed="rId3">
            <a:alphaModFix/>
          </a:blip>
          <a:srcRect b="0" l="0" r="0" t="0"/>
          <a:stretch/>
        </p:blipFill>
        <p:spPr>
          <a:xfrm rot="10800000">
            <a:off x="0" y="627066"/>
            <a:ext cx="12192000" cy="860425"/>
          </a:xfrm>
          <a:prstGeom prst="rect">
            <a:avLst/>
          </a:prstGeom>
          <a:noFill/>
          <a:ln>
            <a:noFill/>
          </a:ln>
        </p:spPr>
      </p:pic>
      <p:sp>
        <p:nvSpPr>
          <p:cNvPr id="189" name="Google Shape;189;p81"/>
          <p:cNvSpPr txBox="1"/>
          <p:nvPr/>
        </p:nvSpPr>
        <p:spPr>
          <a:xfrm>
            <a:off x="825457" y="1364378"/>
            <a:ext cx="11247481" cy="2799491"/>
          </a:xfrm>
          <a:prstGeom prst="rect">
            <a:avLst/>
          </a:prstGeom>
          <a:noFill/>
          <a:ln>
            <a:noFill/>
          </a:ln>
        </p:spPr>
        <p:txBody>
          <a:bodyPr anchorCtr="0" anchor="ctr" bIns="60950" lIns="60950" spcFirstLastPara="1" rIns="60950" wrap="square" tIns="60950">
            <a:noAutofit/>
          </a:bodyPr>
          <a:lstStyle/>
          <a:p>
            <a:pPr indent="0" lvl="0" marL="0" marR="0" rtl="0" algn="l">
              <a:lnSpc>
                <a:spcPct val="150000"/>
              </a:lnSpc>
              <a:spcBef>
                <a:spcPts val="0"/>
              </a:spcBef>
              <a:spcAft>
                <a:spcPts val="0"/>
              </a:spcAft>
              <a:buNone/>
            </a:pPr>
            <a:r>
              <a:rPr b="1" lang="es-ES" sz="1600">
                <a:solidFill>
                  <a:schemeClr val="dk1"/>
                </a:solidFill>
                <a:latin typeface="Calibri"/>
                <a:ea typeface="Calibri"/>
                <a:cs typeface="Calibri"/>
                <a:sym typeface="Calibri"/>
              </a:rPr>
              <a:t>Traspaso de efectivo mediante </a:t>
            </a:r>
            <a:r>
              <a:rPr b="1" lang="es-ES" sz="1600">
                <a:solidFill>
                  <a:srgbClr val="F12DD5"/>
                </a:solidFill>
                <a:latin typeface="Calibri"/>
                <a:ea typeface="Calibri"/>
                <a:cs typeface="Calibri"/>
                <a:sym typeface="Calibri"/>
              </a:rPr>
              <a:t>Gran Compra. </a:t>
            </a:r>
            <a:r>
              <a:rPr lang="es-ES" sz="1600">
                <a:solidFill>
                  <a:schemeClr val="dk1"/>
                </a:solidFill>
                <a:latin typeface="Calibri"/>
                <a:ea typeface="Calibri"/>
                <a:cs typeface="Calibri"/>
                <a:sym typeface="Calibri"/>
              </a:rPr>
              <a:t>La forma de pago es a </a:t>
            </a:r>
            <a:r>
              <a:rPr b="1" lang="es-ES" sz="1600">
                <a:solidFill>
                  <a:schemeClr val="dk1"/>
                </a:solidFill>
                <a:latin typeface="Calibri"/>
                <a:ea typeface="Calibri"/>
                <a:cs typeface="Calibri"/>
                <a:sym typeface="Calibri"/>
              </a:rPr>
              <a:t>fin de mes</a:t>
            </a:r>
            <a:r>
              <a:rPr lang="es-ES" sz="1600">
                <a:solidFill>
                  <a:schemeClr val="dk1"/>
                </a:solidFill>
                <a:latin typeface="Calibri"/>
                <a:ea typeface="Calibri"/>
                <a:cs typeface="Calibri"/>
                <a:sym typeface="Calibri"/>
              </a:rPr>
              <a:t>, pero la cantidad trasferida </a:t>
            </a:r>
            <a:r>
              <a:rPr b="1" lang="es-ES" sz="1600">
                <a:solidFill>
                  <a:schemeClr val="dk1"/>
                </a:solidFill>
                <a:latin typeface="Calibri"/>
                <a:ea typeface="Calibri"/>
                <a:cs typeface="Calibri"/>
                <a:sym typeface="Calibri"/>
              </a:rPr>
              <a:t>se aplaza, </a:t>
            </a:r>
            <a:r>
              <a:rPr b="1" lang="es-ES" sz="1600">
                <a:solidFill>
                  <a:srgbClr val="F12DD5"/>
                </a:solidFill>
                <a:latin typeface="Calibri"/>
                <a:ea typeface="Calibri"/>
                <a:cs typeface="Calibri"/>
                <a:sym typeface="Calibri"/>
              </a:rPr>
              <a:t>mínimo en 3 cuotas y máximo en 36, </a:t>
            </a:r>
            <a:r>
              <a:rPr b="1" lang="es-ES" sz="1600">
                <a:solidFill>
                  <a:schemeClr val="dk1"/>
                </a:solidFill>
                <a:latin typeface="Calibri"/>
                <a:ea typeface="Calibri"/>
                <a:cs typeface="Calibri"/>
                <a:sym typeface="Calibri"/>
              </a:rPr>
              <a:t>siendo la cuota mínima de 30,05€.  Puede transferir desde 90€ hasta el 75% del saldo disponible </a:t>
            </a:r>
            <a:r>
              <a:rPr lang="es-ES" sz="1600">
                <a:solidFill>
                  <a:schemeClr val="dk1"/>
                </a:solidFill>
                <a:latin typeface="Calibri"/>
                <a:ea typeface="Calibri"/>
                <a:cs typeface="Calibri"/>
                <a:sym typeface="Calibri"/>
              </a:rPr>
              <a:t>(Si el cliente dispone de 5000€, su 75% es 3750€ 🡪 5000 * 0,75= 3750).</a:t>
            </a:r>
            <a:endParaRPr sz="1600">
              <a:solidFill>
                <a:schemeClr val="dk1"/>
              </a:solidFill>
              <a:latin typeface="Calibri"/>
              <a:ea typeface="Calibri"/>
              <a:cs typeface="Calibri"/>
              <a:sym typeface="Calibri"/>
            </a:endParaRPr>
          </a:p>
          <a:p>
            <a:pPr indent="0" lvl="0" marL="0" marR="0" rtl="0" algn="l">
              <a:lnSpc>
                <a:spcPct val="150000"/>
              </a:lnSpc>
              <a:spcBef>
                <a:spcPts val="0"/>
              </a:spcBef>
              <a:spcAft>
                <a:spcPts val="0"/>
              </a:spcAft>
              <a:buNone/>
            </a:pPr>
            <a:r>
              <a:rPr b="1" lang="es-ES" sz="1600">
                <a:solidFill>
                  <a:srgbClr val="F12DD5"/>
                </a:solidFill>
                <a:latin typeface="Calibri"/>
                <a:ea typeface="Calibri"/>
                <a:cs typeface="Calibri"/>
                <a:sym typeface="Calibri"/>
              </a:rPr>
              <a:t>MAPFRE siempre hay que dejar mínimo 1000€ en tarjeta. </a:t>
            </a:r>
            <a:r>
              <a:rPr lang="es-ES" sz="1600">
                <a:solidFill>
                  <a:schemeClr val="dk1"/>
                </a:solidFill>
                <a:latin typeface="Calibri"/>
                <a:ea typeface="Calibri"/>
                <a:cs typeface="Calibri"/>
                <a:sym typeface="Calibri"/>
              </a:rPr>
              <a:t>(Si el cliente dispone de 5000€, su 75% es 3750€ 🡪 5000 * 0,75= 3750, por lo que dejaríamos 1350€ en cuenta).</a:t>
            </a:r>
            <a:endParaRPr sz="1200">
              <a:solidFill>
                <a:schemeClr val="dk1"/>
              </a:solidFill>
              <a:latin typeface="Calibri"/>
              <a:ea typeface="Calibri"/>
              <a:cs typeface="Calibri"/>
              <a:sym typeface="Calibri"/>
            </a:endParaRPr>
          </a:p>
          <a:p>
            <a:pPr indent="0" lvl="0" marL="0" marR="0" rtl="0" algn="l">
              <a:lnSpc>
                <a:spcPct val="150000"/>
              </a:lnSpc>
              <a:spcBef>
                <a:spcPts val="0"/>
              </a:spcBef>
              <a:spcAft>
                <a:spcPts val="0"/>
              </a:spcAft>
              <a:buNone/>
            </a:pPr>
            <a:r>
              <a:t/>
            </a:r>
            <a:endParaRPr b="1" sz="1200">
              <a:solidFill>
                <a:srgbClr val="F12DD5"/>
              </a:solidFill>
              <a:latin typeface="Calibri"/>
              <a:ea typeface="Calibri"/>
              <a:cs typeface="Calibri"/>
              <a:sym typeface="Calibri"/>
            </a:endParaRPr>
          </a:p>
        </p:txBody>
      </p:sp>
      <p:pic>
        <p:nvPicPr>
          <p:cNvPr descr="Flecha Naranja Pegatina PNG transparente - StickPNG" id="190" name="Google Shape;190;p81"/>
          <p:cNvPicPr preferRelativeResize="0"/>
          <p:nvPr/>
        </p:nvPicPr>
        <p:blipFill rotWithShape="1">
          <a:blip r:embed="rId4">
            <a:alphaModFix/>
          </a:blip>
          <a:srcRect b="0" l="0" r="0" t="0"/>
          <a:stretch/>
        </p:blipFill>
        <p:spPr>
          <a:xfrm>
            <a:off x="80031" y="1506934"/>
            <a:ext cx="754251" cy="754251"/>
          </a:xfrm>
          <a:prstGeom prst="rect">
            <a:avLst/>
          </a:prstGeom>
          <a:noFill/>
          <a:ln>
            <a:noFill/>
          </a:ln>
        </p:spPr>
      </p:pic>
      <p:sp>
        <p:nvSpPr>
          <p:cNvPr id="191" name="Google Shape;191;p81"/>
          <p:cNvSpPr txBox="1"/>
          <p:nvPr/>
        </p:nvSpPr>
        <p:spPr>
          <a:xfrm>
            <a:off x="3031958" y="197750"/>
            <a:ext cx="5662864"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dk1"/>
                </a:solidFill>
                <a:latin typeface="Calibri"/>
                <a:ea typeface="Calibri"/>
                <a:cs typeface="Calibri"/>
                <a:sym typeface="Calibri"/>
              </a:rPr>
              <a:t>NUESTRO PRODUCTO</a:t>
            </a:r>
            <a:endParaRPr b="1" sz="2400">
              <a:solidFill>
                <a:srgbClr val="F12DD5"/>
              </a:solidFill>
              <a:latin typeface="Calibri"/>
              <a:ea typeface="Calibri"/>
              <a:cs typeface="Calibri"/>
              <a:sym typeface="Calibri"/>
            </a:endParaRPr>
          </a:p>
        </p:txBody>
      </p:sp>
      <p:sp>
        <p:nvSpPr>
          <p:cNvPr id="192" name="Google Shape;192;p81"/>
          <p:cNvSpPr txBox="1"/>
          <p:nvPr/>
        </p:nvSpPr>
        <p:spPr>
          <a:xfrm>
            <a:off x="80031" y="1088731"/>
            <a:ext cx="566286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rgbClr val="F12DD5"/>
                </a:solidFill>
                <a:latin typeface="Calibri"/>
                <a:ea typeface="Calibri"/>
                <a:cs typeface="Calibri"/>
                <a:sym typeface="Calibri"/>
              </a:rPr>
              <a:t>CREDIMAX TRANSACTOR </a:t>
            </a:r>
            <a:endParaRPr/>
          </a:p>
        </p:txBody>
      </p:sp>
      <p:sp>
        <p:nvSpPr>
          <p:cNvPr id="193" name="Google Shape;193;p81"/>
          <p:cNvSpPr txBox="1"/>
          <p:nvPr/>
        </p:nvSpPr>
        <p:spPr>
          <a:xfrm>
            <a:off x="834282" y="3825195"/>
            <a:ext cx="11247481" cy="931892"/>
          </a:xfrm>
          <a:prstGeom prst="rect">
            <a:avLst/>
          </a:prstGeom>
          <a:noFill/>
          <a:ln>
            <a:noFill/>
          </a:ln>
        </p:spPr>
        <p:txBody>
          <a:bodyPr anchorCtr="0" anchor="ctr" bIns="60950" lIns="60950" spcFirstLastPara="1" rIns="60950" wrap="square" tIns="60950">
            <a:noAutofit/>
          </a:bodyPr>
          <a:lstStyle/>
          <a:p>
            <a:pPr indent="0" lvl="0" marL="0" marR="0" rtl="0" algn="l">
              <a:lnSpc>
                <a:spcPct val="150000"/>
              </a:lnSpc>
              <a:spcBef>
                <a:spcPts val="0"/>
              </a:spcBef>
              <a:spcAft>
                <a:spcPts val="0"/>
              </a:spcAft>
              <a:buNone/>
            </a:pPr>
            <a:r>
              <a:rPr lang="es-ES" sz="1600">
                <a:solidFill>
                  <a:schemeClr val="dk1"/>
                </a:solidFill>
                <a:latin typeface="Calibri"/>
                <a:ea typeface="Calibri"/>
                <a:cs typeface="Calibri"/>
                <a:sym typeface="Calibri"/>
              </a:rPr>
              <a:t>El cliente abonará la </a:t>
            </a:r>
            <a:r>
              <a:rPr b="1" lang="es-ES" sz="1600">
                <a:solidFill>
                  <a:srgbClr val="F12DD5"/>
                </a:solidFill>
                <a:latin typeface="Calibri"/>
                <a:ea typeface="Calibri"/>
                <a:cs typeface="Calibri"/>
                <a:sym typeface="Calibri"/>
              </a:rPr>
              <a:t>primera cuota de su GC el mes siguiente de la contratación</a:t>
            </a:r>
            <a:r>
              <a:rPr lang="es-ES" sz="1600">
                <a:solidFill>
                  <a:schemeClr val="dk1"/>
                </a:solidFill>
                <a:latin typeface="Calibri"/>
                <a:ea typeface="Calibri"/>
                <a:cs typeface="Calibri"/>
                <a:sym typeface="Calibri"/>
              </a:rPr>
              <a:t>, y el resto de días del mes en curso de contratación, solo abonará </a:t>
            </a:r>
            <a:r>
              <a:rPr b="1" lang="es-ES" sz="1600">
                <a:solidFill>
                  <a:schemeClr val="dk1"/>
                </a:solidFill>
                <a:latin typeface="Calibri"/>
                <a:ea typeface="Calibri"/>
                <a:cs typeface="Calibri"/>
                <a:sym typeface="Calibri"/>
              </a:rPr>
              <a:t>intereses de carencia</a:t>
            </a:r>
            <a:r>
              <a:rPr lang="es-ES" sz="1600">
                <a:solidFill>
                  <a:schemeClr val="dk1"/>
                </a:solidFill>
                <a:latin typeface="Calibri"/>
                <a:ea typeface="Calibri"/>
                <a:cs typeface="Calibri"/>
                <a:sym typeface="Calibri"/>
              </a:rPr>
              <a:t>. Por ejemplo, un cliente que contrata el 18 del mes, pagaría el primer recibo a primeros del mes siguiente, pero solo serían la proporción de los intereses de carencia. </a:t>
            </a:r>
            <a:endParaRPr/>
          </a:p>
        </p:txBody>
      </p:sp>
      <p:pic>
        <p:nvPicPr>
          <p:cNvPr descr="Flecha Naranja Pegatina PNG transparente - StickPNG" id="194" name="Google Shape;194;p81"/>
          <p:cNvPicPr preferRelativeResize="0"/>
          <p:nvPr/>
        </p:nvPicPr>
        <p:blipFill rotWithShape="1">
          <a:blip r:embed="rId4">
            <a:alphaModFix/>
          </a:blip>
          <a:srcRect b="0" l="0" r="0" t="0"/>
          <a:stretch/>
        </p:blipFill>
        <p:spPr>
          <a:xfrm>
            <a:off x="88856" y="3554926"/>
            <a:ext cx="754251" cy="754251"/>
          </a:xfrm>
          <a:prstGeom prst="rect">
            <a:avLst/>
          </a:prstGeom>
          <a:noFill/>
          <a:ln>
            <a:noFill/>
          </a:ln>
        </p:spPr>
      </p:pic>
      <p:sp>
        <p:nvSpPr>
          <p:cNvPr id="195" name="Google Shape;195;p81"/>
          <p:cNvSpPr txBox="1"/>
          <p:nvPr/>
        </p:nvSpPr>
        <p:spPr>
          <a:xfrm>
            <a:off x="834281" y="5027476"/>
            <a:ext cx="11238655" cy="838318"/>
          </a:xfrm>
          <a:prstGeom prst="rect">
            <a:avLst/>
          </a:prstGeom>
          <a:noFill/>
          <a:ln>
            <a:noFill/>
          </a:ln>
        </p:spPr>
        <p:txBody>
          <a:bodyPr anchorCtr="0" anchor="ctr" bIns="60950" lIns="60950" spcFirstLastPara="1" rIns="60950" wrap="square" tIns="60950">
            <a:noAutofit/>
          </a:bodyPr>
          <a:lstStyle/>
          <a:p>
            <a:pPr indent="0" lvl="0" marL="0" marR="0" rtl="0" algn="l">
              <a:lnSpc>
                <a:spcPct val="150000"/>
              </a:lnSpc>
              <a:spcBef>
                <a:spcPts val="0"/>
              </a:spcBef>
              <a:spcAft>
                <a:spcPts val="0"/>
              </a:spcAft>
              <a:buNone/>
            </a:pPr>
            <a:r>
              <a:rPr lang="es-ES" sz="1600">
                <a:solidFill>
                  <a:schemeClr val="dk1"/>
                </a:solidFill>
                <a:latin typeface="Calibri"/>
                <a:ea typeface="Calibri"/>
                <a:cs typeface="Calibri"/>
                <a:sym typeface="Calibri"/>
              </a:rPr>
              <a:t>Pueden realizarse </a:t>
            </a:r>
            <a:r>
              <a:rPr b="1" lang="es-ES" sz="1600">
                <a:solidFill>
                  <a:srgbClr val="F12DD5"/>
                </a:solidFill>
                <a:latin typeface="Calibri"/>
                <a:ea typeface="Calibri"/>
                <a:cs typeface="Calibri"/>
                <a:sym typeface="Calibri"/>
              </a:rPr>
              <a:t>amortizaciones totales o parciales</a:t>
            </a:r>
            <a:r>
              <a:rPr lang="es-ES" sz="1600">
                <a:solidFill>
                  <a:schemeClr val="dk1"/>
                </a:solidFill>
                <a:latin typeface="Calibri"/>
                <a:ea typeface="Calibri"/>
                <a:cs typeface="Calibri"/>
                <a:sym typeface="Calibri"/>
              </a:rPr>
              <a:t>. El cliente puede </a:t>
            </a:r>
            <a:r>
              <a:rPr b="1" lang="es-ES" sz="1600">
                <a:solidFill>
                  <a:schemeClr val="dk1"/>
                </a:solidFill>
                <a:latin typeface="Calibri"/>
                <a:ea typeface="Calibri"/>
                <a:cs typeface="Calibri"/>
                <a:sym typeface="Calibri"/>
              </a:rPr>
              <a:t>cambiar la forma de pago a aplazado</a:t>
            </a:r>
            <a:r>
              <a:rPr lang="es-ES" sz="1600">
                <a:solidFill>
                  <a:schemeClr val="dk1"/>
                </a:solidFill>
                <a:latin typeface="Calibri"/>
                <a:ea typeface="Calibri"/>
                <a:cs typeface="Calibri"/>
                <a:sym typeface="Calibri"/>
              </a:rPr>
              <a:t>, pero la GC no se cancelará, será un movimiento más que le aparecerá en el extracto de su tarjeta (se incluirá dentro de la cuota total).</a:t>
            </a:r>
            <a:endParaRPr sz="1200">
              <a:solidFill>
                <a:schemeClr val="dk1"/>
              </a:solidFill>
              <a:latin typeface="Calibri"/>
              <a:ea typeface="Calibri"/>
              <a:cs typeface="Calibri"/>
              <a:sym typeface="Calibri"/>
            </a:endParaRPr>
          </a:p>
        </p:txBody>
      </p:sp>
      <p:pic>
        <p:nvPicPr>
          <p:cNvPr descr="Flecha Naranja Pegatina PNG transparente - StickPNG" id="196" name="Google Shape;196;p81"/>
          <p:cNvPicPr preferRelativeResize="0"/>
          <p:nvPr/>
        </p:nvPicPr>
        <p:blipFill rotWithShape="1">
          <a:blip r:embed="rId4">
            <a:alphaModFix/>
          </a:blip>
          <a:srcRect b="0" l="0" r="0" t="0"/>
          <a:stretch/>
        </p:blipFill>
        <p:spPr>
          <a:xfrm>
            <a:off x="119063" y="4891837"/>
            <a:ext cx="754251" cy="754251"/>
          </a:xfrm>
          <a:prstGeom prst="rect">
            <a:avLst/>
          </a:prstGeom>
          <a:noFill/>
          <a:ln>
            <a:noFill/>
          </a:ln>
        </p:spPr>
      </p:pic>
      <p:sp>
        <p:nvSpPr>
          <p:cNvPr id="197" name="Google Shape;197;p81"/>
          <p:cNvSpPr txBox="1"/>
          <p:nvPr/>
        </p:nvSpPr>
        <p:spPr>
          <a:xfrm>
            <a:off x="825456" y="6079858"/>
            <a:ext cx="10742429" cy="601569"/>
          </a:xfrm>
          <a:prstGeom prst="rect">
            <a:avLst/>
          </a:prstGeom>
          <a:noFill/>
          <a:ln>
            <a:noFill/>
          </a:ln>
        </p:spPr>
        <p:txBody>
          <a:bodyPr anchorCtr="0" anchor="ctr" bIns="60950" lIns="60950" spcFirstLastPara="1" rIns="60950" wrap="square" tIns="60950">
            <a:noAutofit/>
          </a:bodyPr>
          <a:lstStyle/>
          <a:p>
            <a:pPr indent="0" lvl="0" marL="0" marR="0" rtl="0" algn="l">
              <a:lnSpc>
                <a:spcPct val="150000"/>
              </a:lnSpc>
              <a:spcBef>
                <a:spcPts val="0"/>
              </a:spcBef>
              <a:spcAft>
                <a:spcPts val="0"/>
              </a:spcAft>
              <a:buNone/>
            </a:pPr>
            <a:r>
              <a:rPr b="1" lang="es-ES" sz="1600">
                <a:solidFill>
                  <a:srgbClr val="F12DD5"/>
                </a:solidFill>
                <a:latin typeface="Calibri"/>
                <a:ea typeface="Calibri"/>
                <a:cs typeface="Calibri"/>
                <a:sym typeface="Calibri"/>
              </a:rPr>
              <a:t>TIN 18,36%  y TAE 19,99% / promoción *     </a:t>
            </a:r>
            <a:r>
              <a:rPr b="1" lang="es-ES" sz="1600">
                <a:solidFill>
                  <a:schemeClr val="dk1"/>
                </a:solidFill>
                <a:latin typeface="Calibri"/>
                <a:ea typeface="Calibri"/>
                <a:cs typeface="Calibri"/>
                <a:sym typeface="Calibri"/>
              </a:rPr>
              <a:t>Sin comisión por traspaso.      </a:t>
            </a:r>
            <a:r>
              <a:rPr b="1" lang="es-ES" sz="2000">
                <a:solidFill>
                  <a:schemeClr val="dk1"/>
                </a:solidFill>
                <a:latin typeface="Calibri"/>
                <a:ea typeface="Calibri"/>
                <a:cs typeface="Calibri"/>
                <a:sym typeface="Calibri"/>
              </a:rPr>
              <a:t>Interés ≠ Comisión</a:t>
            </a:r>
            <a:endParaRPr b="1" sz="1200">
              <a:solidFill>
                <a:schemeClr val="dk1"/>
              </a:solidFill>
              <a:latin typeface="Calibri"/>
              <a:ea typeface="Calibri"/>
              <a:cs typeface="Calibri"/>
              <a:sym typeface="Calibri"/>
            </a:endParaRPr>
          </a:p>
        </p:txBody>
      </p:sp>
      <p:pic>
        <p:nvPicPr>
          <p:cNvPr descr="Flecha Naranja Pegatina PNG transparente - StickPNG" id="198" name="Google Shape;198;p81"/>
          <p:cNvPicPr preferRelativeResize="0"/>
          <p:nvPr/>
        </p:nvPicPr>
        <p:blipFill rotWithShape="1">
          <a:blip r:embed="rId4">
            <a:alphaModFix/>
          </a:blip>
          <a:srcRect b="0" l="0" r="0" t="0"/>
          <a:stretch/>
        </p:blipFill>
        <p:spPr>
          <a:xfrm>
            <a:off x="71206" y="6025643"/>
            <a:ext cx="754251" cy="75425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pic>
        <p:nvPicPr>
          <p:cNvPr id="203" name="Google Shape;203;p82"/>
          <p:cNvPicPr preferRelativeResize="0"/>
          <p:nvPr/>
        </p:nvPicPr>
        <p:blipFill rotWithShape="1">
          <a:blip r:embed="rId3">
            <a:alphaModFix/>
          </a:blip>
          <a:srcRect b="0" l="0" r="0" t="0"/>
          <a:stretch/>
        </p:blipFill>
        <p:spPr>
          <a:xfrm rot="10800000">
            <a:off x="0" y="627066"/>
            <a:ext cx="12192000" cy="860425"/>
          </a:xfrm>
          <a:prstGeom prst="rect">
            <a:avLst/>
          </a:prstGeom>
          <a:noFill/>
          <a:ln>
            <a:noFill/>
          </a:ln>
        </p:spPr>
      </p:pic>
      <p:sp>
        <p:nvSpPr>
          <p:cNvPr id="204" name="Google Shape;204;p82"/>
          <p:cNvSpPr txBox="1"/>
          <p:nvPr/>
        </p:nvSpPr>
        <p:spPr>
          <a:xfrm>
            <a:off x="825457" y="1364379"/>
            <a:ext cx="11247481" cy="1291736"/>
          </a:xfrm>
          <a:prstGeom prst="rect">
            <a:avLst/>
          </a:prstGeom>
          <a:noFill/>
          <a:ln>
            <a:noFill/>
          </a:ln>
        </p:spPr>
        <p:txBody>
          <a:bodyPr anchorCtr="0" anchor="ctr" bIns="60950" lIns="60950" spcFirstLastPara="1" rIns="60950" wrap="square" tIns="60950">
            <a:noAutofit/>
          </a:bodyPr>
          <a:lstStyle/>
          <a:p>
            <a:pPr indent="0" lvl="0" marL="0" marR="0" rtl="0" algn="l">
              <a:lnSpc>
                <a:spcPct val="150000"/>
              </a:lnSpc>
              <a:spcBef>
                <a:spcPts val="0"/>
              </a:spcBef>
              <a:spcAft>
                <a:spcPts val="0"/>
              </a:spcAft>
              <a:buNone/>
            </a:pPr>
            <a:r>
              <a:rPr lang="es-ES" sz="1600">
                <a:solidFill>
                  <a:schemeClr val="dk1"/>
                </a:solidFill>
                <a:latin typeface="Calibri"/>
                <a:ea typeface="Calibri"/>
                <a:cs typeface="Calibri"/>
                <a:sym typeface="Calibri"/>
              </a:rPr>
              <a:t>Si el cliente ha realizado varios traspasos, no se acumulan, se paga la cuota y duración que se pactó en cada una de ellas. Se conoce cuando se empiezan los pagos y cuándo finalizan. </a:t>
            </a:r>
            <a:endParaRPr sz="1200">
              <a:solidFill>
                <a:schemeClr val="dk1"/>
              </a:solidFill>
              <a:latin typeface="Calibri"/>
              <a:ea typeface="Calibri"/>
              <a:cs typeface="Calibri"/>
              <a:sym typeface="Calibri"/>
            </a:endParaRPr>
          </a:p>
          <a:p>
            <a:pPr indent="0" lvl="0" marL="0" marR="0" rtl="0" algn="l">
              <a:lnSpc>
                <a:spcPct val="150000"/>
              </a:lnSpc>
              <a:spcBef>
                <a:spcPts val="0"/>
              </a:spcBef>
              <a:spcAft>
                <a:spcPts val="0"/>
              </a:spcAft>
              <a:buNone/>
            </a:pPr>
            <a:r>
              <a:t/>
            </a:r>
            <a:endParaRPr b="1" sz="1200">
              <a:solidFill>
                <a:srgbClr val="F12DD5"/>
              </a:solidFill>
              <a:latin typeface="Calibri"/>
              <a:ea typeface="Calibri"/>
              <a:cs typeface="Calibri"/>
              <a:sym typeface="Calibri"/>
            </a:endParaRPr>
          </a:p>
        </p:txBody>
      </p:sp>
      <p:pic>
        <p:nvPicPr>
          <p:cNvPr descr="Flecha Naranja Pegatina PNG transparente - StickPNG" id="205" name="Google Shape;205;p82"/>
          <p:cNvPicPr preferRelativeResize="0"/>
          <p:nvPr/>
        </p:nvPicPr>
        <p:blipFill rotWithShape="1">
          <a:blip r:embed="rId4">
            <a:alphaModFix/>
          </a:blip>
          <a:srcRect b="0" l="0" r="0" t="0"/>
          <a:stretch/>
        </p:blipFill>
        <p:spPr>
          <a:xfrm>
            <a:off x="80031" y="1332764"/>
            <a:ext cx="754251" cy="754251"/>
          </a:xfrm>
          <a:prstGeom prst="rect">
            <a:avLst/>
          </a:prstGeom>
          <a:noFill/>
          <a:ln>
            <a:noFill/>
          </a:ln>
        </p:spPr>
      </p:pic>
      <p:sp>
        <p:nvSpPr>
          <p:cNvPr id="206" name="Google Shape;206;p82"/>
          <p:cNvSpPr txBox="1"/>
          <p:nvPr/>
        </p:nvSpPr>
        <p:spPr>
          <a:xfrm>
            <a:off x="3031958" y="197750"/>
            <a:ext cx="5662864"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dk1"/>
                </a:solidFill>
                <a:latin typeface="Calibri"/>
                <a:ea typeface="Calibri"/>
                <a:cs typeface="Calibri"/>
                <a:sym typeface="Calibri"/>
              </a:rPr>
              <a:t>NUESTRO PRODUCTO</a:t>
            </a:r>
            <a:endParaRPr b="1" sz="2400">
              <a:solidFill>
                <a:srgbClr val="F12DD5"/>
              </a:solidFill>
              <a:latin typeface="Calibri"/>
              <a:ea typeface="Calibri"/>
              <a:cs typeface="Calibri"/>
              <a:sym typeface="Calibri"/>
            </a:endParaRPr>
          </a:p>
        </p:txBody>
      </p:sp>
      <p:sp>
        <p:nvSpPr>
          <p:cNvPr id="207" name="Google Shape;207;p82"/>
          <p:cNvSpPr txBox="1"/>
          <p:nvPr/>
        </p:nvSpPr>
        <p:spPr>
          <a:xfrm>
            <a:off x="80031" y="1088731"/>
            <a:ext cx="566286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rgbClr val="F12DD5"/>
                </a:solidFill>
                <a:latin typeface="Calibri"/>
                <a:ea typeface="Calibri"/>
                <a:cs typeface="Calibri"/>
                <a:sym typeface="Calibri"/>
              </a:rPr>
              <a:t>CREDIMAX TRANSACTOR </a:t>
            </a:r>
            <a:endParaRPr/>
          </a:p>
        </p:txBody>
      </p:sp>
      <p:sp>
        <p:nvSpPr>
          <p:cNvPr id="208" name="Google Shape;208;p82"/>
          <p:cNvSpPr/>
          <p:nvPr/>
        </p:nvSpPr>
        <p:spPr>
          <a:xfrm>
            <a:off x="706395" y="2253832"/>
            <a:ext cx="7450634" cy="580572"/>
          </a:xfrm>
          <a:prstGeom prst="rect">
            <a:avLst/>
          </a:prstGeom>
          <a:solidFill>
            <a:srgbClr val="F12DD5"/>
          </a:solidFill>
          <a:ln>
            <a:noFill/>
          </a:ln>
          <a:effectLst>
            <a:outerShdw blurRad="635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s-ES" sz="1800">
                <a:solidFill>
                  <a:schemeClr val="lt1"/>
                </a:solidFill>
                <a:latin typeface="Calibri"/>
                <a:ea typeface="Calibri"/>
                <a:cs typeface="Calibri"/>
                <a:sym typeface="Calibri"/>
              </a:rPr>
              <a:t>TRASPASO 700 € ENERO</a:t>
            </a:r>
            <a:endParaRPr/>
          </a:p>
          <a:p>
            <a:pPr indent="0" lvl="0" marL="0" marR="0" rtl="0" algn="ctr">
              <a:spcBef>
                <a:spcPts val="0"/>
              </a:spcBef>
              <a:spcAft>
                <a:spcPts val="0"/>
              </a:spcAft>
              <a:buNone/>
            </a:pPr>
            <a:r>
              <a:rPr lang="es-ES" sz="1800">
                <a:solidFill>
                  <a:schemeClr val="lt1"/>
                </a:solidFill>
                <a:latin typeface="Calibri"/>
                <a:ea typeface="Calibri"/>
                <a:cs typeface="Calibri"/>
                <a:sym typeface="Calibri"/>
              </a:rPr>
              <a:t>24 MESES 🡪 30€</a:t>
            </a:r>
            <a:endParaRPr sz="1800">
              <a:solidFill>
                <a:schemeClr val="lt1"/>
              </a:solidFill>
              <a:latin typeface="Calibri"/>
              <a:ea typeface="Calibri"/>
              <a:cs typeface="Calibri"/>
              <a:sym typeface="Calibri"/>
            </a:endParaRPr>
          </a:p>
        </p:txBody>
      </p:sp>
      <p:sp>
        <p:nvSpPr>
          <p:cNvPr id="209" name="Google Shape;209;p82"/>
          <p:cNvSpPr/>
          <p:nvPr/>
        </p:nvSpPr>
        <p:spPr>
          <a:xfrm>
            <a:off x="1749675" y="3359551"/>
            <a:ext cx="9600495" cy="580572"/>
          </a:xfrm>
          <a:prstGeom prst="rect">
            <a:avLst/>
          </a:prstGeom>
          <a:solidFill>
            <a:srgbClr val="F12DD5"/>
          </a:solidFill>
          <a:ln>
            <a:noFill/>
          </a:ln>
          <a:effectLst>
            <a:outerShdw blurRad="635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s-ES" sz="1800">
                <a:solidFill>
                  <a:schemeClr val="lt1"/>
                </a:solidFill>
                <a:latin typeface="Calibri"/>
                <a:ea typeface="Calibri"/>
                <a:cs typeface="Calibri"/>
                <a:sym typeface="Calibri"/>
              </a:rPr>
              <a:t>TRASPASO 2000 € AGOSTO</a:t>
            </a:r>
            <a:endParaRPr/>
          </a:p>
          <a:p>
            <a:pPr indent="0" lvl="0" marL="0" marR="0" rtl="0" algn="ctr">
              <a:spcBef>
                <a:spcPts val="0"/>
              </a:spcBef>
              <a:spcAft>
                <a:spcPts val="0"/>
              </a:spcAft>
              <a:buNone/>
            </a:pPr>
            <a:r>
              <a:rPr lang="es-ES" sz="1800">
                <a:solidFill>
                  <a:schemeClr val="lt1"/>
                </a:solidFill>
                <a:latin typeface="Calibri"/>
                <a:ea typeface="Calibri"/>
                <a:cs typeface="Calibri"/>
                <a:sym typeface="Calibri"/>
              </a:rPr>
              <a:t>36 MESES 🡪 50€</a:t>
            </a:r>
            <a:endParaRPr sz="1800">
              <a:solidFill>
                <a:schemeClr val="lt1"/>
              </a:solidFill>
              <a:latin typeface="Calibri"/>
              <a:ea typeface="Calibri"/>
              <a:cs typeface="Calibri"/>
              <a:sym typeface="Calibri"/>
            </a:endParaRPr>
          </a:p>
        </p:txBody>
      </p:sp>
      <p:sp>
        <p:nvSpPr>
          <p:cNvPr id="210" name="Google Shape;210;p82"/>
          <p:cNvSpPr/>
          <p:nvPr/>
        </p:nvSpPr>
        <p:spPr>
          <a:xfrm>
            <a:off x="3356781" y="4672588"/>
            <a:ext cx="5990419" cy="580572"/>
          </a:xfrm>
          <a:prstGeom prst="rect">
            <a:avLst/>
          </a:prstGeom>
          <a:solidFill>
            <a:srgbClr val="F12DD5"/>
          </a:solidFill>
          <a:ln>
            <a:noFill/>
          </a:ln>
          <a:effectLst>
            <a:outerShdw blurRad="635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s-ES" sz="1800">
                <a:solidFill>
                  <a:schemeClr val="lt1"/>
                </a:solidFill>
                <a:latin typeface="Calibri"/>
                <a:ea typeface="Calibri"/>
                <a:cs typeface="Calibri"/>
                <a:sym typeface="Calibri"/>
              </a:rPr>
              <a:t>TRASPASO 500 € DICIEMBRE</a:t>
            </a:r>
            <a:endParaRPr/>
          </a:p>
          <a:p>
            <a:pPr indent="0" lvl="0" marL="0" marR="0" rtl="0" algn="ctr">
              <a:spcBef>
                <a:spcPts val="0"/>
              </a:spcBef>
              <a:spcAft>
                <a:spcPts val="0"/>
              </a:spcAft>
              <a:buNone/>
            </a:pPr>
            <a:r>
              <a:rPr lang="es-ES" sz="1800">
                <a:solidFill>
                  <a:schemeClr val="lt1"/>
                </a:solidFill>
                <a:latin typeface="Calibri"/>
                <a:ea typeface="Calibri"/>
                <a:cs typeface="Calibri"/>
                <a:sym typeface="Calibri"/>
              </a:rPr>
              <a:t>12 MESES 🡪 50€</a:t>
            </a:r>
            <a:endParaRPr sz="1800">
              <a:solidFill>
                <a:schemeClr val="lt1"/>
              </a:solidFill>
              <a:latin typeface="Calibri"/>
              <a:ea typeface="Calibri"/>
              <a:cs typeface="Calibri"/>
              <a:sym typeface="Calibri"/>
            </a:endParaRPr>
          </a:p>
        </p:txBody>
      </p:sp>
      <p:cxnSp>
        <p:nvCxnSpPr>
          <p:cNvPr id="211" name="Google Shape;211;p82"/>
          <p:cNvCxnSpPr/>
          <p:nvPr/>
        </p:nvCxnSpPr>
        <p:spPr>
          <a:xfrm>
            <a:off x="1161143" y="2480932"/>
            <a:ext cx="0" cy="3763505"/>
          </a:xfrm>
          <a:prstGeom prst="straightConnector1">
            <a:avLst/>
          </a:prstGeom>
          <a:noFill/>
          <a:ln cap="flat" cmpd="sng" w="57150">
            <a:solidFill>
              <a:schemeClr val="dk1"/>
            </a:solidFill>
            <a:prstDash val="solid"/>
            <a:miter lim="800000"/>
            <a:headEnd len="sm" w="sm" type="none"/>
            <a:tailEnd len="med" w="med" type="triangle"/>
          </a:ln>
        </p:spPr>
      </p:cxnSp>
      <p:cxnSp>
        <p:nvCxnSpPr>
          <p:cNvPr id="212" name="Google Shape;212;p82"/>
          <p:cNvCxnSpPr/>
          <p:nvPr/>
        </p:nvCxnSpPr>
        <p:spPr>
          <a:xfrm>
            <a:off x="2757714" y="2480932"/>
            <a:ext cx="0" cy="3763505"/>
          </a:xfrm>
          <a:prstGeom prst="straightConnector1">
            <a:avLst/>
          </a:prstGeom>
          <a:noFill/>
          <a:ln cap="flat" cmpd="sng" w="57150">
            <a:solidFill>
              <a:schemeClr val="dk1"/>
            </a:solidFill>
            <a:prstDash val="solid"/>
            <a:miter lim="800000"/>
            <a:headEnd len="sm" w="sm" type="none"/>
            <a:tailEnd len="med" w="med" type="triangle"/>
          </a:ln>
        </p:spPr>
      </p:cxnSp>
      <p:cxnSp>
        <p:nvCxnSpPr>
          <p:cNvPr id="213" name="Google Shape;213;p82"/>
          <p:cNvCxnSpPr/>
          <p:nvPr/>
        </p:nvCxnSpPr>
        <p:spPr>
          <a:xfrm>
            <a:off x="4557486" y="2480932"/>
            <a:ext cx="0" cy="3763505"/>
          </a:xfrm>
          <a:prstGeom prst="straightConnector1">
            <a:avLst/>
          </a:prstGeom>
          <a:noFill/>
          <a:ln cap="flat" cmpd="sng" w="57150">
            <a:solidFill>
              <a:schemeClr val="dk1"/>
            </a:solidFill>
            <a:prstDash val="solid"/>
            <a:miter lim="800000"/>
            <a:headEnd len="sm" w="sm" type="none"/>
            <a:tailEnd len="med" w="med" type="triangle"/>
          </a:ln>
        </p:spPr>
      </p:cxnSp>
      <p:cxnSp>
        <p:nvCxnSpPr>
          <p:cNvPr id="214" name="Google Shape;214;p82"/>
          <p:cNvCxnSpPr/>
          <p:nvPr/>
        </p:nvCxnSpPr>
        <p:spPr>
          <a:xfrm>
            <a:off x="8505372" y="2480932"/>
            <a:ext cx="0" cy="3763505"/>
          </a:xfrm>
          <a:prstGeom prst="straightConnector1">
            <a:avLst/>
          </a:prstGeom>
          <a:noFill/>
          <a:ln cap="flat" cmpd="sng" w="57150">
            <a:solidFill>
              <a:schemeClr val="dk1"/>
            </a:solidFill>
            <a:prstDash val="solid"/>
            <a:miter lim="800000"/>
            <a:headEnd len="sm" w="sm" type="none"/>
            <a:tailEnd len="med" w="med" type="triangle"/>
          </a:ln>
        </p:spPr>
      </p:cxnSp>
      <p:cxnSp>
        <p:nvCxnSpPr>
          <p:cNvPr id="215" name="Google Shape;215;p82"/>
          <p:cNvCxnSpPr/>
          <p:nvPr/>
        </p:nvCxnSpPr>
        <p:spPr>
          <a:xfrm>
            <a:off x="10958286" y="2480932"/>
            <a:ext cx="0" cy="3763505"/>
          </a:xfrm>
          <a:prstGeom prst="straightConnector1">
            <a:avLst/>
          </a:prstGeom>
          <a:noFill/>
          <a:ln cap="flat" cmpd="sng" w="57150">
            <a:solidFill>
              <a:schemeClr val="dk1"/>
            </a:solidFill>
            <a:prstDash val="solid"/>
            <a:miter lim="800000"/>
            <a:headEnd len="sm" w="sm" type="none"/>
            <a:tailEnd len="med" w="med" type="triangle"/>
          </a:ln>
        </p:spPr>
      </p:cxnSp>
      <p:sp>
        <p:nvSpPr>
          <p:cNvPr id="216" name="Google Shape;216;p82"/>
          <p:cNvSpPr txBox="1"/>
          <p:nvPr/>
        </p:nvSpPr>
        <p:spPr>
          <a:xfrm>
            <a:off x="487363" y="5936580"/>
            <a:ext cx="11247481" cy="1291736"/>
          </a:xfrm>
          <a:prstGeom prst="rect">
            <a:avLst/>
          </a:prstGeom>
          <a:noFill/>
          <a:ln>
            <a:noFill/>
          </a:ln>
        </p:spPr>
        <p:txBody>
          <a:bodyPr anchorCtr="0" anchor="ctr" bIns="60950" lIns="60950" spcFirstLastPara="1" rIns="60950" wrap="square" tIns="60950">
            <a:noAutofit/>
          </a:bodyPr>
          <a:lstStyle/>
          <a:p>
            <a:pPr indent="0" lvl="0" marL="0" marR="0" rtl="0" algn="l">
              <a:lnSpc>
                <a:spcPct val="150000"/>
              </a:lnSpc>
              <a:spcBef>
                <a:spcPts val="0"/>
              </a:spcBef>
              <a:spcAft>
                <a:spcPts val="0"/>
              </a:spcAft>
              <a:buNone/>
            </a:pPr>
            <a:r>
              <a:rPr lang="es-ES" sz="2400">
                <a:solidFill>
                  <a:schemeClr val="dk1"/>
                </a:solidFill>
                <a:latin typeface="Calibri"/>
                <a:ea typeface="Calibri"/>
                <a:cs typeface="Calibri"/>
                <a:sym typeface="Calibri"/>
              </a:rPr>
              <a:t>	</a:t>
            </a:r>
            <a:r>
              <a:rPr b="1" lang="es-ES" sz="2000">
                <a:solidFill>
                  <a:schemeClr val="dk1"/>
                </a:solidFill>
                <a:latin typeface="Calibri"/>
                <a:ea typeface="Calibri"/>
                <a:cs typeface="Calibri"/>
                <a:sym typeface="Calibri"/>
              </a:rPr>
              <a:t>30 €	 </a:t>
            </a:r>
            <a:r>
              <a:rPr lang="es-ES" sz="2000">
                <a:solidFill>
                  <a:schemeClr val="dk1"/>
                </a:solidFill>
                <a:latin typeface="Calibri"/>
                <a:ea typeface="Calibri"/>
                <a:cs typeface="Calibri"/>
                <a:sym typeface="Calibri"/>
              </a:rPr>
              <a:t>	30 + 50 = </a:t>
            </a:r>
            <a:r>
              <a:rPr b="1" lang="es-ES" sz="2000">
                <a:solidFill>
                  <a:schemeClr val="dk1"/>
                </a:solidFill>
                <a:latin typeface="Calibri"/>
                <a:ea typeface="Calibri"/>
                <a:cs typeface="Calibri"/>
                <a:sym typeface="Calibri"/>
              </a:rPr>
              <a:t>80 €</a:t>
            </a:r>
            <a:r>
              <a:rPr lang="es-ES" sz="2000">
                <a:solidFill>
                  <a:schemeClr val="dk1"/>
                </a:solidFill>
                <a:latin typeface="Calibri"/>
                <a:ea typeface="Calibri"/>
                <a:cs typeface="Calibri"/>
                <a:sym typeface="Calibri"/>
              </a:rPr>
              <a:t>	30 + 50 + 50 = </a:t>
            </a:r>
            <a:r>
              <a:rPr b="1" lang="es-ES" sz="2000">
                <a:solidFill>
                  <a:schemeClr val="dk1"/>
                </a:solidFill>
                <a:latin typeface="Calibri"/>
                <a:ea typeface="Calibri"/>
                <a:cs typeface="Calibri"/>
                <a:sym typeface="Calibri"/>
              </a:rPr>
              <a:t>130€					</a:t>
            </a:r>
            <a:r>
              <a:rPr lang="es-ES" sz="2000">
                <a:solidFill>
                  <a:schemeClr val="dk1"/>
                </a:solidFill>
                <a:latin typeface="Calibri"/>
                <a:ea typeface="Calibri"/>
                <a:cs typeface="Calibri"/>
                <a:sym typeface="Calibri"/>
              </a:rPr>
              <a:t>50 + 50 = </a:t>
            </a:r>
            <a:r>
              <a:rPr b="1" lang="es-ES" sz="2000">
                <a:solidFill>
                  <a:schemeClr val="dk1"/>
                </a:solidFill>
                <a:latin typeface="Calibri"/>
                <a:ea typeface="Calibri"/>
                <a:cs typeface="Calibri"/>
                <a:sym typeface="Calibri"/>
              </a:rPr>
              <a:t>100 €			   50 €</a:t>
            </a:r>
            <a:endParaRPr b="1" sz="1100">
              <a:solidFill>
                <a:schemeClr val="dk1"/>
              </a:solidFill>
              <a:latin typeface="Calibri"/>
              <a:ea typeface="Calibri"/>
              <a:cs typeface="Calibri"/>
              <a:sym typeface="Calibri"/>
            </a:endParaRPr>
          </a:p>
          <a:p>
            <a:pPr indent="0" lvl="0" marL="0" marR="0" rtl="0" algn="l">
              <a:lnSpc>
                <a:spcPct val="150000"/>
              </a:lnSpc>
              <a:spcBef>
                <a:spcPts val="0"/>
              </a:spcBef>
              <a:spcAft>
                <a:spcPts val="0"/>
              </a:spcAft>
              <a:buNone/>
            </a:pPr>
            <a:r>
              <a:t/>
            </a:r>
            <a:endParaRPr b="1" sz="1200">
              <a:solidFill>
                <a:srgbClr val="F12DD5"/>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83"/>
          <p:cNvSpPr txBox="1"/>
          <p:nvPr/>
        </p:nvSpPr>
        <p:spPr>
          <a:xfrm>
            <a:off x="825457" y="1627649"/>
            <a:ext cx="11247481" cy="2992302"/>
          </a:xfrm>
          <a:prstGeom prst="rect">
            <a:avLst/>
          </a:prstGeom>
          <a:noFill/>
          <a:ln>
            <a:noFill/>
          </a:ln>
        </p:spPr>
        <p:txBody>
          <a:bodyPr anchorCtr="0" anchor="ctr" bIns="60950" lIns="60950" spcFirstLastPara="1" rIns="60950" wrap="square" tIns="60950">
            <a:noAutofit/>
          </a:bodyPr>
          <a:lstStyle/>
          <a:p>
            <a:pPr indent="0" lvl="0" marL="0" marR="0" rtl="0" algn="l">
              <a:lnSpc>
                <a:spcPct val="150000"/>
              </a:lnSpc>
              <a:spcBef>
                <a:spcPts val="0"/>
              </a:spcBef>
              <a:spcAft>
                <a:spcPts val="0"/>
              </a:spcAft>
              <a:buNone/>
            </a:pPr>
            <a:r>
              <a:rPr lang="es-ES" sz="1600">
                <a:solidFill>
                  <a:schemeClr val="dk1"/>
                </a:solidFill>
                <a:latin typeface="Calibri"/>
                <a:ea typeface="Calibri"/>
                <a:cs typeface="Calibri"/>
                <a:sym typeface="Calibri"/>
              </a:rPr>
              <a:t>Traspaso de efectivo a su cuenta</a:t>
            </a:r>
            <a:r>
              <a:rPr b="1" lang="es-ES" sz="1600">
                <a:solidFill>
                  <a:schemeClr val="dk1"/>
                </a:solidFill>
                <a:latin typeface="Calibri"/>
                <a:ea typeface="Calibri"/>
                <a:cs typeface="Calibri"/>
                <a:sym typeface="Calibri"/>
              </a:rPr>
              <a:t>. </a:t>
            </a:r>
            <a:r>
              <a:rPr lang="es-ES" sz="1600">
                <a:solidFill>
                  <a:schemeClr val="dk1"/>
                </a:solidFill>
                <a:latin typeface="Calibri"/>
                <a:ea typeface="Calibri"/>
                <a:cs typeface="Calibri"/>
                <a:sym typeface="Calibri"/>
              </a:rPr>
              <a:t>La forma de pago es </a:t>
            </a:r>
            <a:r>
              <a:rPr b="1" lang="es-ES" sz="1600">
                <a:solidFill>
                  <a:schemeClr val="dk1"/>
                </a:solidFill>
                <a:latin typeface="Calibri"/>
                <a:ea typeface="Calibri"/>
                <a:cs typeface="Calibri"/>
                <a:sym typeface="Calibri"/>
              </a:rPr>
              <a:t>aplazado</a:t>
            </a:r>
            <a:r>
              <a:rPr lang="es-ES" sz="1600">
                <a:solidFill>
                  <a:schemeClr val="dk1"/>
                </a:solidFill>
                <a:latin typeface="Calibri"/>
                <a:ea typeface="Calibri"/>
                <a:cs typeface="Calibri"/>
                <a:sym typeface="Calibri"/>
              </a:rPr>
              <a:t> (revolver) y se devolverá como una compra más, según tenga establecido en su tarjeta, siendo </a:t>
            </a:r>
            <a:r>
              <a:rPr b="1" lang="es-ES" sz="1600">
                <a:solidFill>
                  <a:srgbClr val="F12DD5"/>
                </a:solidFill>
                <a:latin typeface="Calibri"/>
                <a:ea typeface="Calibri"/>
                <a:cs typeface="Calibri"/>
                <a:sym typeface="Calibri"/>
              </a:rPr>
              <a:t>el mínimo del 3% del saldo dispuesto y 30€ </a:t>
            </a:r>
            <a:r>
              <a:rPr lang="es-ES" sz="1600">
                <a:solidFill>
                  <a:schemeClr val="dk1"/>
                </a:solidFill>
                <a:latin typeface="Calibri"/>
                <a:ea typeface="Calibri"/>
                <a:cs typeface="Calibri"/>
                <a:sym typeface="Calibri"/>
              </a:rPr>
              <a:t>(18€ y 2,5% en clientes antiguos).</a:t>
            </a:r>
            <a:r>
              <a:rPr b="1" lang="es-ES" sz="1600">
                <a:solidFill>
                  <a:schemeClr val="dk1"/>
                </a:solidFill>
                <a:latin typeface="Calibri"/>
                <a:ea typeface="Calibri"/>
                <a:cs typeface="Calibri"/>
                <a:sym typeface="Calibri"/>
              </a:rPr>
              <a:t> Puede transferir desde 200€ hasta el 75% de  la totalidad de su saldo disponible </a:t>
            </a:r>
            <a:r>
              <a:rPr lang="es-ES" sz="1600">
                <a:solidFill>
                  <a:schemeClr val="dk1"/>
                </a:solidFill>
                <a:latin typeface="Calibri"/>
                <a:ea typeface="Calibri"/>
                <a:cs typeface="Calibri"/>
                <a:sym typeface="Calibri"/>
              </a:rPr>
              <a:t>(siempre que se mantenga un mínimo en el saldo de la tarjeta). (Si el cliente dispone de 4000€, su 75% es 3000€ 🡪 4000 * 0,75= 3000).</a:t>
            </a:r>
            <a:endParaRPr sz="1600">
              <a:solidFill>
                <a:schemeClr val="dk1"/>
              </a:solidFill>
              <a:latin typeface="Calibri"/>
              <a:ea typeface="Calibri"/>
              <a:cs typeface="Calibri"/>
              <a:sym typeface="Calibri"/>
            </a:endParaRPr>
          </a:p>
          <a:p>
            <a:pPr indent="0" lvl="0" marL="0" marR="0" rtl="0" algn="l">
              <a:lnSpc>
                <a:spcPct val="150000"/>
              </a:lnSpc>
              <a:spcBef>
                <a:spcPts val="0"/>
              </a:spcBef>
              <a:spcAft>
                <a:spcPts val="0"/>
              </a:spcAft>
              <a:buNone/>
            </a:pPr>
            <a:r>
              <a:rPr b="1" lang="es-ES" sz="1600">
                <a:solidFill>
                  <a:srgbClr val="F12DD5"/>
                </a:solidFill>
                <a:latin typeface="Calibri"/>
                <a:ea typeface="Calibri"/>
                <a:cs typeface="Calibri"/>
                <a:sym typeface="Calibri"/>
              </a:rPr>
              <a:t>MAPFRE siempre hay que dejar mínimo 1000€ en tarjeta. </a:t>
            </a:r>
            <a:r>
              <a:rPr lang="es-ES" sz="1600">
                <a:solidFill>
                  <a:schemeClr val="dk1"/>
                </a:solidFill>
                <a:latin typeface="Calibri"/>
                <a:ea typeface="Calibri"/>
                <a:cs typeface="Calibri"/>
                <a:sym typeface="Calibri"/>
              </a:rPr>
              <a:t>(Si el cliente dispone de 4000€, su 75% es 3000€ 🡪 4000 * 0,75= 3000, por lo que dejaríamos 2000€ en cuenta).</a:t>
            </a:r>
            <a:endParaRPr sz="1200">
              <a:solidFill>
                <a:schemeClr val="dk1"/>
              </a:solidFill>
              <a:latin typeface="Calibri"/>
              <a:ea typeface="Calibri"/>
              <a:cs typeface="Calibri"/>
              <a:sym typeface="Calibri"/>
            </a:endParaRPr>
          </a:p>
          <a:p>
            <a:pPr indent="0" lvl="0" marL="0" marR="0" rtl="0" algn="l">
              <a:lnSpc>
                <a:spcPct val="150000"/>
              </a:lnSpc>
              <a:spcBef>
                <a:spcPts val="0"/>
              </a:spcBef>
              <a:spcAft>
                <a:spcPts val="0"/>
              </a:spcAft>
              <a:buNone/>
            </a:pPr>
            <a:r>
              <a:t/>
            </a:r>
            <a:endParaRPr sz="1200">
              <a:solidFill>
                <a:schemeClr val="dk1"/>
              </a:solidFill>
              <a:latin typeface="Calibri"/>
              <a:ea typeface="Calibri"/>
              <a:cs typeface="Calibri"/>
              <a:sym typeface="Calibri"/>
            </a:endParaRPr>
          </a:p>
        </p:txBody>
      </p:sp>
      <p:pic>
        <p:nvPicPr>
          <p:cNvPr descr="Flecha Naranja Pegatina PNG transparente - StickPNG" id="222" name="Google Shape;222;p83"/>
          <p:cNvPicPr preferRelativeResize="0"/>
          <p:nvPr/>
        </p:nvPicPr>
        <p:blipFill rotWithShape="1">
          <a:blip r:embed="rId3">
            <a:alphaModFix/>
          </a:blip>
          <a:srcRect b="0" l="0" r="0" t="0"/>
          <a:stretch/>
        </p:blipFill>
        <p:spPr>
          <a:xfrm>
            <a:off x="80031" y="1728410"/>
            <a:ext cx="754251" cy="754251"/>
          </a:xfrm>
          <a:prstGeom prst="rect">
            <a:avLst/>
          </a:prstGeom>
          <a:noFill/>
          <a:ln>
            <a:noFill/>
          </a:ln>
        </p:spPr>
      </p:pic>
      <p:sp>
        <p:nvSpPr>
          <p:cNvPr id="223" name="Google Shape;223;p83"/>
          <p:cNvSpPr txBox="1"/>
          <p:nvPr/>
        </p:nvSpPr>
        <p:spPr>
          <a:xfrm>
            <a:off x="825456" y="5654311"/>
            <a:ext cx="4070090" cy="601569"/>
          </a:xfrm>
          <a:prstGeom prst="rect">
            <a:avLst/>
          </a:prstGeom>
          <a:noFill/>
          <a:ln>
            <a:noFill/>
          </a:ln>
        </p:spPr>
        <p:txBody>
          <a:bodyPr anchorCtr="0" anchor="ctr" bIns="60950" lIns="60950" spcFirstLastPara="1" rIns="60950" wrap="square" tIns="60950">
            <a:noAutofit/>
          </a:bodyPr>
          <a:lstStyle/>
          <a:p>
            <a:pPr indent="0" lvl="0" marL="0" marR="0" rtl="0" algn="l">
              <a:lnSpc>
                <a:spcPct val="150000"/>
              </a:lnSpc>
              <a:spcBef>
                <a:spcPts val="0"/>
              </a:spcBef>
              <a:spcAft>
                <a:spcPts val="0"/>
              </a:spcAft>
              <a:buNone/>
            </a:pPr>
            <a:r>
              <a:rPr b="1" lang="es-ES" sz="1600">
                <a:solidFill>
                  <a:srgbClr val="F12DD5"/>
                </a:solidFill>
                <a:latin typeface="Calibri"/>
                <a:ea typeface="Calibri"/>
                <a:cs typeface="Calibri"/>
                <a:sym typeface="Calibri"/>
              </a:rPr>
              <a:t> TIN 18,36%  y TAE 19,99% / promoción *</a:t>
            </a:r>
            <a:endParaRPr b="1" sz="1200">
              <a:solidFill>
                <a:srgbClr val="F12DD5"/>
              </a:solidFill>
              <a:latin typeface="Calibri"/>
              <a:ea typeface="Calibri"/>
              <a:cs typeface="Calibri"/>
              <a:sym typeface="Calibri"/>
            </a:endParaRPr>
          </a:p>
        </p:txBody>
      </p:sp>
      <p:pic>
        <p:nvPicPr>
          <p:cNvPr descr="Flecha Naranja Pegatina PNG transparente - StickPNG" id="224" name="Google Shape;224;p83"/>
          <p:cNvPicPr preferRelativeResize="0"/>
          <p:nvPr/>
        </p:nvPicPr>
        <p:blipFill rotWithShape="1">
          <a:blip r:embed="rId3">
            <a:alphaModFix/>
          </a:blip>
          <a:srcRect b="0" l="0" r="0" t="0"/>
          <a:stretch/>
        </p:blipFill>
        <p:spPr>
          <a:xfrm>
            <a:off x="80029" y="5562941"/>
            <a:ext cx="754251" cy="754251"/>
          </a:xfrm>
          <a:prstGeom prst="rect">
            <a:avLst/>
          </a:prstGeom>
          <a:noFill/>
          <a:ln>
            <a:noFill/>
          </a:ln>
        </p:spPr>
      </p:pic>
      <p:sp>
        <p:nvSpPr>
          <p:cNvPr id="225" name="Google Shape;225;p83"/>
          <p:cNvSpPr txBox="1"/>
          <p:nvPr/>
        </p:nvSpPr>
        <p:spPr>
          <a:xfrm>
            <a:off x="825456" y="4567124"/>
            <a:ext cx="11247482" cy="918975"/>
          </a:xfrm>
          <a:prstGeom prst="rect">
            <a:avLst/>
          </a:prstGeom>
          <a:noFill/>
          <a:ln>
            <a:noFill/>
          </a:ln>
        </p:spPr>
        <p:txBody>
          <a:bodyPr anchorCtr="0" anchor="ctr" bIns="60950" lIns="60950" spcFirstLastPara="1" rIns="60950" wrap="square" tIns="60950">
            <a:noAutofit/>
          </a:bodyPr>
          <a:lstStyle/>
          <a:p>
            <a:pPr indent="0" lvl="0" marL="0" marR="0" rtl="0" algn="l">
              <a:lnSpc>
                <a:spcPct val="150000"/>
              </a:lnSpc>
              <a:spcBef>
                <a:spcPts val="0"/>
              </a:spcBef>
              <a:spcAft>
                <a:spcPts val="0"/>
              </a:spcAft>
              <a:buNone/>
            </a:pPr>
            <a:r>
              <a:rPr lang="es-ES" sz="1600">
                <a:solidFill>
                  <a:schemeClr val="dk1"/>
                </a:solidFill>
                <a:latin typeface="Calibri"/>
                <a:ea typeface="Calibri"/>
                <a:cs typeface="Calibri"/>
                <a:sym typeface="Calibri"/>
              </a:rPr>
              <a:t>Puede subir, bajar la cuota o modificar el método de pago de su tarjeta, siempre que se produzca </a:t>
            </a:r>
            <a:r>
              <a:rPr b="1" lang="es-ES" sz="1600">
                <a:solidFill>
                  <a:schemeClr val="dk1"/>
                </a:solidFill>
                <a:latin typeface="Calibri"/>
                <a:ea typeface="Calibri"/>
                <a:cs typeface="Calibri"/>
                <a:sym typeface="Calibri"/>
              </a:rPr>
              <a:t>al menos cinco días antes de finalizar el mes de liquidación </a:t>
            </a:r>
            <a:r>
              <a:rPr lang="es-ES" sz="1600">
                <a:solidFill>
                  <a:schemeClr val="dk1"/>
                </a:solidFill>
                <a:latin typeface="Calibri"/>
                <a:ea typeface="Calibri"/>
                <a:cs typeface="Calibri"/>
                <a:sym typeface="Calibri"/>
              </a:rPr>
              <a:t>(web o 900 811 311). (Ejemplo según calendario)</a:t>
            </a:r>
            <a:endParaRPr/>
          </a:p>
          <a:p>
            <a:pPr indent="0" lvl="0" marL="0" marR="0" rtl="0" algn="l">
              <a:spcBef>
                <a:spcPts val="0"/>
              </a:spcBef>
              <a:spcAft>
                <a:spcPts val="0"/>
              </a:spcAft>
              <a:buNone/>
            </a:pPr>
            <a:r>
              <a:t/>
            </a:r>
            <a:endParaRPr b="1" sz="1200">
              <a:solidFill>
                <a:schemeClr val="dk1"/>
              </a:solidFill>
              <a:latin typeface="Calibri"/>
              <a:ea typeface="Calibri"/>
              <a:cs typeface="Calibri"/>
              <a:sym typeface="Calibri"/>
            </a:endParaRPr>
          </a:p>
        </p:txBody>
      </p:sp>
      <p:pic>
        <p:nvPicPr>
          <p:cNvPr descr="Flecha Naranja Pegatina PNG transparente - StickPNG" id="226" name="Google Shape;226;p83"/>
          <p:cNvPicPr preferRelativeResize="0"/>
          <p:nvPr/>
        </p:nvPicPr>
        <p:blipFill rotWithShape="1">
          <a:blip r:embed="rId3">
            <a:alphaModFix/>
          </a:blip>
          <a:srcRect b="0" l="0" r="0" t="0"/>
          <a:stretch/>
        </p:blipFill>
        <p:spPr>
          <a:xfrm>
            <a:off x="80030" y="4377488"/>
            <a:ext cx="754251" cy="754251"/>
          </a:xfrm>
          <a:prstGeom prst="rect">
            <a:avLst/>
          </a:prstGeom>
          <a:noFill/>
          <a:ln>
            <a:noFill/>
          </a:ln>
        </p:spPr>
      </p:pic>
      <p:pic>
        <p:nvPicPr>
          <p:cNvPr id="227" name="Google Shape;227;p83"/>
          <p:cNvPicPr preferRelativeResize="0"/>
          <p:nvPr/>
        </p:nvPicPr>
        <p:blipFill rotWithShape="1">
          <a:blip r:embed="rId4">
            <a:alphaModFix/>
          </a:blip>
          <a:srcRect b="0" l="0" r="0" t="0"/>
          <a:stretch/>
        </p:blipFill>
        <p:spPr>
          <a:xfrm rot="10800000">
            <a:off x="0" y="627066"/>
            <a:ext cx="12192000" cy="860425"/>
          </a:xfrm>
          <a:prstGeom prst="rect">
            <a:avLst/>
          </a:prstGeom>
          <a:noFill/>
          <a:ln>
            <a:noFill/>
          </a:ln>
        </p:spPr>
      </p:pic>
      <p:sp>
        <p:nvSpPr>
          <p:cNvPr id="228" name="Google Shape;228;p83"/>
          <p:cNvSpPr txBox="1"/>
          <p:nvPr/>
        </p:nvSpPr>
        <p:spPr>
          <a:xfrm>
            <a:off x="3031958" y="197750"/>
            <a:ext cx="5662864"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dk1"/>
                </a:solidFill>
                <a:latin typeface="Calibri"/>
                <a:ea typeface="Calibri"/>
                <a:cs typeface="Calibri"/>
                <a:sym typeface="Calibri"/>
              </a:rPr>
              <a:t>NUESTRO PRODUCTO</a:t>
            </a:r>
            <a:endParaRPr b="1" sz="2400">
              <a:solidFill>
                <a:srgbClr val="F12DD5"/>
              </a:solidFill>
              <a:latin typeface="Calibri"/>
              <a:ea typeface="Calibri"/>
              <a:cs typeface="Calibri"/>
              <a:sym typeface="Calibri"/>
            </a:endParaRPr>
          </a:p>
        </p:txBody>
      </p:sp>
      <p:sp>
        <p:nvSpPr>
          <p:cNvPr id="229" name="Google Shape;229;p83"/>
          <p:cNvSpPr txBox="1"/>
          <p:nvPr/>
        </p:nvSpPr>
        <p:spPr>
          <a:xfrm>
            <a:off x="80031" y="1088731"/>
            <a:ext cx="566286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rgbClr val="F12DD5"/>
                </a:solidFill>
                <a:latin typeface="Calibri"/>
                <a:ea typeface="Calibri"/>
                <a:cs typeface="Calibri"/>
                <a:sym typeface="Calibri"/>
              </a:rPr>
              <a:t>CREDIMAX REVOLVER</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pic>
        <p:nvPicPr>
          <p:cNvPr id="234" name="Google Shape;234;p84"/>
          <p:cNvPicPr preferRelativeResize="0"/>
          <p:nvPr/>
        </p:nvPicPr>
        <p:blipFill rotWithShape="1">
          <a:blip r:embed="rId3">
            <a:alphaModFix/>
          </a:blip>
          <a:srcRect b="0" l="0" r="0" t="0"/>
          <a:stretch/>
        </p:blipFill>
        <p:spPr>
          <a:xfrm rot="10800000">
            <a:off x="0" y="627066"/>
            <a:ext cx="12192000" cy="860425"/>
          </a:xfrm>
          <a:prstGeom prst="rect">
            <a:avLst/>
          </a:prstGeom>
          <a:noFill/>
          <a:ln>
            <a:noFill/>
          </a:ln>
        </p:spPr>
      </p:pic>
      <p:sp>
        <p:nvSpPr>
          <p:cNvPr id="235" name="Google Shape;235;p84"/>
          <p:cNvSpPr txBox="1"/>
          <p:nvPr/>
        </p:nvSpPr>
        <p:spPr>
          <a:xfrm>
            <a:off x="825457" y="1364379"/>
            <a:ext cx="11247481" cy="1291736"/>
          </a:xfrm>
          <a:prstGeom prst="rect">
            <a:avLst/>
          </a:prstGeom>
          <a:noFill/>
          <a:ln>
            <a:noFill/>
          </a:ln>
        </p:spPr>
        <p:txBody>
          <a:bodyPr anchorCtr="0" anchor="ctr" bIns="60950" lIns="60950" spcFirstLastPara="1" rIns="60950" wrap="square" tIns="60950">
            <a:noAutofit/>
          </a:bodyPr>
          <a:lstStyle/>
          <a:p>
            <a:pPr indent="0" lvl="0" marL="0" marR="0" rtl="0" algn="l">
              <a:lnSpc>
                <a:spcPct val="150000"/>
              </a:lnSpc>
              <a:spcBef>
                <a:spcPts val="0"/>
              </a:spcBef>
              <a:spcAft>
                <a:spcPts val="0"/>
              </a:spcAft>
              <a:buNone/>
            </a:pPr>
            <a:r>
              <a:rPr lang="es-ES" sz="1600">
                <a:solidFill>
                  <a:schemeClr val="dk1"/>
                </a:solidFill>
                <a:latin typeface="Calibri"/>
                <a:ea typeface="Calibri"/>
                <a:cs typeface="Calibri"/>
                <a:sym typeface="Calibri"/>
              </a:rPr>
              <a:t>Si el cliente ya paga una cuota por compras y/o traspasos, se aglutina y se paga una única cuota:</a:t>
            </a:r>
            <a:endParaRPr sz="1200">
              <a:solidFill>
                <a:schemeClr val="dk1"/>
              </a:solidFill>
              <a:latin typeface="Calibri"/>
              <a:ea typeface="Calibri"/>
              <a:cs typeface="Calibri"/>
              <a:sym typeface="Calibri"/>
            </a:endParaRPr>
          </a:p>
          <a:p>
            <a:pPr indent="0" lvl="0" marL="0" marR="0" rtl="0" algn="l">
              <a:lnSpc>
                <a:spcPct val="150000"/>
              </a:lnSpc>
              <a:spcBef>
                <a:spcPts val="0"/>
              </a:spcBef>
              <a:spcAft>
                <a:spcPts val="0"/>
              </a:spcAft>
              <a:buNone/>
            </a:pPr>
            <a:r>
              <a:t/>
            </a:r>
            <a:endParaRPr b="1" sz="1200">
              <a:solidFill>
                <a:srgbClr val="F12DD5"/>
              </a:solidFill>
              <a:latin typeface="Calibri"/>
              <a:ea typeface="Calibri"/>
              <a:cs typeface="Calibri"/>
              <a:sym typeface="Calibri"/>
            </a:endParaRPr>
          </a:p>
        </p:txBody>
      </p:sp>
      <p:pic>
        <p:nvPicPr>
          <p:cNvPr descr="Flecha Naranja Pegatina PNG transparente - StickPNG" id="236" name="Google Shape;236;p84"/>
          <p:cNvPicPr preferRelativeResize="0"/>
          <p:nvPr/>
        </p:nvPicPr>
        <p:blipFill rotWithShape="1">
          <a:blip r:embed="rId4">
            <a:alphaModFix/>
          </a:blip>
          <a:srcRect b="0" l="0" r="0" t="0"/>
          <a:stretch/>
        </p:blipFill>
        <p:spPr>
          <a:xfrm>
            <a:off x="80031" y="1506934"/>
            <a:ext cx="754251" cy="754251"/>
          </a:xfrm>
          <a:prstGeom prst="rect">
            <a:avLst/>
          </a:prstGeom>
          <a:noFill/>
          <a:ln>
            <a:noFill/>
          </a:ln>
        </p:spPr>
      </p:pic>
      <p:sp>
        <p:nvSpPr>
          <p:cNvPr id="237" name="Google Shape;237;p84"/>
          <p:cNvSpPr txBox="1"/>
          <p:nvPr/>
        </p:nvSpPr>
        <p:spPr>
          <a:xfrm>
            <a:off x="3031958" y="197750"/>
            <a:ext cx="5662864"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dk1"/>
                </a:solidFill>
                <a:latin typeface="Calibri"/>
                <a:ea typeface="Calibri"/>
                <a:cs typeface="Calibri"/>
                <a:sym typeface="Calibri"/>
              </a:rPr>
              <a:t>NUESTRO PRODUCTO</a:t>
            </a:r>
            <a:endParaRPr b="1" sz="2400">
              <a:solidFill>
                <a:srgbClr val="F12DD5"/>
              </a:solidFill>
              <a:latin typeface="Calibri"/>
              <a:ea typeface="Calibri"/>
              <a:cs typeface="Calibri"/>
              <a:sym typeface="Calibri"/>
            </a:endParaRPr>
          </a:p>
        </p:txBody>
      </p:sp>
      <p:sp>
        <p:nvSpPr>
          <p:cNvPr id="238" name="Google Shape;238;p84"/>
          <p:cNvSpPr txBox="1"/>
          <p:nvPr/>
        </p:nvSpPr>
        <p:spPr>
          <a:xfrm>
            <a:off x="80031" y="1088731"/>
            <a:ext cx="566286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rgbClr val="F12DD5"/>
                </a:solidFill>
                <a:latin typeface="Calibri"/>
                <a:ea typeface="Calibri"/>
                <a:cs typeface="Calibri"/>
                <a:sym typeface="Calibri"/>
              </a:rPr>
              <a:t>CREDIMAX REVOLVER</a:t>
            </a:r>
            <a:endParaRPr/>
          </a:p>
        </p:txBody>
      </p:sp>
      <p:sp>
        <p:nvSpPr>
          <p:cNvPr id="239" name="Google Shape;239;p84"/>
          <p:cNvSpPr/>
          <p:nvPr/>
        </p:nvSpPr>
        <p:spPr>
          <a:xfrm>
            <a:off x="706395" y="2253832"/>
            <a:ext cx="10660148" cy="2506854"/>
          </a:xfrm>
          <a:prstGeom prst="rect">
            <a:avLst/>
          </a:prstGeom>
          <a:solidFill>
            <a:srgbClr val="F12DD5"/>
          </a:solidFill>
          <a:ln>
            <a:noFill/>
          </a:ln>
          <a:effectLst>
            <a:outerShdw blurRad="63500" sx="102000" rotWithShape="0" algn="ctr" sy="1020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s-ES" sz="1800">
                <a:solidFill>
                  <a:schemeClr val="lt1"/>
                </a:solidFill>
                <a:latin typeface="Calibri"/>
                <a:ea typeface="Calibri"/>
                <a:cs typeface="Calibri"/>
                <a:sym typeface="Calibri"/>
              </a:rPr>
              <a:t>TRASPASO 700 € ENERO 🡪 30€</a:t>
            </a:r>
            <a:endParaRPr/>
          </a:p>
          <a:p>
            <a:pPr indent="0" lvl="0" marL="0" marR="0" rtl="0" algn="ctr">
              <a:spcBef>
                <a:spcPts val="0"/>
              </a:spcBef>
              <a:spcAft>
                <a:spcPts val="0"/>
              </a:spcAft>
              <a:buNone/>
            </a:pPr>
            <a:r>
              <a:rPr lang="es-ES" sz="1800">
                <a:solidFill>
                  <a:schemeClr val="lt1"/>
                </a:solidFill>
                <a:latin typeface="Calibri"/>
                <a:ea typeface="Calibri"/>
                <a:cs typeface="Calibri"/>
                <a:sym typeface="Calibri"/>
              </a:rPr>
              <a:t>COMPRAS 500 € FEBRERO 🡪 36 € (Deja de pagar 30 y pasa a 36)</a:t>
            </a:r>
            <a:endParaRPr/>
          </a:p>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a:p>
            <a:pPr indent="0" lvl="0" marL="0" marR="0" rtl="0" algn="ctr">
              <a:spcBef>
                <a:spcPts val="0"/>
              </a:spcBef>
              <a:spcAft>
                <a:spcPts val="0"/>
              </a:spcAft>
              <a:buNone/>
            </a:pPr>
            <a:r>
              <a:rPr lang="es-ES" sz="1800">
                <a:solidFill>
                  <a:schemeClr val="lt1"/>
                </a:solidFill>
                <a:latin typeface="Calibri"/>
                <a:ea typeface="Calibri"/>
                <a:cs typeface="Calibri"/>
                <a:sym typeface="Calibri"/>
              </a:rPr>
              <a:t>TRASPASO 2000 € AGOSTO 🡪 99 € (Deja de pagar 36 y pasa a 99 )</a:t>
            </a:r>
            <a:endParaRPr/>
          </a:p>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a:p>
            <a:pPr indent="0" lvl="0" marL="0" marR="0" rtl="0" algn="ctr">
              <a:spcBef>
                <a:spcPts val="0"/>
              </a:spcBef>
              <a:spcAft>
                <a:spcPts val="0"/>
              </a:spcAft>
              <a:buNone/>
            </a:pPr>
            <a:r>
              <a:rPr lang="es-ES" sz="1800">
                <a:solidFill>
                  <a:schemeClr val="lt1"/>
                </a:solidFill>
                <a:latin typeface="Calibri"/>
                <a:ea typeface="Calibri"/>
                <a:cs typeface="Calibri"/>
                <a:sym typeface="Calibri"/>
              </a:rPr>
              <a:t>TRASPASO 500 € DICIEMBRE 🡪  114 € (Deja de pagar 99 y pasa a 114)  </a:t>
            </a:r>
            <a:endParaRPr sz="1800">
              <a:solidFill>
                <a:schemeClr val="lt1"/>
              </a:solidFill>
              <a:latin typeface="Calibri"/>
              <a:ea typeface="Calibri"/>
              <a:cs typeface="Calibri"/>
              <a:sym typeface="Calibri"/>
            </a:endParaRPr>
          </a:p>
        </p:txBody>
      </p:sp>
      <p:sp>
        <p:nvSpPr>
          <p:cNvPr id="240" name="Google Shape;240;p84"/>
          <p:cNvSpPr txBox="1"/>
          <p:nvPr/>
        </p:nvSpPr>
        <p:spPr>
          <a:xfrm>
            <a:off x="706395" y="5123401"/>
            <a:ext cx="11247481" cy="1291736"/>
          </a:xfrm>
          <a:prstGeom prst="rect">
            <a:avLst/>
          </a:prstGeom>
          <a:noFill/>
          <a:ln>
            <a:noFill/>
          </a:ln>
        </p:spPr>
        <p:txBody>
          <a:bodyPr anchorCtr="0" anchor="ctr" bIns="60950" lIns="60950" spcFirstLastPara="1" rIns="60950" wrap="square" tIns="60950">
            <a:noAutofit/>
          </a:bodyPr>
          <a:lstStyle/>
          <a:p>
            <a:pPr indent="0" lvl="0" marL="0" marR="0" rtl="0" algn="l">
              <a:lnSpc>
                <a:spcPct val="150000"/>
              </a:lnSpc>
              <a:spcBef>
                <a:spcPts val="0"/>
              </a:spcBef>
              <a:spcAft>
                <a:spcPts val="0"/>
              </a:spcAft>
              <a:buNone/>
            </a:pPr>
            <a:r>
              <a:rPr lang="es-ES" sz="1600">
                <a:solidFill>
                  <a:schemeClr val="dk1"/>
                </a:solidFill>
                <a:latin typeface="Calibri"/>
                <a:ea typeface="Calibri"/>
                <a:cs typeface="Calibri"/>
                <a:sym typeface="Calibri"/>
              </a:rPr>
              <a:t>No indicamos cuando el cliente finalizará los pagos, porque depende del uso que le de a su tarjeta y de la cuota que ponga.</a:t>
            </a:r>
            <a:endParaRPr sz="1200">
              <a:solidFill>
                <a:schemeClr val="dk1"/>
              </a:solidFill>
              <a:latin typeface="Calibri"/>
              <a:ea typeface="Calibri"/>
              <a:cs typeface="Calibri"/>
              <a:sym typeface="Calibri"/>
            </a:endParaRPr>
          </a:p>
          <a:p>
            <a:pPr indent="0" lvl="0" marL="0" marR="0" rtl="0" algn="l">
              <a:lnSpc>
                <a:spcPct val="150000"/>
              </a:lnSpc>
              <a:spcBef>
                <a:spcPts val="0"/>
              </a:spcBef>
              <a:spcAft>
                <a:spcPts val="0"/>
              </a:spcAft>
              <a:buNone/>
            </a:pPr>
            <a:r>
              <a:t/>
            </a:r>
            <a:endParaRPr b="1" sz="1200">
              <a:solidFill>
                <a:srgbClr val="F12DD5"/>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4" name="Shape 244"/>
        <p:cNvGrpSpPr/>
        <p:nvPr/>
      </p:nvGrpSpPr>
      <p:grpSpPr>
        <a:xfrm>
          <a:off x="0" y="0"/>
          <a:ext cx="0" cy="0"/>
          <a:chOff x="0" y="0"/>
          <a:chExt cx="0" cy="0"/>
        </a:xfrm>
      </p:grpSpPr>
      <p:pic>
        <p:nvPicPr>
          <p:cNvPr descr="Flecha Naranja Pegatina PNG transparente - StickPNG" id="245" name="Google Shape;245;p85"/>
          <p:cNvPicPr preferRelativeResize="0"/>
          <p:nvPr/>
        </p:nvPicPr>
        <p:blipFill rotWithShape="1">
          <a:blip r:embed="rId3">
            <a:alphaModFix/>
          </a:blip>
          <a:srcRect b="0" l="0" r="0" t="0"/>
          <a:stretch/>
        </p:blipFill>
        <p:spPr>
          <a:xfrm>
            <a:off x="80031" y="1438124"/>
            <a:ext cx="754251" cy="754251"/>
          </a:xfrm>
          <a:prstGeom prst="rect">
            <a:avLst/>
          </a:prstGeom>
          <a:noFill/>
          <a:ln>
            <a:noFill/>
          </a:ln>
        </p:spPr>
      </p:pic>
      <p:pic>
        <p:nvPicPr>
          <p:cNvPr id="246" name="Google Shape;246;p85"/>
          <p:cNvPicPr preferRelativeResize="0"/>
          <p:nvPr/>
        </p:nvPicPr>
        <p:blipFill rotWithShape="1">
          <a:blip r:embed="rId4">
            <a:alphaModFix/>
          </a:blip>
          <a:srcRect b="0" l="0" r="0" t="0"/>
          <a:stretch/>
        </p:blipFill>
        <p:spPr>
          <a:xfrm rot="10800000">
            <a:off x="0" y="627066"/>
            <a:ext cx="12192000" cy="860425"/>
          </a:xfrm>
          <a:prstGeom prst="rect">
            <a:avLst/>
          </a:prstGeom>
          <a:noFill/>
          <a:ln>
            <a:noFill/>
          </a:ln>
        </p:spPr>
      </p:pic>
      <p:sp>
        <p:nvSpPr>
          <p:cNvPr id="247" name="Google Shape;247;p85"/>
          <p:cNvSpPr txBox="1"/>
          <p:nvPr/>
        </p:nvSpPr>
        <p:spPr>
          <a:xfrm>
            <a:off x="3031958" y="197750"/>
            <a:ext cx="5662864"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ES" sz="2400">
                <a:solidFill>
                  <a:schemeClr val="dk1"/>
                </a:solidFill>
                <a:latin typeface="Calibri"/>
                <a:ea typeface="Calibri"/>
                <a:cs typeface="Calibri"/>
                <a:sym typeface="Calibri"/>
              </a:rPr>
              <a:t>NUESTRO PRODUCTO</a:t>
            </a:r>
            <a:endParaRPr b="1" sz="2400">
              <a:solidFill>
                <a:srgbClr val="F12DD5"/>
              </a:solidFill>
              <a:latin typeface="Calibri"/>
              <a:ea typeface="Calibri"/>
              <a:cs typeface="Calibri"/>
              <a:sym typeface="Calibri"/>
            </a:endParaRPr>
          </a:p>
        </p:txBody>
      </p:sp>
      <p:sp>
        <p:nvSpPr>
          <p:cNvPr id="248" name="Google Shape;248;p85"/>
          <p:cNvSpPr txBox="1"/>
          <p:nvPr/>
        </p:nvSpPr>
        <p:spPr>
          <a:xfrm>
            <a:off x="80030" y="1088731"/>
            <a:ext cx="1199290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2400">
                <a:solidFill>
                  <a:srgbClr val="F12DD5"/>
                </a:solidFill>
                <a:latin typeface="Calibri"/>
                <a:ea typeface="Calibri"/>
                <a:cs typeface="Calibri"/>
                <a:sym typeface="Calibri"/>
              </a:rPr>
              <a:t>				TRANSACTOR 													REVOLVER</a:t>
            </a:r>
            <a:endParaRPr/>
          </a:p>
        </p:txBody>
      </p:sp>
      <p:sp>
        <p:nvSpPr>
          <p:cNvPr id="249" name="Google Shape;249;p85"/>
          <p:cNvSpPr txBox="1"/>
          <p:nvPr/>
        </p:nvSpPr>
        <p:spPr>
          <a:xfrm>
            <a:off x="834282" y="1739082"/>
            <a:ext cx="4123914" cy="754251"/>
          </a:xfrm>
          <a:prstGeom prst="rect">
            <a:avLst/>
          </a:prstGeom>
          <a:noFill/>
          <a:ln>
            <a:noFill/>
          </a:ln>
        </p:spPr>
        <p:txBody>
          <a:bodyPr anchorCtr="0" anchor="ctr" bIns="60950" lIns="60950" spcFirstLastPara="1" rIns="60950" wrap="square" tIns="60950">
            <a:noAutofit/>
          </a:bodyPr>
          <a:lstStyle/>
          <a:p>
            <a:pPr indent="0" lvl="0" marL="0" marR="0" rtl="0" algn="l">
              <a:lnSpc>
                <a:spcPct val="150000"/>
              </a:lnSpc>
              <a:spcBef>
                <a:spcPts val="0"/>
              </a:spcBef>
              <a:spcAft>
                <a:spcPts val="0"/>
              </a:spcAft>
              <a:buNone/>
            </a:pPr>
            <a:r>
              <a:rPr lang="es-ES" sz="1600">
                <a:solidFill>
                  <a:schemeClr val="dk1"/>
                </a:solidFill>
                <a:latin typeface="Calibri"/>
                <a:ea typeface="Calibri"/>
                <a:cs typeface="Calibri"/>
                <a:sym typeface="Calibri"/>
              </a:rPr>
              <a:t>Traspaso de efectivo, de 3 – 36 cuotas.</a:t>
            </a:r>
            <a:br>
              <a:rPr lang="es-ES" sz="1600">
                <a:solidFill>
                  <a:schemeClr val="dk1"/>
                </a:solidFill>
                <a:latin typeface="Calibri"/>
                <a:ea typeface="Calibri"/>
                <a:cs typeface="Calibri"/>
                <a:sym typeface="Calibri"/>
              </a:rPr>
            </a:br>
            <a:r>
              <a:rPr lang="es-ES" sz="1600">
                <a:solidFill>
                  <a:schemeClr val="dk1"/>
                </a:solidFill>
                <a:latin typeface="Calibri"/>
                <a:ea typeface="Calibri"/>
                <a:cs typeface="Calibri"/>
                <a:sym typeface="Calibri"/>
              </a:rPr>
              <a:t>Resto de compras en pago total o fin de mes.</a:t>
            </a:r>
            <a:br>
              <a:rPr lang="es-ES" sz="16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p:txBody>
      </p:sp>
      <p:sp>
        <p:nvSpPr>
          <p:cNvPr id="250" name="Google Shape;250;p85"/>
          <p:cNvSpPr txBox="1"/>
          <p:nvPr/>
        </p:nvSpPr>
        <p:spPr>
          <a:xfrm>
            <a:off x="834282" y="2555945"/>
            <a:ext cx="4123914" cy="1306250"/>
          </a:xfrm>
          <a:prstGeom prst="rect">
            <a:avLst/>
          </a:prstGeom>
          <a:noFill/>
          <a:ln>
            <a:noFill/>
          </a:ln>
        </p:spPr>
        <p:txBody>
          <a:bodyPr anchorCtr="0" anchor="ctr" bIns="60950" lIns="60950" spcFirstLastPara="1" rIns="60950" wrap="square" tIns="60950">
            <a:noAutofit/>
          </a:bodyPr>
          <a:lstStyle/>
          <a:p>
            <a:pPr indent="0" lvl="0" marL="0" marR="0" rtl="0" algn="l">
              <a:lnSpc>
                <a:spcPct val="150000"/>
              </a:lnSpc>
              <a:spcBef>
                <a:spcPts val="0"/>
              </a:spcBef>
              <a:spcAft>
                <a:spcPts val="0"/>
              </a:spcAft>
              <a:buNone/>
            </a:pPr>
            <a:r>
              <a:rPr lang="es-ES" sz="1600">
                <a:solidFill>
                  <a:schemeClr val="dk1"/>
                </a:solidFill>
                <a:latin typeface="Calibri"/>
                <a:ea typeface="Calibri"/>
                <a:cs typeface="Calibri"/>
                <a:sym typeface="Calibri"/>
              </a:rPr>
              <a:t>Cuota mínima 30€. Traspaso min 90€ - max 75% del saldo disponible. </a:t>
            </a:r>
            <a:br>
              <a:rPr lang="es-ES" sz="1600">
                <a:solidFill>
                  <a:schemeClr val="dk1"/>
                </a:solidFill>
                <a:latin typeface="Calibri"/>
                <a:ea typeface="Calibri"/>
                <a:cs typeface="Calibri"/>
                <a:sym typeface="Calibri"/>
              </a:rPr>
            </a:br>
            <a:r>
              <a:rPr lang="es-ES" sz="1600">
                <a:solidFill>
                  <a:schemeClr val="dk1"/>
                </a:solidFill>
                <a:latin typeface="Calibri"/>
                <a:ea typeface="Calibri"/>
                <a:cs typeface="Calibri"/>
                <a:sym typeface="Calibri"/>
              </a:rPr>
              <a:t>(a excepción que el cliente solicite 100%).</a:t>
            </a:r>
            <a:br>
              <a:rPr lang="es-ES" sz="16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p:txBody>
      </p:sp>
      <p:sp>
        <p:nvSpPr>
          <p:cNvPr id="251" name="Google Shape;251;p85"/>
          <p:cNvSpPr txBox="1"/>
          <p:nvPr/>
        </p:nvSpPr>
        <p:spPr>
          <a:xfrm>
            <a:off x="834282" y="3862195"/>
            <a:ext cx="4123914" cy="1306250"/>
          </a:xfrm>
          <a:prstGeom prst="rect">
            <a:avLst/>
          </a:prstGeom>
          <a:noFill/>
          <a:ln>
            <a:noFill/>
          </a:ln>
        </p:spPr>
        <p:txBody>
          <a:bodyPr anchorCtr="0" anchor="ctr" bIns="60950" lIns="60950" spcFirstLastPara="1" rIns="60950" wrap="square" tIns="60950">
            <a:noAutofit/>
          </a:bodyPr>
          <a:lstStyle/>
          <a:p>
            <a:pPr indent="0" lvl="0" marL="0" marR="0" rtl="0" algn="l">
              <a:lnSpc>
                <a:spcPct val="150000"/>
              </a:lnSpc>
              <a:spcBef>
                <a:spcPts val="0"/>
              </a:spcBef>
              <a:spcAft>
                <a:spcPts val="0"/>
              </a:spcAft>
              <a:buNone/>
            </a:pPr>
            <a:r>
              <a:rPr lang="es-ES" sz="1600">
                <a:solidFill>
                  <a:schemeClr val="dk1"/>
                </a:solidFill>
                <a:latin typeface="Calibri"/>
                <a:ea typeface="Calibri"/>
                <a:cs typeface="Calibri"/>
                <a:sym typeface="Calibri"/>
              </a:rPr>
              <a:t>Cuota mínima 30€. Traspaso min 90€ - max 75% del saldo disponible. </a:t>
            </a:r>
            <a:br>
              <a:rPr lang="es-ES" sz="1600">
                <a:solidFill>
                  <a:schemeClr val="dk1"/>
                </a:solidFill>
                <a:latin typeface="Calibri"/>
                <a:ea typeface="Calibri"/>
                <a:cs typeface="Calibri"/>
                <a:sym typeface="Calibri"/>
              </a:rPr>
            </a:br>
            <a:r>
              <a:rPr lang="es-ES" sz="1600">
                <a:solidFill>
                  <a:schemeClr val="dk1"/>
                </a:solidFill>
                <a:latin typeface="Calibri"/>
                <a:ea typeface="Calibri"/>
                <a:cs typeface="Calibri"/>
                <a:sym typeface="Calibri"/>
              </a:rPr>
              <a:t>(a excepción que el cliente solicite 100%).</a:t>
            </a:r>
            <a:br>
              <a:rPr lang="es-ES" sz="16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Tema de 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2020-05-18T09:52:19Z</dcterms:created>
  <dc:creator>Mario Pliego Hernández</dc:creator>
</cp:coreProperties>
</file>