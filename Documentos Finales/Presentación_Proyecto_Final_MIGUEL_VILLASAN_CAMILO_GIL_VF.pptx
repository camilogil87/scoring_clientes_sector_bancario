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4">
          <p15:clr>
            <a:srgbClr val="9AA0A6"/>
          </p15:clr>
        </p15:guide>
        <p15:guide id="2" orient="horz" pos="1959">
          <p15:clr>
            <a:srgbClr val="9AA0A6"/>
          </p15:clr>
        </p15:guide>
        <p15:guide id="3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iRuDfem/gFVK+NoYXQYTNA/pp8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4" orient="horz"/>
        <p:guide pos="1959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Miguel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Camilo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Camilo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Camilo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Camilo / Miguel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Miguel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Camilo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Camilo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Camilo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Miguel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Miguel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Miguel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Camilo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Camilo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Miguel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Miguel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Miguel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Camilo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Miguel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2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Pd_rjgV4l9M" TargetMode="External"/><Relationship Id="rId5" Type="http://schemas.openxmlformats.org/officeDocument/2006/relationships/image" Target="../media/image26.png"/><Relationship Id="rId6" Type="http://schemas.openxmlformats.org/officeDocument/2006/relationships/image" Target="../media/image2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OTI 5 1 1">
  <p:cSld name="CUSTOM_2_1_1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96727" y="252600"/>
            <a:ext cx="488825" cy="49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604075" y="4495326"/>
            <a:ext cx="2618250" cy="214662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42"/>
          <p:cNvSpPr/>
          <p:nvPr/>
        </p:nvSpPr>
        <p:spPr>
          <a:xfrm rot="279855">
            <a:off x="-1324211" y="3707799"/>
            <a:ext cx="2139786" cy="1854151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9050">
            <a:solidFill>
              <a:srgbClr val="E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42"/>
          <p:cNvSpPr txBox="1"/>
          <p:nvPr/>
        </p:nvSpPr>
        <p:spPr>
          <a:xfrm>
            <a:off x="1788" y="4910063"/>
            <a:ext cx="914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-ES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</a:t>
            </a:r>
            <a:r>
              <a:rPr b="0" i="0" lang="es-ES" sz="600" u="none" cap="none" strike="noStrike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s-ES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2022 Todos los derechos reservados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69077" y="308425"/>
            <a:ext cx="488825" cy="49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8" name="Google Shape;18;p42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OTI 3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21" name="Google Shape;21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96727" y="252600"/>
            <a:ext cx="488825" cy="49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3"/>
          <p:cNvSpPr txBox="1"/>
          <p:nvPr/>
        </p:nvSpPr>
        <p:spPr>
          <a:xfrm>
            <a:off x="-95362" y="4904063"/>
            <a:ext cx="914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-ES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</a:t>
            </a:r>
            <a:r>
              <a:rPr b="0" i="0" lang="es-ES" sz="600" u="none" cap="none" strike="noStrike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s-ES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2022 Todos los derechos reservados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43"/>
          <p:cNvPicPr preferRelativeResize="0"/>
          <p:nvPr/>
        </p:nvPicPr>
        <p:blipFill rotWithShape="1">
          <a:blip r:embed="rId3">
            <a:alphaModFix amt="58999"/>
          </a:blip>
          <a:srcRect b="0" l="0" r="0" t="0"/>
          <a:stretch/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43"/>
          <p:cNvPicPr preferRelativeResize="0"/>
          <p:nvPr/>
        </p:nvPicPr>
        <p:blipFill rotWithShape="1">
          <a:blip r:embed="rId4">
            <a:alphaModFix amt="75000"/>
          </a:blip>
          <a:srcRect b="0" l="0" r="0" t="0"/>
          <a:stretch/>
        </p:blipFill>
        <p:spPr>
          <a:xfrm rot="-7070521">
            <a:off x="-1315457" y="3990513"/>
            <a:ext cx="3213387" cy="2393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96727" y="252600"/>
            <a:ext cx="488825" cy="49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OTI 10">
  <p:cSld name="CUSTOM_9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92088" y="-44812"/>
            <a:ext cx="9236099" cy="5233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6727" y="252600"/>
            <a:ext cx="488825" cy="493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" name="Google Shape;29;p44"/>
          <p:cNvCxnSpPr/>
          <p:nvPr/>
        </p:nvCxnSpPr>
        <p:spPr>
          <a:xfrm>
            <a:off x="2756000" y="1734125"/>
            <a:ext cx="0" cy="2781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44"/>
          <p:cNvCxnSpPr/>
          <p:nvPr/>
        </p:nvCxnSpPr>
        <p:spPr>
          <a:xfrm>
            <a:off x="6175250" y="1734125"/>
            <a:ext cx="0" cy="2781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44"/>
          <p:cNvSpPr txBox="1"/>
          <p:nvPr/>
        </p:nvSpPr>
        <p:spPr>
          <a:xfrm>
            <a:off x="3154150" y="4904075"/>
            <a:ext cx="2641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-ES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</a:t>
            </a:r>
            <a:r>
              <a:rPr b="0" i="0" lang="es-ES" sz="600" u="none" cap="none" strike="noStrike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s-ES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2022 Todos los derechos reservados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" name="Google Shape;32;p44"/>
          <p:cNvCxnSpPr/>
          <p:nvPr/>
        </p:nvCxnSpPr>
        <p:spPr>
          <a:xfrm>
            <a:off x="562350" y="3184425"/>
            <a:ext cx="74646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4" name="Google Shape;34;p44"/>
          <p:cNvSpPr txBox="1"/>
          <p:nvPr>
            <p:ph idx="2" type="sldNum"/>
          </p:nvPr>
        </p:nvSpPr>
        <p:spPr>
          <a:xfrm>
            <a:off x="8624858" y="4815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OTI 5">
  <p:cSld name="CUSTOM_2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96727" y="252600"/>
            <a:ext cx="488825" cy="49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604075" y="4495326"/>
            <a:ext cx="2618250" cy="214662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5"/>
          <p:cNvSpPr/>
          <p:nvPr/>
        </p:nvSpPr>
        <p:spPr>
          <a:xfrm rot="279855">
            <a:off x="-1324211" y="3707799"/>
            <a:ext cx="2139786" cy="1854151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9050">
            <a:solidFill>
              <a:srgbClr val="E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5"/>
          <p:cNvSpPr txBox="1"/>
          <p:nvPr/>
        </p:nvSpPr>
        <p:spPr>
          <a:xfrm>
            <a:off x="1788" y="4910063"/>
            <a:ext cx="914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-ES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</a:t>
            </a:r>
            <a:r>
              <a:rPr b="0" i="0" lang="es-ES" sz="600" u="none" cap="none" strike="noStrike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s-ES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2022 Todos los derechos reservados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Google Shape;40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69077" y="308425"/>
            <a:ext cx="488825" cy="493675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2" name="Google Shape;42;p45"/>
          <p:cNvSpPr/>
          <p:nvPr/>
        </p:nvSpPr>
        <p:spPr>
          <a:xfrm>
            <a:off x="303200" y="1149875"/>
            <a:ext cx="8346000" cy="16509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5"/>
          <p:cNvSpPr/>
          <p:nvPr/>
        </p:nvSpPr>
        <p:spPr>
          <a:xfrm>
            <a:off x="4965575" y="1643675"/>
            <a:ext cx="2695200" cy="268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5"/>
          <p:cNvSpPr/>
          <p:nvPr/>
        </p:nvSpPr>
        <p:spPr>
          <a:xfrm>
            <a:off x="1438025" y="1643675"/>
            <a:ext cx="2695200" cy="268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OTI 1 2">
  <p:cSld name="CUSTOM_13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96727" y="252600"/>
            <a:ext cx="488825" cy="4936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7"/>
          <p:cNvSpPr txBox="1"/>
          <p:nvPr/>
        </p:nvSpPr>
        <p:spPr>
          <a:xfrm>
            <a:off x="2829050" y="1739000"/>
            <a:ext cx="578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7"/>
          <p:cNvSpPr txBox="1"/>
          <p:nvPr/>
        </p:nvSpPr>
        <p:spPr>
          <a:xfrm>
            <a:off x="773025" y="2186850"/>
            <a:ext cx="74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7"/>
          <p:cNvSpPr txBox="1"/>
          <p:nvPr/>
        </p:nvSpPr>
        <p:spPr>
          <a:xfrm rot="-5400000">
            <a:off x="1017200" y="2746450"/>
            <a:ext cx="74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7"/>
          <p:cNvSpPr txBox="1"/>
          <p:nvPr/>
        </p:nvSpPr>
        <p:spPr>
          <a:xfrm>
            <a:off x="1194750" y="3606825"/>
            <a:ext cx="3763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A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A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" name="Google Shape;51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75249" y="-1202201"/>
            <a:ext cx="3321617" cy="24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7"/>
          <p:cNvSpPr txBox="1"/>
          <p:nvPr/>
        </p:nvSpPr>
        <p:spPr>
          <a:xfrm>
            <a:off x="2647500" y="4866600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-ES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</a:t>
            </a:r>
            <a:r>
              <a:rPr b="0" i="0" lang="es-ES" sz="600" u="none" cap="none" strike="noStrike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s-ES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2022 Todos los derechos reservados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7"/>
          <p:cNvSpPr/>
          <p:nvPr/>
        </p:nvSpPr>
        <p:spPr>
          <a:xfrm>
            <a:off x="758000" y="1212825"/>
            <a:ext cx="2313900" cy="268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7"/>
          <p:cNvSpPr/>
          <p:nvPr/>
        </p:nvSpPr>
        <p:spPr>
          <a:xfrm>
            <a:off x="3415050" y="1231200"/>
            <a:ext cx="2313900" cy="268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7"/>
          <p:cNvSpPr/>
          <p:nvPr/>
        </p:nvSpPr>
        <p:spPr>
          <a:xfrm>
            <a:off x="6072100" y="1231200"/>
            <a:ext cx="2313900" cy="268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OTI 4">
  <p:cSld name="CUSTOM_3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48"/>
          <p:cNvPicPr preferRelativeResize="0"/>
          <p:nvPr/>
        </p:nvPicPr>
        <p:blipFill rotWithShape="1">
          <a:blip r:embed="rId2">
            <a:alphaModFix amt="23000"/>
          </a:blip>
          <a:srcRect b="639" l="-380" r="380" t="-640"/>
          <a:stretch/>
        </p:blipFill>
        <p:spPr>
          <a:xfrm>
            <a:off x="-1939200" y="-66887"/>
            <a:ext cx="1234922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171547">
            <a:off x="-288069" y="1471096"/>
            <a:ext cx="2300186" cy="171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78">
            <a:off x="7160402" y="3173139"/>
            <a:ext cx="1687494" cy="125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3052" y="233862"/>
            <a:ext cx="488825" cy="4936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48"/>
          <p:cNvSpPr txBox="1"/>
          <p:nvPr/>
        </p:nvSpPr>
        <p:spPr>
          <a:xfrm>
            <a:off x="-69037" y="4885326"/>
            <a:ext cx="914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-ES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</a:t>
            </a:r>
            <a:r>
              <a:rPr b="0" i="0" lang="es-ES" sz="600" u="none" cap="none" strike="noStrike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s-ES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2022 Todos los derechos reservados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6" name="Google Shape;66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67" name="Google Shape;67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7089329">
            <a:off x="-629583" y="4253435"/>
            <a:ext cx="1830868" cy="1363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5228" y="3285020"/>
            <a:ext cx="1735794" cy="47405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2"/>
          <p:cNvSpPr txBox="1"/>
          <p:nvPr/>
        </p:nvSpPr>
        <p:spPr>
          <a:xfrm>
            <a:off x="-95362" y="4904063"/>
            <a:ext cx="914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-ES" sz="6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©</a:t>
            </a:r>
            <a:r>
              <a:rPr b="0" i="0" lang="es-ES" sz="600" u="none" cap="none" strike="noStrike">
                <a:solidFill>
                  <a:srgbClr val="F3F3F3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s-ES" sz="6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2022 Todos los derechos reservados</a:t>
            </a:r>
            <a:endParaRPr b="0" i="0" sz="6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 2">
  <p:cSld name="CUSTOM_14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53"/>
          <p:cNvGrpSpPr/>
          <p:nvPr/>
        </p:nvGrpSpPr>
        <p:grpSpPr>
          <a:xfrm>
            <a:off x="0" y="0"/>
            <a:ext cx="9143998" cy="5144026"/>
            <a:chOff x="2687266" y="1155148"/>
            <a:chExt cx="15588132" cy="7988858"/>
          </a:xfrm>
        </p:grpSpPr>
        <p:pic>
          <p:nvPicPr>
            <p:cNvPr id="73" name="Google Shape;73;p53"/>
            <p:cNvPicPr preferRelativeResize="0"/>
            <p:nvPr/>
          </p:nvPicPr>
          <p:blipFill rotWithShape="1">
            <a:blip r:embed="rId2">
              <a:alphaModFix/>
            </a:blip>
            <a:srcRect b="0" l="0" r="22575" t="12633"/>
            <a:stretch/>
          </p:blipFill>
          <p:spPr>
            <a:xfrm>
              <a:off x="5689609" y="1155148"/>
              <a:ext cx="12585789" cy="79888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53"/>
            <p:cNvPicPr preferRelativeResize="0"/>
            <p:nvPr/>
          </p:nvPicPr>
          <p:blipFill rotWithShape="1">
            <a:blip r:embed="rId2">
              <a:alphaModFix/>
            </a:blip>
            <a:srcRect b="0" l="0" r="89510" t="12633"/>
            <a:stretch/>
          </p:blipFill>
          <p:spPr>
            <a:xfrm flipH="1">
              <a:off x="2687266" y="1155148"/>
              <a:ext cx="3021394" cy="798885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5" name="Google Shape;7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6727" y="252600"/>
            <a:ext cx="488825" cy="49367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OTI 1">
  <p:cSld name="CUSTOM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96727" y="252600"/>
            <a:ext cx="488825" cy="49367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4"/>
          <p:cNvSpPr txBox="1"/>
          <p:nvPr/>
        </p:nvSpPr>
        <p:spPr>
          <a:xfrm>
            <a:off x="2829050" y="1739000"/>
            <a:ext cx="578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4"/>
          <p:cNvSpPr txBox="1"/>
          <p:nvPr/>
        </p:nvSpPr>
        <p:spPr>
          <a:xfrm>
            <a:off x="773025" y="2186850"/>
            <a:ext cx="74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4"/>
          <p:cNvSpPr txBox="1"/>
          <p:nvPr/>
        </p:nvSpPr>
        <p:spPr>
          <a:xfrm rot="-5400000">
            <a:off x="1017200" y="2746450"/>
            <a:ext cx="74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4"/>
          <p:cNvSpPr txBox="1"/>
          <p:nvPr/>
        </p:nvSpPr>
        <p:spPr>
          <a:xfrm>
            <a:off x="1194750" y="3606825"/>
            <a:ext cx="3763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A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A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75249" y="-1202201"/>
            <a:ext cx="3321617" cy="24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4"/>
          <p:cNvSpPr txBox="1"/>
          <p:nvPr/>
        </p:nvSpPr>
        <p:spPr>
          <a:xfrm>
            <a:off x="2647500" y="4866600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-ES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</a:t>
            </a:r>
            <a:r>
              <a:rPr b="0" i="0" lang="es-ES" sz="600" u="none" cap="none" strike="noStrike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s-ES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2022 Todos los derechos reservados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OTI 1 1 1">
  <p:cSld name="CUSTOM_12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96727" y="252600"/>
            <a:ext cx="488825" cy="49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75249" y="-1202201"/>
            <a:ext cx="3321617" cy="24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55"/>
          <p:cNvSpPr txBox="1"/>
          <p:nvPr/>
        </p:nvSpPr>
        <p:spPr>
          <a:xfrm>
            <a:off x="2647500" y="4866600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-ES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</a:t>
            </a:r>
            <a:r>
              <a:rPr b="0" i="0" lang="es-ES" sz="600" u="none" cap="none" strike="noStrike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s-ES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2022 Todos los derechos reservados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5"/>
          <p:cNvSpPr/>
          <p:nvPr/>
        </p:nvSpPr>
        <p:spPr>
          <a:xfrm>
            <a:off x="303200" y="1149875"/>
            <a:ext cx="8346000" cy="493800"/>
          </a:xfrm>
          <a:prstGeom prst="rect">
            <a:avLst/>
          </a:prstGeom>
          <a:solidFill>
            <a:srgbClr val="E8437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92" name="Google Shape;92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8000" y="1643663"/>
            <a:ext cx="2183650" cy="206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80175" y="1643663"/>
            <a:ext cx="2183650" cy="206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52350" y="1643663"/>
            <a:ext cx="2183650" cy="206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OTI 5 1 2">
  <p:cSld name="CUSTOM_2_1_2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96727" y="252600"/>
            <a:ext cx="488825" cy="49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604075" y="4495326"/>
            <a:ext cx="2618250" cy="214662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6"/>
          <p:cNvSpPr/>
          <p:nvPr/>
        </p:nvSpPr>
        <p:spPr>
          <a:xfrm rot="279855">
            <a:off x="-1324211" y="3707799"/>
            <a:ext cx="2139786" cy="1854151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9050">
            <a:solidFill>
              <a:srgbClr val="E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6"/>
          <p:cNvSpPr txBox="1"/>
          <p:nvPr/>
        </p:nvSpPr>
        <p:spPr>
          <a:xfrm>
            <a:off x="1788" y="4910063"/>
            <a:ext cx="914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-ES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</a:t>
            </a:r>
            <a:r>
              <a:rPr b="0" i="0" lang="es-ES" sz="600" u="none" cap="none" strike="noStrike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s-ES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2022 Todos los derechos reservados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69077" y="308425"/>
            <a:ext cx="488825" cy="49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102" name="Google Shape;102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9575" y="1714138"/>
            <a:ext cx="2183650" cy="206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9525" y="1714138"/>
            <a:ext cx="2183650" cy="206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9475" y="1699500"/>
            <a:ext cx="2183650" cy="206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OTI 8">
  <p:cSld name="CUSTOM_6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480650" y="26325"/>
            <a:ext cx="10291149" cy="514557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7"/>
          <p:cNvSpPr/>
          <p:nvPr/>
        </p:nvSpPr>
        <p:spPr>
          <a:xfrm flipH="1">
            <a:off x="-980250" y="-190475"/>
            <a:ext cx="7872600" cy="5980800"/>
          </a:xfrm>
          <a:prstGeom prst="parallelogram">
            <a:avLst>
              <a:gd fmla="val 43187" name="adj"/>
            </a:avLst>
          </a:prstGeom>
          <a:solidFill>
            <a:srgbClr val="007EFF">
              <a:alpha val="7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6727" y="278925"/>
            <a:ext cx="488825" cy="49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7"/>
          <p:cNvSpPr/>
          <p:nvPr/>
        </p:nvSpPr>
        <p:spPr>
          <a:xfrm>
            <a:off x="485450" y="725263"/>
            <a:ext cx="630600" cy="39000"/>
          </a:xfrm>
          <a:prstGeom prst="rect">
            <a:avLst/>
          </a:prstGeom>
          <a:solidFill>
            <a:srgbClr val="000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7"/>
          <p:cNvSpPr txBox="1"/>
          <p:nvPr/>
        </p:nvSpPr>
        <p:spPr>
          <a:xfrm>
            <a:off x="2731800" y="4930400"/>
            <a:ext cx="348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-ES" sz="6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©</a:t>
            </a:r>
            <a:r>
              <a:rPr b="0" i="0" lang="es-ES" sz="600" u="none" cap="none" strike="noStrike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s-ES" sz="6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2022 Todos los derechos reservados</a:t>
            </a:r>
            <a:endParaRPr b="0" i="0" sz="6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OTI 9">
  <p:cSld name="CUSTOM_8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978100" y="4575598"/>
            <a:ext cx="5114926" cy="105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6727" y="252600"/>
            <a:ext cx="488825" cy="49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8"/>
          <p:cNvSpPr/>
          <p:nvPr/>
        </p:nvSpPr>
        <p:spPr>
          <a:xfrm>
            <a:off x="485450" y="698938"/>
            <a:ext cx="630600" cy="39000"/>
          </a:xfrm>
          <a:prstGeom prst="rect">
            <a:avLst/>
          </a:prstGeom>
          <a:solidFill>
            <a:srgbClr val="007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8"/>
          <p:cNvSpPr txBox="1"/>
          <p:nvPr/>
        </p:nvSpPr>
        <p:spPr>
          <a:xfrm>
            <a:off x="2731800" y="4904075"/>
            <a:ext cx="348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-ES" sz="6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©</a:t>
            </a:r>
            <a:r>
              <a:rPr b="0" i="0" lang="es-ES" sz="600" u="none" cap="none" strike="noStrike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s-ES" sz="6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2022 Todos los derechos reservados</a:t>
            </a:r>
            <a:endParaRPr b="0" i="0" sz="6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>
  <p:cSld name="TITLE_ONLY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" name="Google Shape;119;p59"/>
          <p:cNvCxnSpPr/>
          <p:nvPr/>
        </p:nvCxnSpPr>
        <p:spPr>
          <a:xfrm>
            <a:off x="383722" y="0"/>
            <a:ext cx="0" cy="5143500"/>
          </a:xfrm>
          <a:prstGeom prst="straightConnector1">
            <a:avLst/>
          </a:prstGeom>
          <a:noFill/>
          <a:ln cap="flat" cmpd="sng" w="28575">
            <a:solidFill>
              <a:srgbClr val="E8437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59"/>
          <p:cNvSpPr/>
          <p:nvPr/>
        </p:nvSpPr>
        <p:spPr>
          <a:xfrm>
            <a:off x="6545452" y="4809641"/>
            <a:ext cx="25398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</a:pPr>
            <a:r>
              <a:rPr b="0" i="0" lang="es-ES" sz="7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© 2022 Todos los derechos reservados </a:t>
            </a:r>
            <a:r>
              <a:rPr b="1" i="0" lang="es-ES" sz="7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fld id="{00000000-1234-1234-1234-123412341234}" type="slidenum">
              <a:rPr b="1" i="0" lang="es-ES" sz="7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4799" y="149455"/>
            <a:ext cx="1207825" cy="29238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CUSTOM_1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36200" y="-18737"/>
            <a:ext cx="9144001" cy="5180967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0"/>
          <p:cNvSpPr txBox="1"/>
          <p:nvPr/>
        </p:nvSpPr>
        <p:spPr>
          <a:xfrm>
            <a:off x="3600" y="4512600"/>
            <a:ext cx="914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p60"/>
          <p:cNvCxnSpPr/>
          <p:nvPr/>
        </p:nvCxnSpPr>
        <p:spPr>
          <a:xfrm>
            <a:off x="1386700" y="4488350"/>
            <a:ext cx="6298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7" name="Google Shape;12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6263" y="1647175"/>
            <a:ext cx="2800742" cy="76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6650" y="2507528"/>
            <a:ext cx="2904099" cy="47794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0"/>
          <p:cNvSpPr txBox="1"/>
          <p:nvPr/>
        </p:nvSpPr>
        <p:spPr>
          <a:xfrm>
            <a:off x="-93562" y="4842738"/>
            <a:ext cx="914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-E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©</a:t>
            </a:r>
            <a:r>
              <a:rPr b="0" i="0" lang="es-ES" sz="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s-E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2022 Todos los derechos reservados</a:t>
            </a:r>
            <a:endParaRPr b="0" i="0" sz="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 3 1 1">
  <p:cSld name="Solo el título 3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1"/>
          <p:cNvSpPr/>
          <p:nvPr/>
        </p:nvSpPr>
        <p:spPr>
          <a:xfrm>
            <a:off x="6915220" y="4816500"/>
            <a:ext cx="21699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</a:pPr>
            <a:r>
              <a:rPr b="0" i="0" lang="es-ES" sz="7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© 2022 Todos los derechos reservados </a:t>
            </a:r>
            <a:r>
              <a:rPr b="1" i="0" lang="es-ES" sz="7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fld id="{00000000-1234-1234-1234-123412341234}" type="slidenum">
              <a:rPr b="1" i="0" lang="es-ES" sz="7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p61"/>
          <p:cNvCxnSpPr/>
          <p:nvPr/>
        </p:nvCxnSpPr>
        <p:spPr>
          <a:xfrm>
            <a:off x="383722" y="0"/>
            <a:ext cx="0" cy="5143500"/>
          </a:xfrm>
          <a:prstGeom prst="straightConnector1">
            <a:avLst/>
          </a:prstGeom>
          <a:noFill/>
          <a:ln cap="flat" cmpd="sng" w="28575">
            <a:solidFill>
              <a:srgbClr val="00177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4" name="Google Shape;134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225" y="176800"/>
            <a:ext cx="792000" cy="368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61"/>
          <p:cNvCxnSpPr/>
          <p:nvPr/>
        </p:nvCxnSpPr>
        <p:spPr>
          <a:xfrm>
            <a:off x="398099" y="305718"/>
            <a:ext cx="536100" cy="0"/>
          </a:xfrm>
          <a:prstGeom prst="straightConnector1">
            <a:avLst/>
          </a:prstGeom>
          <a:noFill/>
          <a:ln cap="flat" cmpd="sng" w="25400">
            <a:solidFill>
              <a:srgbClr val="00177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6" name="Google Shape;136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600390">
            <a:off x="-1866799" y="3885352"/>
            <a:ext cx="4443487" cy="343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 3 1 2">
  <p:cSld name="TITLE_ONLY_3_1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2"/>
          <p:cNvSpPr/>
          <p:nvPr/>
        </p:nvSpPr>
        <p:spPr>
          <a:xfrm>
            <a:off x="6915220" y="4816500"/>
            <a:ext cx="21699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</a:pPr>
            <a:r>
              <a:rPr b="0" i="0" lang="es-ES" sz="7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© 2022 Todos los derechos reservados </a:t>
            </a:r>
            <a:r>
              <a:rPr b="1" i="0" lang="es-ES" sz="7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fld id="{00000000-1234-1234-1234-123412341234}" type="slidenum">
              <a:rPr b="1" i="0" lang="es-ES" sz="7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62"/>
          <p:cNvCxnSpPr/>
          <p:nvPr/>
        </p:nvCxnSpPr>
        <p:spPr>
          <a:xfrm>
            <a:off x="383722" y="0"/>
            <a:ext cx="0" cy="5143500"/>
          </a:xfrm>
          <a:prstGeom prst="straightConnector1">
            <a:avLst/>
          </a:prstGeom>
          <a:noFill/>
          <a:ln cap="flat" cmpd="sng" w="28575">
            <a:solidFill>
              <a:srgbClr val="00177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1" name="Google Shape;141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225" y="176800"/>
            <a:ext cx="792000" cy="3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 1">
  <p:cSld name="CUSTOM_10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034"/>
            <a:ext cx="9143998" cy="5145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6727" y="252600"/>
            <a:ext cx="488825" cy="49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63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14850" y="1614600"/>
            <a:ext cx="1914301" cy="1914325"/>
          </a:xfrm>
          <a:prstGeom prst="rect">
            <a:avLst/>
          </a:prstGeom>
          <a:noFill/>
          <a:ln>
            <a:noFill/>
          </a:ln>
          <a:effectLst>
            <a:outerShdw blurRad="357188" rotWithShape="0" algn="bl">
              <a:srgbClr val="000000">
                <a:alpha val="30196"/>
              </a:srgbClr>
            </a:outerShdw>
          </a:effectLst>
        </p:spPr>
      </p:pic>
      <p:pic>
        <p:nvPicPr>
          <p:cNvPr id="147" name="Google Shape;147;p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29156" y="2928575"/>
            <a:ext cx="554069" cy="86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2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34.jpg"/><Relationship Id="rId7" Type="http://schemas.openxmlformats.org/officeDocument/2006/relationships/image" Target="../media/image3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jp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42.png"/><Relationship Id="rId10" Type="http://schemas.openxmlformats.org/officeDocument/2006/relationships/image" Target="../media/image40.png"/><Relationship Id="rId13" Type="http://schemas.openxmlformats.org/officeDocument/2006/relationships/image" Target="../media/image47.png"/><Relationship Id="rId1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9" Type="http://schemas.openxmlformats.org/officeDocument/2006/relationships/image" Target="../media/image60.png"/><Relationship Id="rId15" Type="http://schemas.openxmlformats.org/officeDocument/2006/relationships/image" Target="../media/image56.png"/><Relationship Id="rId14" Type="http://schemas.openxmlformats.org/officeDocument/2006/relationships/image" Target="../media/image44.png"/><Relationship Id="rId5" Type="http://schemas.openxmlformats.org/officeDocument/2006/relationships/image" Target="../media/image32.png"/><Relationship Id="rId6" Type="http://schemas.openxmlformats.org/officeDocument/2006/relationships/image" Target="../media/image43.png"/><Relationship Id="rId7" Type="http://schemas.openxmlformats.org/officeDocument/2006/relationships/image" Target="../media/image55.png"/><Relationship Id="rId8" Type="http://schemas.openxmlformats.org/officeDocument/2006/relationships/image" Target="../media/image3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4.png"/><Relationship Id="rId4" Type="http://schemas.openxmlformats.org/officeDocument/2006/relationships/image" Target="../media/image50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67.jpg"/><Relationship Id="rId10" Type="http://schemas.openxmlformats.org/officeDocument/2006/relationships/image" Target="../media/image59.jp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8.png"/><Relationship Id="rId4" Type="http://schemas.openxmlformats.org/officeDocument/2006/relationships/image" Target="../media/image51.jpg"/><Relationship Id="rId9" Type="http://schemas.openxmlformats.org/officeDocument/2006/relationships/image" Target="../media/image57.png"/><Relationship Id="rId5" Type="http://schemas.openxmlformats.org/officeDocument/2006/relationships/image" Target="../media/image53.jpg"/><Relationship Id="rId6" Type="http://schemas.openxmlformats.org/officeDocument/2006/relationships/image" Target="../media/image52.jpg"/><Relationship Id="rId7" Type="http://schemas.openxmlformats.org/officeDocument/2006/relationships/image" Target="../media/image61.jpg"/><Relationship Id="rId8" Type="http://schemas.openxmlformats.org/officeDocument/2006/relationships/image" Target="../media/image6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4.jp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77.jpg"/><Relationship Id="rId10" Type="http://schemas.openxmlformats.org/officeDocument/2006/relationships/image" Target="../media/image72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9.png"/><Relationship Id="rId4" Type="http://schemas.openxmlformats.org/officeDocument/2006/relationships/image" Target="../media/image73.jpg"/><Relationship Id="rId9" Type="http://schemas.openxmlformats.org/officeDocument/2006/relationships/image" Target="../media/image64.jpg"/><Relationship Id="rId5" Type="http://schemas.openxmlformats.org/officeDocument/2006/relationships/image" Target="../media/image75.jpg"/><Relationship Id="rId6" Type="http://schemas.openxmlformats.org/officeDocument/2006/relationships/image" Target="../media/image70.jpg"/><Relationship Id="rId7" Type="http://schemas.openxmlformats.org/officeDocument/2006/relationships/image" Target="../media/image63.png"/><Relationship Id="rId8" Type="http://schemas.openxmlformats.org/officeDocument/2006/relationships/image" Target="../media/image6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0" Type="http://schemas.openxmlformats.org/officeDocument/2006/relationships/hyperlink" Target="mailto:camilogc@alumni.mioti.es" TargetMode="External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71.png"/><Relationship Id="rId9" Type="http://schemas.openxmlformats.org/officeDocument/2006/relationships/hyperlink" Target="mailto:camilogc@alumni.mioti.es" TargetMode="External"/><Relationship Id="rId5" Type="http://schemas.openxmlformats.org/officeDocument/2006/relationships/hyperlink" Target="mailto:camilogc@alumni.mioti.es" TargetMode="External"/><Relationship Id="rId6" Type="http://schemas.openxmlformats.org/officeDocument/2006/relationships/hyperlink" Target="mailto:miguelvv@alumni.mioti.es" TargetMode="External"/><Relationship Id="rId7" Type="http://schemas.openxmlformats.org/officeDocument/2006/relationships/image" Target="../media/image11.png"/><Relationship Id="rId8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"/>
          <p:cNvGrpSpPr/>
          <p:nvPr/>
        </p:nvGrpSpPr>
        <p:grpSpPr>
          <a:xfrm>
            <a:off x="0" y="0"/>
            <a:ext cx="9143998" cy="5144026"/>
            <a:chOff x="2687266" y="1155148"/>
            <a:chExt cx="15588132" cy="7988858"/>
          </a:xfrm>
        </p:grpSpPr>
        <p:pic>
          <p:nvPicPr>
            <p:cNvPr id="154" name="Google Shape;154;p1"/>
            <p:cNvPicPr preferRelativeResize="0"/>
            <p:nvPr/>
          </p:nvPicPr>
          <p:blipFill rotWithShape="1">
            <a:blip r:embed="rId3">
              <a:alphaModFix/>
            </a:blip>
            <a:srcRect b="0" l="0" r="22575" t="12633"/>
            <a:stretch/>
          </p:blipFill>
          <p:spPr>
            <a:xfrm>
              <a:off x="5689609" y="1155148"/>
              <a:ext cx="12585789" cy="79888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1"/>
            <p:cNvPicPr preferRelativeResize="0"/>
            <p:nvPr/>
          </p:nvPicPr>
          <p:blipFill rotWithShape="1">
            <a:blip r:embed="rId3">
              <a:alphaModFix/>
            </a:blip>
            <a:srcRect b="0" l="0" r="89510" t="12633"/>
            <a:stretch/>
          </p:blipFill>
          <p:spPr>
            <a:xfrm flipH="1">
              <a:off x="2687266" y="1155148"/>
              <a:ext cx="3021394" cy="79888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" name="Google Shape;156;p1"/>
          <p:cNvSpPr txBox="1"/>
          <p:nvPr/>
        </p:nvSpPr>
        <p:spPr>
          <a:xfrm>
            <a:off x="1500" y="0"/>
            <a:ext cx="9142500" cy="3462456"/>
          </a:xfrm>
          <a:prstGeom prst="rect">
            <a:avLst/>
          </a:prstGeom>
          <a:noFill/>
          <a:ln>
            <a:noFill/>
          </a:ln>
          <a:effectLst>
            <a:outerShdw blurRad="228600" rotWithShape="0" algn="bl">
              <a:srgbClr val="70B7FF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rgbClr val="007EFF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b="1" i="0" lang="es-E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Proyecto de clasificación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E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Azierta</a:t>
            </a:r>
            <a:r>
              <a:rPr b="1" i="0" lang="es-E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E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Servicios Financieros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br>
              <a:rPr b="0" i="0" lang="es-ES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47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18251" y="252600"/>
            <a:ext cx="367300" cy="3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"/>
          <p:cNvSpPr txBox="1"/>
          <p:nvPr/>
        </p:nvSpPr>
        <p:spPr>
          <a:xfrm>
            <a:off x="1444626" y="3183608"/>
            <a:ext cx="5938200" cy="1046410"/>
          </a:xfrm>
          <a:prstGeom prst="rect">
            <a:avLst/>
          </a:prstGeom>
          <a:noFill/>
          <a:ln>
            <a:noFill/>
          </a:ln>
          <a:effectLst>
            <a:outerShdw blurRad="247783" sx="85000" rotWithShape="0" algn="bl" sy="85000">
              <a:srgbClr val="001D6E">
                <a:alpha val="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ES" sz="2800" u="none" cap="none" strike="noStrike">
                <a:solidFill>
                  <a:srgbClr val="AF26C4"/>
                </a:solidFill>
                <a:latin typeface="Arial"/>
                <a:ea typeface="Arial"/>
                <a:cs typeface="Arial"/>
                <a:sym typeface="Arial"/>
              </a:rPr>
              <a:t>Modelo de scoring de clientes </a:t>
            </a:r>
            <a:endParaRPr b="1" i="0" sz="1400" u="none" cap="none" strike="noStrike">
              <a:solidFill>
                <a:srgbClr val="AF26C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ES" sz="2800" u="none" cap="none" strike="noStrike">
                <a:solidFill>
                  <a:srgbClr val="AF26C4"/>
                </a:solidFill>
                <a:latin typeface="Arial"/>
                <a:ea typeface="Arial"/>
                <a:cs typeface="Arial"/>
                <a:sym typeface="Arial"/>
              </a:rPr>
              <a:t>aplicado a telemarketing</a:t>
            </a:r>
            <a:endParaRPr b="1" i="0" sz="2800" u="none" cap="none" strike="noStrike">
              <a:solidFill>
                <a:srgbClr val="AF26C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65" name="Google Shape;165;p2"/>
          <p:cNvSpPr txBox="1"/>
          <p:nvPr/>
        </p:nvSpPr>
        <p:spPr>
          <a:xfrm>
            <a:off x="412700" y="952638"/>
            <a:ext cx="8617028" cy="6770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6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El </a:t>
            </a:r>
            <a:r>
              <a:rPr b="1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avance tecnológico 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ha permitido implementar cada vez más </a:t>
            </a:r>
            <a:r>
              <a:rPr b="1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modelos más robustos 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aplicados al entorno empresarial, ayudando a la </a:t>
            </a:r>
            <a:r>
              <a:rPr b="1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extracción de valor del dato.</a:t>
            </a:r>
            <a:endParaRPr b="1" i="0" sz="1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"/>
          <p:cNvSpPr txBox="1"/>
          <p:nvPr/>
        </p:nvSpPr>
        <p:spPr>
          <a:xfrm>
            <a:off x="412700" y="195450"/>
            <a:ext cx="746700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1" lang="es-ES" sz="2400" u="none" cap="none" strike="noStrike">
                <a:solidFill>
                  <a:srgbClr val="001773"/>
                </a:solidFill>
                <a:latin typeface="Arial"/>
                <a:ea typeface="Arial"/>
                <a:cs typeface="Arial"/>
                <a:sym typeface="Arial"/>
              </a:rPr>
              <a:t>Descripción del proyecto</a:t>
            </a:r>
            <a:endParaRPr b="1" i="1" sz="24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"/>
          <p:cNvSpPr/>
          <p:nvPr/>
        </p:nvSpPr>
        <p:spPr>
          <a:xfrm>
            <a:off x="485450" y="698938"/>
            <a:ext cx="630600" cy="39000"/>
          </a:xfrm>
          <a:prstGeom prst="rect">
            <a:avLst/>
          </a:prstGeom>
          <a:solidFill>
            <a:srgbClr val="007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"/>
          <p:cNvSpPr txBox="1"/>
          <p:nvPr/>
        </p:nvSpPr>
        <p:spPr>
          <a:xfrm>
            <a:off x="412700" y="1640172"/>
            <a:ext cx="8617028" cy="6770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6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En este proyecto implementaremos para la compañía </a:t>
            </a:r>
            <a:r>
              <a:rPr b="1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Azierta Servicios Financieros 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b="1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modelo de clasificación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para la campaña de </a:t>
            </a:r>
            <a:r>
              <a:rPr b="1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Bankinter Consumer Finance - CrediMax.</a:t>
            </a:r>
            <a:endParaRPr b="1" i="0" sz="1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"/>
          <p:cNvSpPr txBox="1"/>
          <p:nvPr/>
        </p:nvSpPr>
        <p:spPr>
          <a:xfrm>
            <a:off x="412700" y="2364754"/>
            <a:ext cx="8617028" cy="6770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6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El objetivo es efectuar un </a:t>
            </a:r>
            <a:r>
              <a:rPr b="1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scoring de clientes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con el uso de Python y Machine Learning con el </a:t>
            </a:r>
            <a:r>
              <a:rPr b="1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apoyo del área de Analytics de la empresa.</a:t>
            </a:r>
            <a:endParaRPr b="1" i="0" sz="1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"/>
          <p:cNvSpPr txBox="1"/>
          <p:nvPr/>
        </p:nvSpPr>
        <p:spPr>
          <a:xfrm>
            <a:off x="412700" y="3089336"/>
            <a:ext cx="8617028" cy="9232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6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1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Los resultados 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del modelo </a:t>
            </a:r>
            <a:r>
              <a:rPr b="1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proporcionarán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herramientas a la compañía para </a:t>
            </a:r>
            <a:r>
              <a:rPr b="1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una mejor gestión de clientes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, aumentando la eficiencia en cumplimiento de metas que conlleven a beneficios financieros.</a:t>
            </a:r>
            <a:endParaRPr b="0" i="0" sz="1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"/>
          <p:cNvPicPr preferRelativeResize="0"/>
          <p:nvPr/>
        </p:nvPicPr>
        <p:blipFill rotWithShape="1">
          <a:blip r:embed="rId3">
            <a:alphaModFix amt="58999"/>
          </a:blip>
          <a:srcRect b="0" l="0" r="0" t="0"/>
          <a:stretch/>
        </p:blipFill>
        <p:spPr>
          <a:xfrm>
            <a:off x="370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"/>
          <p:cNvPicPr preferRelativeResize="0"/>
          <p:nvPr/>
        </p:nvPicPr>
        <p:blipFill rotWithShape="1">
          <a:blip r:embed="rId4">
            <a:alphaModFix amt="75000"/>
          </a:blip>
          <a:srcRect b="0" l="0" r="0" t="0"/>
          <a:stretch/>
        </p:blipFill>
        <p:spPr>
          <a:xfrm rot="-7070521">
            <a:off x="-1315456" y="3990513"/>
            <a:ext cx="3213387" cy="23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6727" y="252600"/>
            <a:ext cx="488825" cy="49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79" name="Google Shape;179;p3"/>
          <p:cNvSpPr txBox="1"/>
          <p:nvPr/>
        </p:nvSpPr>
        <p:spPr>
          <a:xfrm>
            <a:off x="412700" y="195450"/>
            <a:ext cx="746700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1" lang="es-ES" sz="2400" u="none" cap="none" strike="noStrike">
                <a:solidFill>
                  <a:srgbClr val="001773"/>
                </a:solidFill>
                <a:latin typeface="Arial"/>
                <a:ea typeface="Arial"/>
                <a:cs typeface="Arial"/>
                <a:sym typeface="Arial"/>
              </a:rPr>
              <a:t>Descripción de la empresa</a:t>
            </a:r>
            <a:endParaRPr b="1" i="1" sz="24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485450" y="698938"/>
            <a:ext cx="630600" cy="39000"/>
          </a:xfrm>
          <a:prstGeom prst="rect">
            <a:avLst/>
          </a:prstGeom>
          <a:solidFill>
            <a:srgbClr val="007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terfaz de usuario gráfica, Sitio web&#10;&#10;Descripción generada automáticamente" id="181" name="Google Shape;18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69626" y="944868"/>
            <a:ext cx="6604748" cy="3905416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4"/>
          <p:cNvPicPr preferRelativeResize="0"/>
          <p:nvPr/>
        </p:nvPicPr>
        <p:blipFill rotWithShape="1">
          <a:blip r:embed="rId3">
            <a:alphaModFix amt="58999"/>
          </a:blip>
          <a:srcRect b="0" l="0" r="0" t="0"/>
          <a:stretch/>
        </p:blipFill>
        <p:spPr>
          <a:xfrm>
            <a:off x="3700" y="8375"/>
            <a:ext cx="91403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4"/>
          <p:cNvPicPr preferRelativeResize="0"/>
          <p:nvPr/>
        </p:nvPicPr>
        <p:blipFill rotWithShape="1">
          <a:blip r:embed="rId4">
            <a:alphaModFix amt="75000"/>
          </a:blip>
          <a:srcRect b="0" l="0" r="0" t="0"/>
          <a:stretch/>
        </p:blipFill>
        <p:spPr>
          <a:xfrm rot="-7070521">
            <a:off x="-1315456" y="3990513"/>
            <a:ext cx="3213387" cy="23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6727" y="252600"/>
            <a:ext cx="488825" cy="49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90" name="Google Shape;190;p4"/>
          <p:cNvSpPr txBox="1"/>
          <p:nvPr/>
        </p:nvSpPr>
        <p:spPr>
          <a:xfrm>
            <a:off x="412700" y="195450"/>
            <a:ext cx="746700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1" lang="es-ES" sz="2400" u="none" cap="none" strike="noStrike">
                <a:solidFill>
                  <a:srgbClr val="001773"/>
                </a:solidFill>
                <a:latin typeface="Arial"/>
                <a:ea typeface="Arial"/>
                <a:cs typeface="Arial"/>
                <a:sym typeface="Arial"/>
              </a:rPr>
              <a:t>Descripción de la campaña</a:t>
            </a:r>
            <a:endParaRPr b="1" i="1" sz="24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485450" y="698938"/>
            <a:ext cx="630600" cy="39000"/>
          </a:xfrm>
          <a:prstGeom prst="rect">
            <a:avLst/>
          </a:prstGeom>
          <a:solidFill>
            <a:srgbClr val="007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2" name="Google Shape;192;p4"/>
          <p:cNvGrpSpPr/>
          <p:nvPr/>
        </p:nvGrpSpPr>
        <p:grpSpPr>
          <a:xfrm>
            <a:off x="272507" y="990500"/>
            <a:ext cx="8613045" cy="3272403"/>
            <a:chOff x="-274952" y="936327"/>
            <a:chExt cx="9160504" cy="3480402"/>
          </a:xfrm>
        </p:grpSpPr>
        <p:pic>
          <p:nvPicPr>
            <p:cNvPr descr="Interfaz de usuario gráfica, Sitio web&#10;&#10;Descripción generada automáticamente" id="193" name="Google Shape;19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413738" y="936492"/>
              <a:ext cx="4471814" cy="3480237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313"/>
                </a:srgbClr>
              </a:outerShdw>
            </a:effectLst>
          </p:spPr>
        </p:pic>
        <p:pic>
          <p:nvPicPr>
            <p:cNvPr descr="Interfaz de usuario gráfica, Sitio web&#10;&#10;Descripción generada automáticamente" id="194" name="Google Shape;194;p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-274952" y="936327"/>
              <a:ext cx="4496935" cy="3480237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313"/>
                </a:srgbClr>
              </a:outerShdw>
            </a:effectLst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80650" y="0"/>
            <a:ext cx="10291149" cy="514557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5"/>
          <p:cNvSpPr/>
          <p:nvPr/>
        </p:nvSpPr>
        <p:spPr>
          <a:xfrm flipH="1">
            <a:off x="-980250" y="-216800"/>
            <a:ext cx="7872600" cy="5980800"/>
          </a:xfrm>
          <a:prstGeom prst="parallelogram">
            <a:avLst>
              <a:gd fmla="val 43187" name="adj"/>
            </a:avLst>
          </a:prstGeom>
          <a:solidFill>
            <a:srgbClr val="007EFF">
              <a:alpha val="7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96727" y="252600"/>
            <a:ext cx="488825" cy="49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5"/>
          <p:cNvSpPr txBox="1"/>
          <p:nvPr/>
        </p:nvSpPr>
        <p:spPr>
          <a:xfrm>
            <a:off x="1020408" y="3131026"/>
            <a:ext cx="4801500" cy="145883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E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b="1" i="0" lang="es-E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 de machine learning</a:t>
            </a:r>
            <a:r>
              <a:rPr b="0" i="0" lang="es-E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generará una puntuación específica para cada usuario y los </a:t>
            </a:r>
            <a:r>
              <a:rPr b="1" i="0" lang="es-E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clasificará en base a la propensión de venta.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E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E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522300" y="2455795"/>
            <a:ext cx="339570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s-ES" sz="24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Solución propuesta</a:t>
            </a:r>
            <a:endParaRPr b="1" i="1" sz="24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375087" y="195450"/>
            <a:ext cx="4581309" cy="105179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1" lang="es-E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Problema del caso de estudio</a:t>
            </a:r>
            <a:endParaRPr b="1" i="1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485450" y="698938"/>
            <a:ext cx="630600" cy="39000"/>
          </a:xfrm>
          <a:prstGeom prst="rect">
            <a:avLst/>
          </a:prstGeom>
          <a:solidFill>
            <a:srgbClr val="000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367125" y="1038149"/>
            <a:ext cx="4697702" cy="12716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problema planteado exige la implementación de un </a:t>
            </a:r>
            <a:r>
              <a:rPr b="1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 de clasificación </a:t>
            </a: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 realice un </a:t>
            </a:r>
            <a:r>
              <a:rPr b="1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ranking de clientes</a:t>
            </a: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 el objetivo de optimizar la gestión de base de datos.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2731800" y="4904075"/>
            <a:ext cx="348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-ES" sz="6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©</a:t>
            </a:r>
            <a:r>
              <a:rPr b="0" i="0" lang="es-ES" sz="600" u="none" cap="none" strike="noStrike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s-ES" sz="6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2022 Todos los derechos reservados</a:t>
            </a:r>
            <a:endParaRPr b="0" i="0" sz="6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602224" y="2932595"/>
            <a:ext cx="630600" cy="39000"/>
          </a:xfrm>
          <a:prstGeom prst="rect">
            <a:avLst/>
          </a:prstGeom>
          <a:solidFill>
            <a:srgbClr val="000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"/>
          <p:cNvSpPr txBox="1"/>
          <p:nvPr/>
        </p:nvSpPr>
        <p:spPr>
          <a:xfrm>
            <a:off x="0" y="260038"/>
            <a:ext cx="858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s-E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Fases del proyecto</a:t>
            </a:r>
            <a:r>
              <a:rPr b="1" i="1" lang="es-ES" sz="2400" u="none" cap="none" strike="noStrike">
                <a:solidFill>
                  <a:srgbClr val="007EFF"/>
                </a:solidFill>
                <a:latin typeface="Arial"/>
                <a:ea typeface="Arial"/>
                <a:cs typeface="Arial"/>
                <a:sym typeface="Arial"/>
              </a:rPr>
              <a:t>| Azierta Servicios Financieros</a:t>
            </a:r>
            <a:endParaRPr b="1" i="1" sz="17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6727" y="252600"/>
            <a:ext cx="488825" cy="49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6"/>
          <p:cNvSpPr txBox="1"/>
          <p:nvPr/>
        </p:nvSpPr>
        <p:spPr>
          <a:xfrm>
            <a:off x="498500" y="1853426"/>
            <a:ext cx="2257500" cy="101563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E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Concertación del proyecto con la empresa 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6"/>
          <p:cNvCxnSpPr/>
          <p:nvPr/>
        </p:nvCxnSpPr>
        <p:spPr>
          <a:xfrm>
            <a:off x="2756000" y="1734125"/>
            <a:ext cx="0" cy="2781300"/>
          </a:xfrm>
          <a:prstGeom prst="straightConnector1">
            <a:avLst/>
          </a:prstGeom>
          <a:noFill/>
          <a:ln cap="flat" cmpd="sng" w="9525">
            <a:solidFill>
              <a:srgbClr val="E17BA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" name="Google Shape;218;p6"/>
          <p:cNvCxnSpPr/>
          <p:nvPr/>
        </p:nvCxnSpPr>
        <p:spPr>
          <a:xfrm>
            <a:off x="6175250" y="1734125"/>
            <a:ext cx="0" cy="2781300"/>
          </a:xfrm>
          <a:prstGeom prst="straightConnector1">
            <a:avLst/>
          </a:prstGeom>
          <a:noFill/>
          <a:ln cap="flat" cmpd="sng" w="9525">
            <a:solidFill>
              <a:srgbClr val="E17BA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6"/>
          <p:cNvSpPr txBox="1"/>
          <p:nvPr/>
        </p:nvSpPr>
        <p:spPr>
          <a:xfrm>
            <a:off x="3154150" y="4904075"/>
            <a:ext cx="2641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s-ES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</a:t>
            </a:r>
            <a:r>
              <a:rPr b="0" i="0" lang="es-ES" sz="600" u="none" cap="none" strike="noStrike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s-ES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2022 Todos los derechos reservados</a:t>
            </a:r>
            <a:endParaRPr b="0" i="0" sz="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p6"/>
          <p:cNvCxnSpPr/>
          <p:nvPr/>
        </p:nvCxnSpPr>
        <p:spPr>
          <a:xfrm>
            <a:off x="562350" y="3184425"/>
            <a:ext cx="7834377" cy="0"/>
          </a:xfrm>
          <a:prstGeom prst="straightConnector1">
            <a:avLst/>
          </a:prstGeom>
          <a:noFill/>
          <a:ln cap="flat" cmpd="sng" w="9525">
            <a:solidFill>
              <a:srgbClr val="E17BA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6"/>
          <p:cNvSpPr txBox="1"/>
          <p:nvPr/>
        </p:nvSpPr>
        <p:spPr>
          <a:xfrm>
            <a:off x="3295737" y="1851119"/>
            <a:ext cx="2434103" cy="101563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Definición de las variables relevantes con el Head of Data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 txBox="1"/>
          <p:nvPr/>
        </p:nvSpPr>
        <p:spPr>
          <a:xfrm>
            <a:off x="44984" y="3262030"/>
            <a:ext cx="2711016" cy="129263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Evaluación de variables con Python, identificación de correlaciones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3346150" y="3400529"/>
            <a:ext cx="2257500" cy="101563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E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Pre-procesamiento de datos y análisis exploratorio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 txBox="1"/>
          <p:nvPr/>
        </p:nvSpPr>
        <p:spPr>
          <a:xfrm>
            <a:off x="6269576" y="1851119"/>
            <a:ext cx="2257500" cy="101563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E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Extracción de la  información del  Datawarehouse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 txBox="1"/>
          <p:nvPr/>
        </p:nvSpPr>
        <p:spPr>
          <a:xfrm>
            <a:off x="6269576" y="3257416"/>
            <a:ext cx="2257500" cy="129263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Evaluación y deployment del modelo en entorno aplicado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descr="Icono&#10;&#10;Descripción generada automáticamente" id="232" name="Google Shape;232;p7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 flipH="1">
            <a:off x="1325014" y="3370224"/>
            <a:ext cx="491253" cy="491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Descripción generada automáticamente" id="233" name="Google Shape;233;p7"/>
          <p:cNvPicPr preferRelativeResize="0"/>
          <p:nvPr/>
        </p:nvPicPr>
        <p:blipFill rotWithShape="1">
          <a:blip r:embed="rId4">
            <a:alphaModFix amt="85000"/>
          </a:blip>
          <a:srcRect b="0" l="0" r="0" t="0"/>
          <a:stretch/>
        </p:blipFill>
        <p:spPr>
          <a:xfrm>
            <a:off x="1344458" y="2333786"/>
            <a:ext cx="435081" cy="4350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Descripción generada automáticamente" id="234" name="Google Shape;234;p7"/>
          <p:cNvPicPr preferRelativeResize="0"/>
          <p:nvPr/>
        </p:nvPicPr>
        <p:blipFill rotWithShape="1">
          <a:blip r:embed="rId5">
            <a:alphaModFix amt="75000"/>
          </a:blip>
          <a:srcRect b="0" l="0" r="0" t="0"/>
          <a:stretch/>
        </p:blipFill>
        <p:spPr>
          <a:xfrm>
            <a:off x="2691784" y="2277614"/>
            <a:ext cx="491253" cy="491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Descripción generada automáticamente" id="235" name="Google Shape;235;p7"/>
          <p:cNvPicPr preferRelativeResize="0"/>
          <p:nvPr/>
        </p:nvPicPr>
        <p:blipFill rotWithShape="1">
          <a:blip r:embed="rId6">
            <a:alphaModFix amt="96000"/>
          </a:blip>
          <a:srcRect b="0" l="0" r="0" t="0"/>
          <a:stretch/>
        </p:blipFill>
        <p:spPr>
          <a:xfrm>
            <a:off x="4032242" y="2077344"/>
            <a:ext cx="973328" cy="973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Descripción generada automáticamente" id="236" name="Google Shape;236;p7"/>
          <p:cNvPicPr preferRelativeResize="0"/>
          <p:nvPr/>
        </p:nvPicPr>
        <p:blipFill rotWithShape="1">
          <a:blip r:embed="rId4">
            <a:alphaModFix amt="85000"/>
          </a:blip>
          <a:srcRect b="0" l="0" r="0" t="0"/>
          <a:stretch/>
        </p:blipFill>
        <p:spPr>
          <a:xfrm>
            <a:off x="1358723" y="1286572"/>
            <a:ext cx="435081" cy="4350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7" name="Google Shape;237;p7"/>
          <p:cNvCxnSpPr/>
          <p:nvPr/>
        </p:nvCxnSpPr>
        <p:spPr>
          <a:xfrm>
            <a:off x="1842579" y="1535071"/>
            <a:ext cx="849205" cy="795301"/>
          </a:xfrm>
          <a:prstGeom prst="straightConnector1">
            <a:avLst/>
          </a:prstGeom>
          <a:noFill/>
          <a:ln cap="flat" cmpd="sng" w="9525">
            <a:solidFill>
              <a:srgbClr val="3B7FF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8" name="Google Shape;238;p7"/>
          <p:cNvCxnSpPr/>
          <p:nvPr/>
        </p:nvCxnSpPr>
        <p:spPr>
          <a:xfrm>
            <a:off x="1842579" y="2572067"/>
            <a:ext cx="782129" cy="0"/>
          </a:xfrm>
          <a:prstGeom prst="straightConnector1">
            <a:avLst/>
          </a:prstGeom>
          <a:noFill/>
          <a:ln cap="flat" cmpd="sng" w="9525">
            <a:solidFill>
              <a:srgbClr val="3B7FF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9" name="Google Shape;239;p7"/>
          <p:cNvCxnSpPr/>
          <p:nvPr/>
        </p:nvCxnSpPr>
        <p:spPr>
          <a:xfrm flipH="1" rot="10800000">
            <a:off x="1842579" y="2866521"/>
            <a:ext cx="849205" cy="702738"/>
          </a:xfrm>
          <a:prstGeom prst="straightConnector1">
            <a:avLst/>
          </a:prstGeom>
          <a:noFill/>
          <a:ln cap="flat" cmpd="sng" w="9525">
            <a:solidFill>
              <a:srgbClr val="3B7FF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0" name="Google Shape;240;p7"/>
          <p:cNvCxnSpPr>
            <a:endCxn id="235" idx="1"/>
          </p:cNvCxnSpPr>
          <p:nvPr/>
        </p:nvCxnSpPr>
        <p:spPr>
          <a:xfrm>
            <a:off x="3218342" y="2564008"/>
            <a:ext cx="813900" cy="0"/>
          </a:xfrm>
          <a:prstGeom prst="straightConnector1">
            <a:avLst/>
          </a:prstGeom>
          <a:noFill/>
          <a:ln cap="flat" cmpd="sng" w="9525">
            <a:solidFill>
              <a:srgbClr val="3B7FF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1" name="Google Shape;241;p7"/>
          <p:cNvSpPr txBox="1"/>
          <p:nvPr/>
        </p:nvSpPr>
        <p:spPr>
          <a:xfrm>
            <a:off x="412700" y="195450"/>
            <a:ext cx="746700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1" lang="es-ES" sz="2400" u="none" cap="none" strike="noStrike">
                <a:solidFill>
                  <a:srgbClr val="001773"/>
                </a:solidFill>
                <a:latin typeface="Arial"/>
                <a:ea typeface="Arial"/>
                <a:cs typeface="Arial"/>
                <a:sym typeface="Arial"/>
              </a:rPr>
              <a:t>Descripción del workflow</a:t>
            </a:r>
            <a:endParaRPr b="1" i="1" sz="24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485450" y="698938"/>
            <a:ext cx="630600" cy="39000"/>
          </a:xfrm>
          <a:prstGeom prst="rect">
            <a:avLst/>
          </a:prstGeom>
          <a:solidFill>
            <a:srgbClr val="007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 txBox="1"/>
          <p:nvPr/>
        </p:nvSpPr>
        <p:spPr>
          <a:xfrm>
            <a:off x="1188189" y="1725066"/>
            <a:ext cx="81304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Bancos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 txBox="1"/>
          <p:nvPr/>
        </p:nvSpPr>
        <p:spPr>
          <a:xfrm>
            <a:off x="902931" y="3869138"/>
            <a:ext cx="13292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Trabajadores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 txBox="1"/>
          <p:nvPr/>
        </p:nvSpPr>
        <p:spPr>
          <a:xfrm>
            <a:off x="1028140" y="2790887"/>
            <a:ext cx="10807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Servidores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 txBox="1"/>
          <p:nvPr/>
        </p:nvSpPr>
        <p:spPr>
          <a:xfrm>
            <a:off x="2509576" y="1891839"/>
            <a:ext cx="8675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Proceso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 txBox="1"/>
          <p:nvPr/>
        </p:nvSpPr>
        <p:spPr>
          <a:xfrm>
            <a:off x="2417965" y="2817694"/>
            <a:ext cx="1021433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ETL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ES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(Pentaho)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 txBox="1"/>
          <p:nvPr/>
        </p:nvSpPr>
        <p:spPr>
          <a:xfrm>
            <a:off x="4270280" y="3067694"/>
            <a:ext cx="4972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o&#10;&#10;Descripción generada automáticamente" id="249" name="Google Shape;249;p7"/>
          <p:cNvPicPr preferRelativeResize="0"/>
          <p:nvPr/>
        </p:nvPicPr>
        <p:blipFill rotWithShape="1">
          <a:blip r:embed="rId7">
            <a:alphaModFix amt="84000"/>
          </a:blip>
          <a:srcRect b="0" l="0" r="0" t="0"/>
          <a:stretch/>
        </p:blipFill>
        <p:spPr>
          <a:xfrm>
            <a:off x="5573190" y="2336082"/>
            <a:ext cx="455852" cy="4558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0" name="Google Shape;250;p7"/>
          <p:cNvCxnSpPr>
            <a:stCxn id="235" idx="3"/>
            <a:endCxn id="249" idx="1"/>
          </p:cNvCxnSpPr>
          <p:nvPr/>
        </p:nvCxnSpPr>
        <p:spPr>
          <a:xfrm>
            <a:off x="5005570" y="2564008"/>
            <a:ext cx="567600" cy="0"/>
          </a:xfrm>
          <a:prstGeom prst="straightConnector1">
            <a:avLst/>
          </a:prstGeom>
          <a:noFill/>
          <a:ln cap="flat" cmpd="sng" w="9525">
            <a:solidFill>
              <a:srgbClr val="E9437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1" name="Google Shape;251;p7"/>
          <p:cNvSpPr txBox="1"/>
          <p:nvPr/>
        </p:nvSpPr>
        <p:spPr>
          <a:xfrm>
            <a:off x="5447111" y="2799667"/>
            <a:ext cx="7008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Query</a:t>
            </a:r>
            <a:endParaRPr b="0" i="0" sz="1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p7"/>
          <p:cNvCxnSpPr>
            <a:stCxn id="249" idx="3"/>
          </p:cNvCxnSpPr>
          <p:nvPr/>
        </p:nvCxnSpPr>
        <p:spPr>
          <a:xfrm>
            <a:off x="6029042" y="2564008"/>
            <a:ext cx="921600" cy="0"/>
          </a:xfrm>
          <a:prstGeom prst="straightConnector1">
            <a:avLst/>
          </a:prstGeom>
          <a:noFill/>
          <a:ln cap="flat" cmpd="sng" w="9525">
            <a:solidFill>
              <a:srgbClr val="E9437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253" name="Google Shape;253;p7"/>
          <p:cNvGrpSpPr/>
          <p:nvPr/>
        </p:nvGrpSpPr>
        <p:grpSpPr>
          <a:xfrm>
            <a:off x="6909729" y="2285245"/>
            <a:ext cx="533807" cy="569400"/>
            <a:chOff x="6067498" y="2279545"/>
            <a:chExt cx="533807" cy="569400"/>
          </a:xfrm>
        </p:grpSpPr>
        <p:pic>
          <p:nvPicPr>
            <p:cNvPr descr="Icono&#10;&#10;Descripción generada automáticamente" id="254" name="Google Shape;254;p7"/>
            <p:cNvPicPr preferRelativeResize="0"/>
            <p:nvPr/>
          </p:nvPicPr>
          <p:blipFill rotWithShape="1">
            <a:blip r:embed="rId8">
              <a:alphaModFix amt="70000"/>
            </a:blip>
            <a:srcRect b="0" l="0" r="0" t="0"/>
            <a:stretch/>
          </p:blipFill>
          <p:spPr>
            <a:xfrm>
              <a:off x="6135585" y="2279545"/>
              <a:ext cx="465720" cy="465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cono&#10;&#10;Descripción generada automáticamente" id="255" name="Google Shape;255;p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067498" y="2605956"/>
              <a:ext cx="242989" cy="2429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6" name="Google Shape;256;p7"/>
          <p:cNvSpPr txBox="1"/>
          <p:nvPr/>
        </p:nvSpPr>
        <p:spPr>
          <a:xfrm>
            <a:off x="6439472" y="2854645"/>
            <a:ext cx="154241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Transformación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ES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Preprocessing</a:t>
            </a:r>
            <a:endParaRPr b="0" i="0" sz="10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ES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Data engineering</a:t>
            </a:r>
            <a:endParaRPr b="0" i="0" sz="10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ES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(Python)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trón de fondo&#10;&#10;Descripción generada automáticamente" id="257" name="Google Shape;257;p7"/>
          <p:cNvPicPr preferRelativeResize="0"/>
          <p:nvPr/>
        </p:nvPicPr>
        <p:blipFill rotWithShape="1">
          <a:blip r:embed="rId10">
            <a:alphaModFix amt="74000"/>
          </a:blip>
          <a:srcRect b="0" l="0" r="0" t="0"/>
          <a:stretch/>
        </p:blipFill>
        <p:spPr>
          <a:xfrm>
            <a:off x="5451206" y="3790933"/>
            <a:ext cx="485542" cy="485542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7"/>
          <p:cNvSpPr txBox="1"/>
          <p:nvPr/>
        </p:nvSpPr>
        <p:spPr>
          <a:xfrm>
            <a:off x="5258601" y="4262251"/>
            <a:ext cx="833883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ES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ES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Scoring</a:t>
            </a:r>
            <a:endParaRPr b="0" i="0" sz="10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9" name="Google Shape;259;p7"/>
          <p:cNvCxnSpPr>
            <a:stCxn id="256" idx="2"/>
            <a:endCxn id="257" idx="3"/>
          </p:cNvCxnSpPr>
          <p:nvPr/>
        </p:nvCxnSpPr>
        <p:spPr>
          <a:xfrm rot="5400000">
            <a:off x="6369027" y="3191936"/>
            <a:ext cx="409500" cy="1273800"/>
          </a:xfrm>
          <a:prstGeom prst="curvedConnector2">
            <a:avLst/>
          </a:prstGeom>
          <a:noFill/>
          <a:ln cap="flat" cmpd="sng" w="9525">
            <a:solidFill>
              <a:srgbClr val="E9437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0" name="Google Shape;260;p7"/>
          <p:cNvCxnSpPr>
            <a:endCxn id="248" idx="2"/>
          </p:cNvCxnSpPr>
          <p:nvPr/>
        </p:nvCxnSpPr>
        <p:spPr>
          <a:xfrm rot="10800000">
            <a:off x="4518906" y="3375471"/>
            <a:ext cx="858900" cy="658200"/>
          </a:xfrm>
          <a:prstGeom prst="curvedConnector2">
            <a:avLst/>
          </a:prstGeom>
          <a:noFill/>
          <a:ln cap="flat" cmpd="sng" w="9525">
            <a:solidFill>
              <a:srgbClr val="E9437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Icono&#10;&#10;Descripción generada automáticamente" id="261" name="Google Shape;261;p7"/>
          <p:cNvPicPr preferRelativeResize="0"/>
          <p:nvPr/>
        </p:nvPicPr>
        <p:blipFill rotWithShape="1">
          <a:blip r:embed="rId11">
            <a:alphaModFix amt="75000"/>
          </a:blip>
          <a:srcRect b="0" l="0" r="0" t="0"/>
          <a:stretch/>
        </p:blipFill>
        <p:spPr>
          <a:xfrm>
            <a:off x="2973678" y="3810755"/>
            <a:ext cx="465720" cy="46572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7"/>
          <p:cNvSpPr txBox="1"/>
          <p:nvPr/>
        </p:nvSpPr>
        <p:spPr>
          <a:xfrm>
            <a:off x="2616472" y="4262250"/>
            <a:ext cx="1180131" cy="615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ES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Listado llamadas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ES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optimizado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3" name="Google Shape;263;p7"/>
          <p:cNvCxnSpPr>
            <a:stCxn id="248" idx="2"/>
            <a:endCxn id="261" idx="3"/>
          </p:cNvCxnSpPr>
          <p:nvPr/>
        </p:nvCxnSpPr>
        <p:spPr>
          <a:xfrm rot="5400000">
            <a:off x="3645156" y="3169821"/>
            <a:ext cx="668100" cy="1079400"/>
          </a:xfrm>
          <a:prstGeom prst="curvedConnector2">
            <a:avLst/>
          </a:prstGeom>
          <a:noFill/>
          <a:ln cap="flat" cmpd="sng" w="9525">
            <a:solidFill>
              <a:srgbClr val="FDA73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4" name="Google Shape;264;p7"/>
          <p:cNvCxnSpPr>
            <a:stCxn id="261" idx="1"/>
            <a:endCxn id="244" idx="2"/>
          </p:cNvCxnSpPr>
          <p:nvPr/>
        </p:nvCxnSpPr>
        <p:spPr>
          <a:xfrm flipH="1">
            <a:off x="1567578" y="4043615"/>
            <a:ext cx="1406100" cy="133200"/>
          </a:xfrm>
          <a:prstGeom prst="curvedConnector4">
            <a:avLst>
              <a:gd fmla="val 26369" name="adj1"/>
              <a:gd fmla="val 346442" name="adj2"/>
            </a:avLst>
          </a:prstGeom>
          <a:noFill/>
          <a:ln cap="flat" cmpd="sng" w="9525">
            <a:solidFill>
              <a:srgbClr val="FDA73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Icono&#10;&#10;Descripción generada automáticamente" id="265" name="Google Shape;265;p7"/>
          <p:cNvPicPr preferRelativeResize="0"/>
          <p:nvPr/>
        </p:nvPicPr>
        <p:blipFill rotWithShape="1">
          <a:blip r:embed="rId12">
            <a:alphaModFix amt="70000"/>
          </a:blip>
          <a:srcRect b="0" l="0" r="0" t="0"/>
          <a:stretch/>
        </p:blipFill>
        <p:spPr>
          <a:xfrm>
            <a:off x="3654604" y="1016593"/>
            <a:ext cx="465720" cy="46572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7"/>
          <p:cNvSpPr txBox="1"/>
          <p:nvPr/>
        </p:nvSpPr>
        <p:spPr>
          <a:xfrm>
            <a:off x="4120324" y="941676"/>
            <a:ext cx="1407758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Mant.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ES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Evaluación, métricas,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ES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histórico, gráficas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" name="Google Shape;267;p7"/>
          <p:cNvCxnSpPr>
            <a:stCxn id="235" idx="0"/>
          </p:cNvCxnSpPr>
          <p:nvPr/>
        </p:nvCxnSpPr>
        <p:spPr>
          <a:xfrm rot="-5400000">
            <a:off x="4259406" y="1816644"/>
            <a:ext cx="520200" cy="1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FDA739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268" name="Google Shape;268;p7"/>
          <p:cNvGrpSpPr/>
          <p:nvPr/>
        </p:nvGrpSpPr>
        <p:grpSpPr>
          <a:xfrm>
            <a:off x="6492974" y="596230"/>
            <a:ext cx="1329892" cy="512893"/>
            <a:chOff x="6318922" y="1209444"/>
            <a:chExt cx="1329892" cy="512893"/>
          </a:xfrm>
        </p:grpSpPr>
        <p:pic>
          <p:nvPicPr>
            <p:cNvPr descr="Código QR&#10;&#10;Descripción generada automáticamente con confianza baja" id="269" name="Google Shape;269;p7"/>
            <p:cNvPicPr preferRelativeResize="0"/>
            <p:nvPr/>
          </p:nvPicPr>
          <p:blipFill rotWithShape="1">
            <a:blip r:embed="rId13">
              <a:alphaModFix amt="90000"/>
            </a:blip>
            <a:srcRect b="0" l="0" r="0" t="0"/>
            <a:stretch/>
          </p:blipFill>
          <p:spPr>
            <a:xfrm>
              <a:off x="7281216" y="1303133"/>
              <a:ext cx="367598" cy="3675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cono&#10;&#10;Descripción generada automáticamente" id="270" name="Google Shape;270;p7"/>
            <p:cNvPicPr preferRelativeResize="0"/>
            <p:nvPr/>
          </p:nvPicPr>
          <p:blipFill rotWithShape="1">
            <a:blip r:embed="rId14">
              <a:alphaModFix amt="90000"/>
            </a:blip>
            <a:srcRect b="0" l="0" r="0" t="0"/>
            <a:stretch/>
          </p:blipFill>
          <p:spPr>
            <a:xfrm>
              <a:off x="6830915" y="1281513"/>
              <a:ext cx="410838" cy="4108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cono&#10;&#10;Descripción generada automáticamente" id="271" name="Google Shape;271;p7"/>
            <p:cNvPicPr preferRelativeResize="0"/>
            <p:nvPr/>
          </p:nvPicPr>
          <p:blipFill rotWithShape="1">
            <a:blip r:embed="rId15">
              <a:alphaModFix amt="90000"/>
            </a:blip>
            <a:srcRect b="0" l="0" r="0" t="0"/>
            <a:stretch/>
          </p:blipFill>
          <p:spPr>
            <a:xfrm>
              <a:off x="6318922" y="1209444"/>
              <a:ext cx="512893" cy="51289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2" name="Google Shape;272;p7"/>
          <p:cNvSpPr txBox="1"/>
          <p:nvPr/>
        </p:nvSpPr>
        <p:spPr>
          <a:xfrm>
            <a:off x="6578536" y="1045708"/>
            <a:ext cx="1250663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Analítica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ES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Gráficas, EDA,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ES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Power BI, Tableau</a:t>
            </a:r>
            <a:endParaRPr b="0" i="0" sz="9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3" name="Google Shape;273;p7"/>
          <p:cNvCxnSpPr>
            <a:stCxn id="254" idx="0"/>
            <a:endCxn id="272" idx="2"/>
          </p:cNvCxnSpPr>
          <p:nvPr/>
        </p:nvCxnSpPr>
        <p:spPr>
          <a:xfrm rot="10800000">
            <a:off x="7203776" y="1630345"/>
            <a:ext cx="6900" cy="654900"/>
          </a:xfrm>
          <a:prstGeom prst="straightConnector1">
            <a:avLst/>
          </a:prstGeom>
          <a:noFill/>
          <a:ln cap="flat" cmpd="sng" w="9525">
            <a:solidFill>
              <a:srgbClr val="FDA73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4" name="Google Shape;274;p7"/>
          <p:cNvCxnSpPr>
            <a:stCxn id="235" idx="0"/>
            <a:endCxn id="272" idx="1"/>
          </p:cNvCxnSpPr>
          <p:nvPr/>
        </p:nvCxnSpPr>
        <p:spPr>
          <a:xfrm flipH="1" rot="10800000">
            <a:off x="4518906" y="1338144"/>
            <a:ext cx="2059500" cy="739200"/>
          </a:xfrm>
          <a:prstGeom prst="straightConnector1">
            <a:avLst/>
          </a:prstGeom>
          <a:noFill/>
          <a:ln cap="flat" cmpd="sng" w="9525">
            <a:solidFill>
              <a:srgbClr val="FDA739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80" name="Google Shape;280;p8"/>
          <p:cNvSpPr txBox="1"/>
          <p:nvPr/>
        </p:nvSpPr>
        <p:spPr>
          <a:xfrm>
            <a:off x="412699" y="195450"/>
            <a:ext cx="7863495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1" lang="es-ES" sz="2400" u="none" cap="none" strike="noStrike">
                <a:solidFill>
                  <a:srgbClr val="001773"/>
                </a:solidFill>
                <a:latin typeface="Arial"/>
                <a:ea typeface="Arial"/>
                <a:cs typeface="Arial"/>
                <a:sym typeface="Arial"/>
              </a:rPr>
              <a:t>Fase 1: Extracción de los datos, creación DataFrame</a:t>
            </a:r>
            <a:endParaRPr b="1" i="1" sz="24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485450" y="698938"/>
            <a:ext cx="630600" cy="39000"/>
          </a:xfrm>
          <a:prstGeom prst="rect">
            <a:avLst/>
          </a:prstGeom>
          <a:solidFill>
            <a:srgbClr val="007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8"/>
          <p:cNvSpPr txBox="1"/>
          <p:nvPr/>
        </p:nvSpPr>
        <p:spPr>
          <a:xfrm>
            <a:off x="1371134" y="1871230"/>
            <a:ext cx="27821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DataWarehouse: Querys 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"/>
          <p:cNvSpPr txBox="1"/>
          <p:nvPr/>
        </p:nvSpPr>
        <p:spPr>
          <a:xfrm>
            <a:off x="1405054" y="2381492"/>
            <a:ext cx="278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Merging Tables: Joins</a:t>
            </a:r>
            <a:endParaRPr b="0" i="0" sz="1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8"/>
          <p:cNvSpPr txBox="1"/>
          <p:nvPr/>
        </p:nvSpPr>
        <p:spPr>
          <a:xfrm>
            <a:off x="1317344" y="2837155"/>
            <a:ext cx="2957620" cy="7386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Elección variables importantes: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Con ayuda del dep. de Data</a:t>
            </a:r>
            <a:endParaRPr b="0" i="0" sz="1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8"/>
          <p:cNvSpPr txBox="1"/>
          <p:nvPr/>
        </p:nvSpPr>
        <p:spPr>
          <a:xfrm>
            <a:off x="4830322" y="2400472"/>
            <a:ext cx="27821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No hay dep. Data Science</a:t>
            </a:r>
            <a:endParaRPr b="0" i="0" sz="1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"/>
          <p:cNvSpPr txBox="1"/>
          <p:nvPr/>
        </p:nvSpPr>
        <p:spPr>
          <a:xfrm>
            <a:off x="4927945" y="2993042"/>
            <a:ext cx="27821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Anonimización de los datos</a:t>
            </a:r>
            <a:endParaRPr b="0" i="0" sz="1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8"/>
          <p:cNvSpPr txBox="1"/>
          <p:nvPr/>
        </p:nvSpPr>
        <p:spPr>
          <a:xfrm>
            <a:off x="4846931" y="3567728"/>
            <a:ext cx="294417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Transformación preliminar: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Join de la tabla de llamadas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8"/>
          <p:cNvSpPr txBox="1"/>
          <p:nvPr/>
        </p:nvSpPr>
        <p:spPr>
          <a:xfrm>
            <a:off x="1371134" y="1212257"/>
            <a:ext cx="104968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Pasos: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1473427" y="1499029"/>
            <a:ext cx="630600" cy="39000"/>
          </a:xfrm>
          <a:prstGeom prst="rect">
            <a:avLst/>
          </a:prstGeom>
          <a:solidFill>
            <a:srgbClr val="E943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4921597" y="1212257"/>
            <a:ext cx="144989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Problemas: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5023890" y="1499029"/>
            <a:ext cx="630600" cy="39000"/>
          </a:xfrm>
          <a:prstGeom prst="rect">
            <a:avLst/>
          </a:prstGeom>
          <a:solidFill>
            <a:srgbClr val="E943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8"/>
          <p:cNvSpPr txBox="1"/>
          <p:nvPr/>
        </p:nvSpPr>
        <p:spPr>
          <a:xfrm>
            <a:off x="4846930" y="1871230"/>
            <a:ext cx="29441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Comprensión de las 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8"/>
          <p:cNvSpPr txBox="1"/>
          <p:nvPr/>
        </p:nvSpPr>
        <p:spPr>
          <a:xfrm>
            <a:off x="1405054" y="3778263"/>
            <a:ext cx="278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Análisis variable a variable</a:t>
            </a:r>
            <a:endParaRPr b="0" i="0" sz="1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99" name="Google Shape;299;p9"/>
          <p:cNvSpPr txBox="1"/>
          <p:nvPr/>
        </p:nvSpPr>
        <p:spPr>
          <a:xfrm>
            <a:off x="412699" y="195450"/>
            <a:ext cx="7846021" cy="9232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s-ES" sz="2400" u="none" cap="none" strike="noStrike">
                <a:solidFill>
                  <a:srgbClr val="001773"/>
                </a:solidFill>
                <a:latin typeface="Arial"/>
                <a:ea typeface="Arial"/>
                <a:cs typeface="Arial"/>
                <a:sym typeface="Arial"/>
              </a:rPr>
              <a:t>Fase 1: Extracción de los datos, creación DataFrame</a:t>
            </a:r>
            <a:endParaRPr b="1" i="1" sz="24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1" sz="24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485450" y="698938"/>
            <a:ext cx="630600" cy="39000"/>
          </a:xfrm>
          <a:prstGeom prst="rect">
            <a:avLst/>
          </a:prstGeom>
          <a:solidFill>
            <a:srgbClr val="007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9"/>
          <p:cNvSpPr txBox="1"/>
          <p:nvPr/>
        </p:nvSpPr>
        <p:spPr>
          <a:xfrm>
            <a:off x="591530" y="3854110"/>
            <a:ext cx="8216224" cy="6770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6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El DataFrame tiene un total de </a:t>
            </a:r>
            <a:r>
              <a:rPr b="1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39521 filas y 28 columnas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bla&#10;&#10;Descripción generada automáticamente" id="302" name="Google Shape;30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630" y="949993"/>
            <a:ext cx="8558124" cy="2772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08" name="Google Shape;308;p10"/>
          <p:cNvSpPr txBox="1"/>
          <p:nvPr/>
        </p:nvSpPr>
        <p:spPr>
          <a:xfrm>
            <a:off x="412700" y="195450"/>
            <a:ext cx="746700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1" lang="es-ES" sz="2400" u="none" cap="none" strike="noStrike">
                <a:solidFill>
                  <a:srgbClr val="001773"/>
                </a:solidFill>
                <a:latin typeface="Arial"/>
                <a:ea typeface="Arial"/>
                <a:cs typeface="Arial"/>
                <a:sym typeface="Arial"/>
              </a:rPr>
              <a:t>Fase 2: Preprocesado de los datos</a:t>
            </a:r>
            <a:endParaRPr b="1" i="1" sz="24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485450" y="698938"/>
            <a:ext cx="630600" cy="39000"/>
          </a:xfrm>
          <a:prstGeom prst="rect">
            <a:avLst/>
          </a:prstGeom>
          <a:solidFill>
            <a:srgbClr val="007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0"/>
          <p:cNvSpPr txBox="1"/>
          <p:nvPr/>
        </p:nvSpPr>
        <p:spPr>
          <a:xfrm>
            <a:off x="1390203" y="1861455"/>
            <a:ext cx="278213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Ajuste de los datos del df: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Cambios de formato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0"/>
          <p:cNvSpPr txBox="1"/>
          <p:nvPr/>
        </p:nvSpPr>
        <p:spPr>
          <a:xfrm>
            <a:off x="1405090" y="2869598"/>
            <a:ext cx="27821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Creación nuevas 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0"/>
          <p:cNvSpPr txBox="1"/>
          <p:nvPr/>
        </p:nvSpPr>
        <p:spPr>
          <a:xfrm>
            <a:off x="1309187" y="3325237"/>
            <a:ext cx="29441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Tratamiento valores nulos</a:t>
            </a:r>
            <a:endParaRPr b="0" i="0" sz="1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0"/>
          <p:cNvSpPr txBox="1"/>
          <p:nvPr/>
        </p:nvSpPr>
        <p:spPr>
          <a:xfrm>
            <a:off x="4921621" y="1883436"/>
            <a:ext cx="27821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Variables formato fecha</a:t>
            </a:r>
            <a:endParaRPr b="0" i="0" sz="1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0"/>
          <p:cNvSpPr txBox="1"/>
          <p:nvPr/>
        </p:nvSpPr>
        <p:spPr>
          <a:xfrm>
            <a:off x="4971597" y="2377029"/>
            <a:ext cx="278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Datos desbalanceados</a:t>
            </a:r>
            <a:endParaRPr b="0" i="0" sz="1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0"/>
          <p:cNvSpPr txBox="1"/>
          <p:nvPr/>
        </p:nvSpPr>
        <p:spPr>
          <a:xfrm>
            <a:off x="4840581" y="3325232"/>
            <a:ext cx="2944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Complejidad en los registros finales de clientes: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Necesaria la categorización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0"/>
          <p:cNvSpPr txBox="1"/>
          <p:nvPr/>
        </p:nvSpPr>
        <p:spPr>
          <a:xfrm>
            <a:off x="1371134" y="1212257"/>
            <a:ext cx="104968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Pasos: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1473427" y="1499029"/>
            <a:ext cx="630600" cy="39000"/>
          </a:xfrm>
          <a:prstGeom prst="rect">
            <a:avLst/>
          </a:prstGeom>
          <a:solidFill>
            <a:srgbClr val="E943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0"/>
          <p:cNvSpPr txBox="1"/>
          <p:nvPr/>
        </p:nvSpPr>
        <p:spPr>
          <a:xfrm>
            <a:off x="4921597" y="1212257"/>
            <a:ext cx="144989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Problemas: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5023890" y="1499029"/>
            <a:ext cx="630600" cy="39000"/>
          </a:xfrm>
          <a:prstGeom prst="rect">
            <a:avLst/>
          </a:prstGeom>
          <a:solidFill>
            <a:srgbClr val="E943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0"/>
          <p:cNvSpPr txBox="1"/>
          <p:nvPr/>
        </p:nvSpPr>
        <p:spPr>
          <a:xfrm>
            <a:off x="1324075" y="2433076"/>
            <a:ext cx="29441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Renombramiento variables</a:t>
            </a:r>
            <a:endParaRPr b="0" i="0" sz="1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0"/>
          <p:cNvSpPr txBox="1"/>
          <p:nvPr/>
        </p:nvSpPr>
        <p:spPr>
          <a:xfrm>
            <a:off x="1309187" y="3806027"/>
            <a:ext cx="29441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Categorización variables</a:t>
            </a:r>
            <a:endParaRPr b="0" i="0" sz="1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0"/>
          <p:cNvSpPr txBox="1"/>
          <p:nvPr/>
        </p:nvSpPr>
        <p:spPr>
          <a:xfrm>
            <a:off x="4921560" y="2840683"/>
            <a:ext cx="278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Comprensión de variables</a:t>
            </a:r>
            <a:endParaRPr b="0" i="0" sz="1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descr="Gráfico, Gráfico de barras&#10;&#10;Descripción generada automáticamente" id="328" name="Google Shape;32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587" y="939412"/>
            <a:ext cx="6109458" cy="3264676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1"/>
          <p:cNvSpPr txBox="1"/>
          <p:nvPr/>
        </p:nvSpPr>
        <p:spPr>
          <a:xfrm>
            <a:off x="412700" y="195450"/>
            <a:ext cx="746700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1" lang="es-ES" sz="2400" u="none" cap="none" strike="noStrike">
                <a:solidFill>
                  <a:srgbClr val="001773"/>
                </a:solidFill>
                <a:latin typeface="Arial"/>
                <a:ea typeface="Arial"/>
                <a:cs typeface="Arial"/>
                <a:sym typeface="Arial"/>
              </a:rPr>
              <a:t>Fase 3: Análisis exploratorio de datos (EDA)</a:t>
            </a:r>
            <a:endParaRPr b="1" i="1" sz="24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485450" y="698938"/>
            <a:ext cx="630600" cy="39000"/>
          </a:xfrm>
          <a:prstGeom prst="rect">
            <a:avLst/>
          </a:prstGeom>
          <a:solidFill>
            <a:srgbClr val="007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1"/>
          <p:cNvSpPr txBox="1"/>
          <p:nvPr/>
        </p:nvSpPr>
        <p:spPr>
          <a:xfrm>
            <a:off x="6622258" y="1550710"/>
            <a:ext cx="2514883" cy="4000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0" lang="es-ES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Datos desbalanceados</a:t>
            </a:r>
            <a:endParaRPr b="1" i="0" sz="14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1"/>
          <p:cNvSpPr txBox="1"/>
          <p:nvPr/>
        </p:nvSpPr>
        <p:spPr>
          <a:xfrm>
            <a:off x="6629117" y="1950789"/>
            <a:ext cx="2514883" cy="4000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0" lang="es-ES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Variedad de registros</a:t>
            </a:r>
            <a:endParaRPr b="1" i="0" sz="14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descr="Gráfico&#10;&#10;Descripción generada automáticamente" id="338" name="Google Shape;33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770" y="1102583"/>
            <a:ext cx="5578230" cy="3186299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2"/>
          <p:cNvSpPr txBox="1"/>
          <p:nvPr/>
        </p:nvSpPr>
        <p:spPr>
          <a:xfrm>
            <a:off x="412700" y="195450"/>
            <a:ext cx="746700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1" lang="es-ES" sz="2400" u="none" cap="none" strike="noStrike">
                <a:solidFill>
                  <a:srgbClr val="001773"/>
                </a:solidFill>
                <a:latin typeface="Arial"/>
                <a:ea typeface="Arial"/>
                <a:cs typeface="Arial"/>
                <a:sym typeface="Arial"/>
              </a:rPr>
              <a:t>Fase 3: Análisis exploratorio de datos (EDA)</a:t>
            </a:r>
            <a:endParaRPr b="1" i="1" sz="24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485450" y="698938"/>
            <a:ext cx="630600" cy="39000"/>
          </a:xfrm>
          <a:prstGeom prst="rect">
            <a:avLst/>
          </a:prstGeom>
          <a:solidFill>
            <a:srgbClr val="007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2"/>
          <p:cNvSpPr txBox="1"/>
          <p:nvPr/>
        </p:nvSpPr>
        <p:spPr>
          <a:xfrm>
            <a:off x="6522604" y="1550710"/>
            <a:ext cx="2514883" cy="4000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0" lang="es-ES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Mayoría hombres</a:t>
            </a:r>
            <a:endParaRPr b="1" i="0" sz="14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2"/>
          <p:cNvSpPr txBox="1"/>
          <p:nvPr/>
        </p:nvSpPr>
        <p:spPr>
          <a:xfrm>
            <a:off x="6529463" y="1950789"/>
            <a:ext cx="2514883" cy="4000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0" lang="es-ES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Media 56 años</a:t>
            </a:r>
            <a:endParaRPr b="1" i="0" sz="14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2"/>
          <p:cNvSpPr txBox="1"/>
          <p:nvPr/>
        </p:nvSpPr>
        <p:spPr>
          <a:xfrm>
            <a:off x="6529463" y="2350868"/>
            <a:ext cx="2514883" cy="4000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0" lang="es-ES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75% entre 47 y 91 años</a:t>
            </a:r>
            <a:endParaRPr b="1" i="0" sz="14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49" name="Google Shape;349;p14"/>
          <p:cNvSpPr txBox="1"/>
          <p:nvPr/>
        </p:nvSpPr>
        <p:spPr>
          <a:xfrm>
            <a:off x="412700" y="195450"/>
            <a:ext cx="746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1" lang="es-ES" sz="2400" u="none" cap="none" strike="noStrike">
                <a:solidFill>
                  <a:srgbClr val="001773"/>
                </a:solidFill>
                <a:latin typeface="Arial"/>
                <a:ea typeface="Arial"/>
                <a:cs typeface="Arial"/>
                <a:sym typeface="Arial"/>
              </a:rPr>
              <a:t>Fase 4: Feature Engineering, nuevas variables</a:t>
            </a:r>
            <a:endParaRPr b="1" i="1" sz="24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485450" y="698938"/>
            <a:ext cx="630600" cy="39000"/>
          </a:xfrm>
          <a:prstGeom prst="rect">
            <a:avLst/>
          </a:prstGeom>
          <a:solidFill>
            <a:srgbClr val="007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4"/>
          <p:cNvSpPr txBox="1"/>
          <p:nvPr/>
        </p:nvSpPr>
        <p:spPr>
          <a:xfrm>
            <a:off x="634838" y="3398251"/>
            <a:ext cx="4181270" cy="6770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6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Se crean </a:t>
            </a:r>
            <a:r>
              <a:rPr b="1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nuevas variables 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para introducirlas en el modelo</a:t>
            </a:r>
            <a:endParaRPr b="0" i="0" sz="1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4"/>
          <p:cNvSpPr txBox="1"/>
          <p:nvPr/>
        </p:nvSpPr>
        <p:spPr>
          <a:xfrm>
            <a:off x="4572000" y="3398251"/>
            <a:ext cx="4290969" cy="6770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6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Categorizamos las variables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para una mejor interpretación del mismo.</a:t>
            </a:r>
            <a:endParaRPr b="0" i="0" sz="1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bla&#10;&#10;Descripción generada automáticamente" id="353" name="Google Shape;35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45" y="1241426"/>
            <a:ext cx="8950910" cy="1751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59" name="Google Shape;359;p18"/>
          <p:cNvSpPr txBox="1"/>
          <p:nvPr/>
        </p:nvSpPr>
        <p:spPr>
          <a:xfrm>
            <a:off x="1390203" y="1861455"/>
            <a:ext cx="278213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Separación conjunto entrenamiento y 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8"/>
          <p:cNvSpPr txBox="1"/>
          <p:nvPr/>
        </p:nvSpPr>
        <p:spPr>
          <a:xfrm>
            <a:off x="1390202" y="2571750"/>
            <a:ext cx="278213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Entrenamiento de los diferentes modelos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8"/>
          <p:cNvSpPr txBox="1"/>
          <p:nvPr/>
        </p:nvSpPr>
        <p:spPr>
          <a:xfrm>
            <a:off x="1390202" y="3159867"/>
            <a:ext cx="278213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Primeras predicciones y análisis de las métricas</a:t>
            </a:r>
            <a:endParaRPr b="0" i="0" sz="1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8"/>
          <p:cNvSpPr txBox="1"/>
          <p:nvPr/>
        </p:nvSpPr>
        <p:spPr>
          <a:xfrm>
            <a:off x="4840579" y="1789247"/>
            <a:ext cx="286315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Data leakage: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Se detectan variables que falsean los resultados del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8"/>
          <p:cNvSpPr txBox="1"/>
          <p:nvPr/>
        </p:nvSpPr>
        <p:spPr>
          <a:xfrm>
            <a:off x="4921595" y="2869597"/>
            <a:ext cx="278213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Datos desbalanceados: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Uso de class weight</a:t>
            </a:r>
            <a:endParaRPr b="0" i="0" sz="1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8"/>
          <p:cNvSpPr txBox="1"/>
          <p:nvPr/>
        </p:nvSpPr>
        <p:spPr>
          <a:xfrm>
            <a:off x="4840579" y="3640190"/>
            <a:ext cx="294417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Distancia de las variables: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Necesaria la categorización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8"/>
          <p:cNvSpPr txBox="1"/>
          <p:nvPr/>
        </p:nvSpPr>
        <p:spPr>
          <a:xfrm>
            <a:off x="1371134" y="1212257"/>
            <a:ext cx="104968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Pasos: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8"/>
          <p:cNvSpPr/>
          <p:nvPr/>
        </p:nvSpPr>
        <p:spPr>
          <a:xfrm>
            <a:off x="1473427" y="1499029"/>
            <a:ext cx="630600" cy="39000"/>
          </a:xfrm>
          <a:prstGeom prst="rect">
            <a:avLst/>
          </a:prstGeom>
          <a:solidFill>
            <a:srgbClr val="E943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8"/>
          <p:cNvSpPr txBox="1"/>
          <p:nvPr/>
        </p:nvSpPr>
        <p:spPr>
          <a:xfrm>
            <a:off x="4921597" y="1212257"/>
            <a:ext cx="144989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Problemas: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5023890" y="1499029"/>
            <a:ext cx="630600" cy="39000"/>
          </a:xfrm>
          <a:prstGeom prst="rect">
            <a:avLst/>
          </a:prstGeom>
          <a:solidFill>
            <a:srgbClr val="E943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8"/>
          <p:cNvSpPr txBox="1"/>
          <p:nvPr/>
        </p:nvSpPr>
        <p:spPr>
          <a:xfrm>
            <a:off x="1309187" y="3806027"/>
            <a:ext cx="29441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E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Feature importances</a:t>
            </a:r>
            <a:endParaRPr b="0" i="0" sz="1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8"/>
          <p:cNvSpPr txBox="1"/>
          <p:nvPr/>
        </p:nvSpPr>
        <p:spPr>
          <a:xfrm>
            <a:off x="412700" y="195450"/>
            <a:ext cx="746700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1" lang="es-ES" sz="2400" u="none" cap="none" strike="noStrike">
                <a:solidFill>
                  <a:srgbClr val="001773"/>
                </a:solidFill>
                <a:latin typeface="Arial"/>
                <a:ea typeface="Arial"/>
                <a:cs typeface="Arial"/>
                <a:sym typeface="Arial"/>
              </a:rPr>
              <a:t>Fase 5: Selección de métricas y algoritmos</a:t>
            </a:r>
            <a:endParaRPr b="1" i="1" sz="24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485450" y="698938"/>
            <a:ext cx="630600" cy="39000"/>
          </a:xfrm>
          <a:prstGeom prst="rect">
            <a:avLst/>
          </a:prstGeom>
          <a:solidFill>
            <a:srgbClr val="007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>
            <a:alpha val="20000"/>
          </a:schemeClr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77" name="Google Shape;377;p16"/>
          <p:cNvSpPr txBox="1"/>
          <p:nvPr/>
        </p:nvSpPr>
        <p:spPr>
          <a:xfrm>
            <a:off x="412700" y="195450"/>
            <a:ext cx="746700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1" lang="es-ES" sz="2400" u="none" cap="none" strike="noStrike">
                <a:solidFill>
                  <a:srgbClr val="001773"/>
                </a:solidFill>
                <a:latin typeface="Arial"/>
                <a:ea typeface="Arial"/>
                <a:cs typeface="Arial"/>
                <a:sym typeface="Arial"/>
              </a:rPr>
              <a:t>Fase 5: Selección de métricas y algoritmos</a:t>
            </a:r>
            <a:endParaRPr b="1" i="1" sz="24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6"/>
          <p:cNvSpPr/>
          <p:nvPr/>
        </p:nvSpPr>
        <p:spPr>
          <a:xfrm>
            <a:off x="485450" y="698938"/>
            <a:ext cx="630600" cy="39000"/>
          </a:xfrm>
          <a:prstGeom prst="rect">
            <a:avLst/>
          </a:prstGeom>
          <a:solidFill>
            <a:srgbClr val="007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que contiene Tabla&#10;&#10;Descripción generada automáticamente" id="379" name="Google Shape;3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2235" y="1975339"/>
            <a:ext cx="2251892" cy="10453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abla&#10;&#10;Descripción generada automáticamente" id="380" name="Google Shape;38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9873" y="1975339"/>
            <a:ext cx="2251892" cy="1045308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6"/>
          <p:cNvSpPr txBox="1"/>
          <p:nvPr/>
        </p:nvSpPr>
        <p:spPr>
          <a:xfrm>
            <a:off x="1371134" y="1212257"/>
            <a:ext cx="104968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Recall: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6"/>
          <p:cNvSpPr/>
          <p:nvPr/>
        </p:nvSpPr>
        <p:spPr>
          <a:xfrm>
            <a:off x="1473427" y="1499029"/>
            <a:ext cx="630600" cy="39000"/>
          </a:xfrm>
          <a:prstGeom prst="rect">
            <a:avLst/>
          </a:prstGeom>
          <a:solidFill>
            <a:srgbClr val="E943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6"/>
          <p:cNvSpPr txBox="1"/>
          <p:nvPr/>
        </p:nvSpPr>
        <p:spPr>
          <a:xfrm>
            <a:off x="4921597" y="1212257"/>
            <a:ext cx="144989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Precision: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5023890" y="1499029"/>
            <a:ext cx="630600" cy="39000"/>
          </a:xfrm>
          <a:prstGeom prst="rect">
            <a:avLst/>
          </a:prstGeom>
          <a:solidFill>
            <a:srgbClr val="E943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6"/>
          <p:cNvSpPr txBox="1"/>
          <p:nvPr/>
        </p:nvSpPr>
        <p:spPr>
          <a:xfrm>
            <a:off x="1839844" y="3232671"/>
            <a:ext cx="197296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Recall = TP / FN+TP​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6"/>
          <p:cNvSpPr txBox="1"/>
          <p:nvPr/>
        </p:nvSpPr>
        <p:spPr>
          <a:xfrm>
            <a:off x="5313706" y="3232670"/>
            <a:ext cx="216805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Precision = TP / FP+TP​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2719753" y="3862312"/>
            <a:ext cx="3950677" cy="768512"/>
          </a:xfrm>
          <a:prstGeom prst="rect">
            <a:avLst/>
          </a:prstGeom>
          <a:solidFill>
            <a:srgbClr val="E94371">
              <a:alpha val="9529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F1= 2 * ((precision*recall) / (precision+recall​))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93" name="Google Shape;393;p19"/>
          <p:cNvSpPr txBox="1"/>
          <p:nvPr/>
        </p:nvSpPr>
        <p:spPr>
          <a:xfrm>
            <a:off x="1618384" y="156493"/>
            <a:ext cx="746700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1" lang="es-ES" sz="2400" u="none" cap="none" strike="noStrike">
                <a:solidFill>
                  <a:srgbClr val="001773"/>
                </a:solidFill>
                <a:latin typeface="Arial"/>
                <a:ea typeface="Arial"/>
                <a:cs typeface="Arial"/>
                <a:sym typeface="Arial"/>
              </a:rPr>
              <a:t>Fase 5: Selección de métricas, entrenamiento</a:t>
            </a:r>
            <a:endParaRPr b="1" i="1" sz="24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9"/>
          <p:cNvSpPr/>
          <p:nvPr/>
        </p:nvSpPr>
        <p:spPr>
          <a:xfrm>
            <a:off x="1691134" y="659981"/>
            <a:ext cx="630600" cy="39000"/>
          </a:xfrm>
          <a:prstGeom prst="rect">
            <a:avLst/>
          </a:prstGeom>
          <a:solidFill>
            <a:srgbClr val="007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9"/>
          <p:cNvSpPr txBox="1"/>
          <p:nvPr/>
        </p:nvSpPr>
        <p:spPr>
          <a:xfrm>
            <a:off x="686142" y="853949"/>
            <a:ext cx="2622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i="0" lang="es-ES" sz="1000" u="none" cap="none" strike="noStrike">
                <a:solidFill>
                  <a:srgbClr val="001773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 b="1" i="0" sz="10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9"/>
          <p:cNvSpPr/>
          <p:nvPr/>
        </p:nvSpPr>
        <p:spPr>
          <a:xfrm>
            <a:off x="774536" y="1122317"/>
            <a:ext cx="383047" cy="36000"/>
          </a:xfrm>
          <a:prstGeom prst="rect">
            <a:avLst/>
          </a:prstGeom>
          <a:solidFill>
            <a:srgbClr val="E943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9"/>
          <p:cNvSpPr txBox="1"/>
          <p:nvPr/>
        </p:nvSpPr>
        <p:spPr>
          <a:xfrm>
            <a:off x="3333838" y="851395"/>
            <a:ext cx="2622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i="0" lang="es-ES" sz="1000" u="none" cap="none" strike="noStrike">
                <a:solidFill>
                  <a:srgbClr val="001773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endParaRPr b="1" i="0" sz="10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9"/>
          <p:cNvSpPr/>
          <p:nvPr/>
        </p:nvSpPr>
        <p:spPr>
          <a:xfrm>
            <a:off x="3422232" y="1119763"/>
            <a:ext cx="383047" cy="36000"/>
          </a:xfrm>
          <a:prstGeom prst="rect">
            <a:avLst/>
          </a:prstGeom>
          <a:solidFill>
            <a:srgbClr val="E943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9"/>
          <p:cNvSpPr txBox="1"/>
          <p:nvPr/>
        </p:nvSpPr>
        <p:spPr>
          <a:xfrm>
            <a:off x="5988676" y="851395"/>
            <a:ext cx="2622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i="0" lang="es-ES" sz="1000" u="none" cap="none" strike="noStrike">
                <a:solidFill>
                  <a:srgbClr val="001773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endParaRPr b="1" i="0" sz="10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9"/>
          <p:cNvSpPr/>
          <p:nvPr/>
        </p:nvSpPr>
        <p:spPr>
          <a:xfrm>
            <a:off x="6077070" y="1119763"/>
            <a:ext cx="383047" cy="36000"/>
          </a:xfrm>
          <a:prstGeom prst="rect">
            <a:avLst/>
          </a:prstGeom>
          <a:solidFill>
            <a:srgbClr val="E943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ráfico, Gráfico de rectángulos&#10;&#10;Descripción generada automáticamente" id="401" name="Google Shape;40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547" y="3060195"/>
            <a:ext cx="1920741" cy="16192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Texto, Aplicación, Chat o mensaje de texto&#10;&#10;Descripción generada automáticamente" id="402" name="Google Shape;40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0880" y="1300111"/>
            <a:ext cx="2170111" cy="7095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Texto, Aplicación, Chat o mensaje de texto&#10;&#10;Descripción generada automáticamente" id="403" name="Google Shape;40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0880" y="2095864"/>
            <a:ext cx="2181674" cy="8045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Texto, Aplicación, Chat o mensaje de texto&#10;&#10;Descripción generada automáticamente" id="404" name="Google Shape;40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31446" y="2095865"/>
            <a:ext cx="2181674" cy="7426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Texto, Aplicación&#10;&#10;Descripción generada automáticamente" id="405" name="Google Shape;40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31446" y="1351859"/>
            <a:ext cx="2170111" cy="653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áfico, Gráfico de rectángulos&#10;&#10;Descripción generada automáticamente" id="406" name="Google Shape;406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14607" y="3060194"/>
            <a:ext cx="1920742" cy="1619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áfico&#10;&#10;Descripción generada automáticamente" id="407" name="Google Shape;407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975576" y="3060194"/>
            <a:ext cx="1920742" cy="1619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Texto, Aplicación&#10;&#10;Descripción generada automáticamente" id="408" name="Google Shape;408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69600" y="1347225"/>
            <a:ext cx="2193237" cy="6516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Texto, Aplicación&#10;&#10;Descripción generada automáticamente" id="409" name="Google Shape;409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475381" y="2095864"/>
            <a:ext cx="2193237" cy="770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15" name="Google Shape;415;p20"/>
          <p:cNvSpPr txBox="1"/>
          <p:nvPr/>
        </p:nvSpPr>
        <p:spPr>
          <a:xfrm>
            <a:off x="412700" y="195450"/>
            <a:ext cx="746700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1" lang="es-ES" sz="2400" u="none" cap="none" strike="noStrike">
                <a:solidFill>
                  <a:srgbClr val="001773"/>
                </a:solidFill>
                <a:latin typeface="Arial"/>
                <a:ea typeface="Arial"/>
                <a:cs typeface="Arial"/>
                <a:sym typeface="Arial"/>
              </a:rPr>
              <a:t>Fase 6: Hiperparametrización - MLFlow</a:t>
            </a:r>
            <a:endParaRPr b="1" i="1" sz="24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0"/>
          <p:cNvSpPr/>
          <p:nvPr/>
        </p:nvSpPr>
        <p:spPr>
          <a:xfrm>
            <a:off x="485450" y="698938"/>
            <a:ext cx="630600" cy="39000"/>
          </a:xfrm>
          <a:prstGeom prst="rect">
            <a:avLst/>
          </a:prstGeom>
          <a:solidFill>
            <a:srgbClr val="007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0"/>
          <p:cNvSpPr txBox="1"/>
          <p:nvPr/>
        </p:nvSpPr>
        <p:spPr>
          <a:xfrm>
            <a:off x="641300" y="3391146"/>
            <a:ext cx="3930700" cy="9232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6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Para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una </a:t>
            </a:r>
            <a:r>
              <a:rPr b="1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búsqueda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exhaustiva de hiperparámetros de los 3 modelos </a:t>
            </a:r>
            <a:r>
              <a:rPr b="1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utilizamos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la herramienta </a:t>
            </a:r>
            <a:r>
              <a:rPr b="1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MLFlow.</a:t>
            </a:r>
            <a:endParaRPr b="1" i="0" sz="1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ráfico, Diagrama&#10;&#10;Descripción generada automáticamente" id="418" name="Google Shape;4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003" y="1047750"/>
            <a:ext cx="8751993" cy="2210046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20"/>
          <p:cNvSpPr txBox="1"/>
          <p:nvPr/>
        </p:nvSpPr>
        <p:spPr>
          <a:xfrm>
            <a:off x="4541758" y="3391146"/>
            <a:ext cx="3930700" cy="9232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6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Se toman de referencia las </a:t>
            </a:r>
            <a:r>
              <a:rPr b="1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métricas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b="1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recall, precisión y f1 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para la selección de los mismos.</a:t>
            </a:r>
            <a:endParaRPr b="0" i="0" sz="16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25" name="Google Shape;425;p21"/>
          <p:cNvSpPr txBox="1"/>
          <p:nvPr/>
        </p:nvSpPr>
        <p:spPr>
          <a:xfrm>
            <a:off x="1942562" y="154419"/>
            <a:ext cx="746700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1" lang="es-ES" sz="2400" u="none" cap="none" strike="noStrike">
                <a:solidFill>
                  <a:srgbClr val="001773"/>
                </a:solidFill>
                <a:latin typeface="Arial"/>
                <a:ea typeface="Arial"/>
                <a:cs typeface="Arial"/>
                <a:sym typeface="Arial"/>
              </a:rPr>
              <a:t>Fase 6: Hiperparametrización - MLFlow</a:t>
            </a:r>
            <a:endParaRPr b="1" i="1" sz="24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1"/>
          <p:cNvSpPr/>
          <p:nvPr/>
        </p:nvSpPr>
        <p:spPr>
          <a:xfrm>
            <a:off x="2015312" y="657907"/>
            <a:ext cx="630600" cy="39000"/>
          </a:xfrm>
          <a:prstGeom prst="rect">
            <a:avLst/>
          </a:prstGeom>
          <a:solidFill>
            <a:srgbClr val="007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1"/>
          <p:cNvSpPr txBox="1"/>
          <p:nvPr/>
        </p:nvSpPr>
        <p:spPr>
          <a:xfrm>
            <a:off x="686142" y="853949"/>
            <a:ext cx="2622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i="0" lang="es-ES" sz="1000" u="none" cap="none" strike="noStrike">
                <a:solidFill>
                  <a:srgbClr val="001773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 b="1" i="0" sz="10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1"/>
          <p:cNvSpPr/>
          <p:nvPr/>
        </p:nvSpPr>
        <p:spPr>
          <a:xfrm>
            <a:off x="774536" y="1122317"/>
            <a:ext cx="383047" cy="36000"/>
          </a:xfrm>
          <a:prstGeom prst="rect">
            <a:avLst/>
          </a:prstGeom>
          <a:solidFill>
            <a:srgbClr val="E943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1"/>
          <p:cNvSpPr txBox="1"/>
          <p:nvPr/>
        </p:nvSpPr>
        <p:spPr>
          <a:xfrm>
            <a:off x="3333838" y="851395"/>
            <a:ext cx="2622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i="0" lang="es-ES" sz="1000" u="none" cap="none" strike="noStrike">
                <a:solidFill>
                  <a:srgbClr val="001773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endParaRPr b="1" i="0" sz="10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1"/>
          <p:cNvSpPr/>
          <p:nvPr/>
        </p:nvSpPr>
        <p:spPr>
          <a:xfrm>
            <a:off x="3422232" y="1119763"/>
            <a:ext cx="383047" cy="36000"/>
          </a:xfrm>
          <a:prstGeom prst="rect">
            <a:avLst/>
          </a:prstGeom>
          <a:solidFill>
            <a:srgbClr val="E943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1"/>
          <p:cNvSpPr txBox="1"/>
          <p:nvPr/>
        </p:nvSpPr>
        <p:spPr>
          <a:xfrm>
            <a:off x="5988676" y="851395"/>
            <a:ext cx="2622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i="0" lang="es-ES" sz="1000" u="none" cap="none" strike="noStrike">
                <a:solidFill>
                  <a:srgbClr val="001773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endParaRPr b="1" i="0" sz="10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1"/>
          <p:cNvSpPr/>
          <p:nvPr/>
        </p:nvSpPr>
        <p:spPr>
          <a:xfrm>
            <a:off x="6077070" y="1119763"/>
            <a:ext cx="383047" cy="36000"/>
          </a:xfrm>
          <a:prstGeom prst="rect">
            <a:avLst/>
          </a:prstGeom>
          <a:solidFill>
            <a:srgbClr val="E943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ráfico&#10;&#10;Descripción generada automáticamente" id="433" name="Google Shape;4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392" y="3009283"/>
            <a:ext cx="2024455" cy="17066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Texto, Aplicación, Chat o mensaje de texto&#10;&#10;Descripción generada automáticamente" id="434" name="Google Shape;43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800" y="1280612"/>
            <a:ext cx="2156743" cy="649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Texto, Aplicación, Chat o mensaje de texto&#10;&#10;Descripción generada automáticamente" id="435" name="Google Shape;43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800" y="2021275"/>
            <a:ext cx="2156743" cy="7370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Texto, Aplicación&#10;&#10;Descripción generada automáticamente" id="436" name="Google Shape;43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66654" y="2026695"/>
            <a:ext cx="2210692" cy="7315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áfico, Gráfico de rectángulos&#10;&#10;Descripción generada automáticamente" id="437" name="Google Shape;43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79843" y="3009283"/>
            <a:ext cx="2024456" cy="17066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Texto, Aplicación, Chat o mensaje de texto&#10;&#10;Descripción generada automáticamente" id="438" name="Google Shape;43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66654" y="1304531"/>
            <a:ext cx="2210692" cy="649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Texto, Aplicación, Chat o mensaje de texto&#10;&#10;Descripción generada automáticamente" id="439" name="Google Shape;439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24482" y="1299510"/>
            <a:ext cx="2210692" cy="6285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áfico&#10;&#10;Descripción generada automáticamente" id="440" name="Google Shape;440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627294" y="3009556"/>
            <a:ext cx="2024456" cy="17066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Texto, Aplicación, Chat o mensaje de texto&#10;&#10;Descripción generada automáticamente" id="441" name="Google Shape;441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24482" y="2015476"/>
            <a:ext cx="2210692" cy="736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47" name="Google Shape;447;p22"/>
          <p:cNvSpPr txBox="1"/>
          <p:nvPr/>
        </p:nvSpPr>
        <p:spPr>
          <a:xfrm>
            <a:off x="412700" y="195450"/>
            <a:ext cx="746700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1" lang="es-ES" sz="2400" u="none" cap="none" strike="noStrike">
                <a:solidFill>
                  <a:srgbClr val="001773"/>
                </a:solidFill>
                <a:latin typeface="Arial"/>
                <a:ea typeface="Arial"/>
                <a:cs typeface="Arial"/>
                <a:sym typeface="Arial"/>
              </a:rPr>
              <a:t>Fase 7: Obtención de resultados</a:t>
            </a:r>
            <a:endParaRPr b="1" i="1" sz="24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2"/>
          <p:cNvSpPr/>
          <p:nvPr/>
        </p:nvSpPr>
        <p:spPr>
          <a:xfrm>
            <a:off x="485450" y="698938"/>
            <a:ext cx="630600" cy="39000"/>
          </a:xfrm>
          <a:prstGeom prst="rect">
            <a:avLst/>
          </a:prstGeom>
          <a:solidFill>
            <a:srgbClr val="007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2"/>
          <p:cNvSpPr txBox="1"/>
          <p:nvPr/>
        </p:nvSpPr>
        <p:spPr>
          <a:xfrm>
            <a:off x="4168164" y="1075823"/>
            <a:ext cx="4578643" cy="11695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Con el objetivo de </a:t>
            </a:r>
            <a:r>
              <a:rPr b="1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obtener el predict_proba (probabilidad de venta) 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entrenamos 3 algoritmos de clasificación para identificar cual se ajusta más a nuestros datos. </a:t>
            </a:r>
            <a:endParaRPr/>
          </a:p>
        </p:txBody>
      </p:sp>
      <p:sp>
        <p:nvSpPr>
          <p:cNvPr id="450" name="Google Shape;450;p22"/>
          <p:cNvSpPr txBox="1"/>
          <p:nvPr/>
        </p:nvSpPr>
        <p:spPr>
          <a:xfrm>
            <a:off x="4168165" y="2571750"/>
            <a:ext cx="4578643" cy="14157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6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El algoritmo que tiene un </a:t>
            </a:r>
            <a:r>
              <a:rPr b="1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mejor rendimiento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es la </a:t>
            </a:r>
            <a:r>
              <a:rPr b="1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regresión logística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, ya que en la matriz de confusión podemos visualizar un mayor acierto para los casos 1-1, el cuál es el objetivo del proyecto.</a:t>
            </a:r>
            <a:endParaRPr/>
          </a:p>
        </p:txBody>
      </p:sp>
      <p:pic>
        <p:nvPicPr>
          <p:cNvPr descr="Tabla&#10;&#10;Descripción generada automáticamente" id="451" name="Google Shape;45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4150" y="812800"/>
            <a:ext cx="1789450" cy="3798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57" name="Google Shape;457;p23"/>
          <p:cNvSpPr txBox="1"/>
          <p:nvPr/>
        </p:nvSpPr>
        <p:spPr>
          <a:xfrm>
            <a:off x="1951901" y="195450"/>
            <a:ext cx="229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1" lang="es-ES" sz="2400" u="none" cap="none" strike="noStrike">
                <a:solidFill>
                  <a:srgbClr val="001773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b="1" i="1" sz="2400" u="none" cap="none" strike="noStrike">
              <a:solidFill>
                <a:srgbClr val="0017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3"/>
          <p:cNvSpPr/>
          <p:nvPr/>
        </p:nvSpPr>
        <p:spPr>
          <a:xfrm>
            <a:off x="2024642" y="698938"/>
            <a:ext cx="630600" cy="39000"/>
          </a:xfrm>
          <a:prstGeom prst="rect">
            <a:avLst/>
          </a:prstGeom>
          <a:solidFill>
            <a:srgbClr val="007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3"/>
          <p:cNvSpPr txBox="1"/>
          <p:nvPr/>
        </p:nvSpPr>
        <p:spPr>
          <a:xfrm>
            <a:off x="1951893" y="1252906"/>
            <a:ext cx="5257800" cy="83096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El </a:t>
            </a:r>
            <a:r>
              <a:rPr b="1" i="0" lang="es-ES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resultado final </a:t>
            </a:r>
            <a:r>
              <a:rPr b="0" i="0" lang="es-ES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de este modelo es </a:t>
            </a:r>
            <a:r>
              <a:rPr b="1" i="0" lang="es-ES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una probabilidad por cada id de cliente</a:t>
            </a:r>
            <a:r>
              <a:rPr b="0" i="0" lang="es-ES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que determinará su propensión a la compra o no del producto ofrecido.</a:t>
            </a:r>
            <a:endParaRPr b="0" i="0" sz="14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3"/>
          <p:cNvSpPr txBox="1"/>
          <p:nvPr/>
        </p:nvSpPr>
        <p:spPr>
          <a:xfrm>
            <a:off x="1951892" y="2330094"/>
            <a:ext cx="5257800" cy="83096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4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Este resultado se irá </a:t>
            </a:r>
            <a:r>
              <a:rPr b="1" i="0" lang="es-ES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actualizando periódicamente </a:t>
            </a:r>
            <a:r>
              <a:rPr b="0" i="0" lang="es-ES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para nutrir la BBDD e ir generando </a:t>
            </a:r>
            <a:r>
              <a:rPr b="1" i="0" lang="es-ES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nuevos listados de llamadas optimizados</a:t>
            </a:r>
            <a:r>
              <a:rPr b="0" i="0" lang="es-ES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para los trabajadores.</a:t>
            </a:r>
            <a:endParaRPr b="0" i="0" sz="14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3"/>
          <p:cNvSpPr txBox="1"/>
          <p:nvPr/>
        </p:nvSpPr>
        <p:spPr>
          <a:xfrm>
            <a:off x="1943100" y="3407282"/>
            <a:ext cx="5257799" cy="86174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600" u="none" cap="none" strike="noStrike">
                <a:solidFill>
                  <a:srgbClr val="E9437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s-ES" sz="1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ES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A su vez, </a:t>
            </a:r>
            <a:r>
              <a:rPr b="1" i="0" lang="es-ES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el modelo será monitorizado</a:t>
            </a:r>
            <a:r>
              <a:rPr b="0" i="0" lang="es-ES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para el análisis de su rendimiento con el paso del tiempo </a:t>
            </a:r>
            <a:r>
              <a:rPr b="1" i="0" lang="es-ES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a través de sus métricas</a:t>
            </a:r>
            <a:r>
              <a:rPr b="0" i="0" lang="es-ES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y podrá ser </a:t>
            </a:r>
            <a:r>
              <a:rPr b="1" i="0" lang="es-ES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mejorado con la inclusión de nuevas variables</a:t>
            </a:r>
            <a:r>
              <a:rPr b="0" i="0" lang="es-ES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4119" y="-37467"/>
            <a:ext cx="9210120" cy="521843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4"/>
          <p:cNvSpPr txBox="1"/>
          <p:nvPr/>
        </p:nvSpPr>
        <p:spPr>
          <a:xfrm>
            <a:off x="2505600" y="4112224"/>
            <a:ext cx="412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E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Miguel Villasan / Camilo Gil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8" name="Google Shape;46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28599" y="2219346"/>
            <a:ext cx="3034151" cy="82745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4">
            <a:hlinkClick r:id="rId5"/>
          </p:cNvPr>
          <p:cNvSpPr txBox="1"/>
          <p:nvPr/>
        </p:nvSpPr>
        <p:spPr>
          <a:xfrm>
            <a:off x="2654199" y="4573924"/>
            <a:ext cx="1954000" cy="3693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miguelvv@alumni.mioti.es 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0" name="Google Shape;470;p24"/>
          <p:cNvCxnSpPr/>
          <p:nvPr/>
        </p:nvCxnSpPr>
        <p:spPr>
          <a:xfrm>
            <a:off x="1384900" y="4549675"/>
            <a:ext cx="6298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71" name="Google Shape;47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74463" y="1905350"/>
            <a:ext cx="2800742" cy="76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30550" y="4686788"/>
            <a:ext cx="221100" cy="143575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74" name="Google Shape;474;p24">
            <a:hlinkClick r:id="rId9"/>
          </p:cNvPr>
          <p:cNvSpPr txBox="1"/>
          <p:nvPr/>
        </p:nvSpPr>
        <p:spPr>
          <a:xfrm>
            <a:off x="4570350" y="4569017"/>
            <a:ext cx="1954000" cy="3693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camilogc@alumni.mioti.es 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4"/>
          <p:cNvSpPr txBox="1"/>
          <p:nvPr/>
        </p:nvSpPr>
        <p:spPr>
          <a:xfrm>
            <a:off x="2328800" y="681628"/>
            <a:ext cx="44831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¡Gracias!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OTI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